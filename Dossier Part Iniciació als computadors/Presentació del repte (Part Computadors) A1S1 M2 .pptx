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3" r:id="rId1"/>
  </p:sldMasterIdLst>
  <p:notesMasterIdLst>
    <p:notesMasterId r:id="rId26"/>
  </p:notesMasterIdLst>
  <p:sldIdLst>
    <p:sldId id="346" r:id="rId2"/>
    <p:sldId id="348" r:id="rId3"/>
    <p:sldId id="416" r:id="rId4"/>
    <p:sldId id="365" r:id="rId5"/>
    <p:sldId id="384" r:id="rId6"/>
    <p:sldId id="381" r:id="rId7"/>
    <p:sldId id="378" r:id="rId8"/>
    <p:sldId id="382" r:id="rId9"/>
    <p:sldId id="380" r:id="rId10"/>
    <p:sldId id="383" r:id="rId11"/>
    <p:sldId id="385" r:id="rId12"/>
    <p:sldId id="386" r:id="rId13"/>
    <p:sldId id="369" r:id="rId14"/>
    <p:sldId id="370" r:id="rId15"/>
    <p:sldId id="371" r:id="rId16"/>
    <p:sldId id="373" r:id="rId17"/>
    <p:sldId id="375" r:id="rId18"/>
    <p:sldId id="376" r:id="rId19"/>
    <p:sldId id="377" r:id="rId20"/>
    <p:sldId id="379" r:id="rId21"/>
    <p:sldId id="366" r:id="rId22"/>
    <p:sldId id="367" r:id="rId23"/>
    <p:sldId id="368" r:id="rId24"/>
    <p:sldId id="320" r:id="rId25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27"/>
    </p:embeddedFont>
    <p:embeddedFont>
      <p:font typeface="Montserrat" panose="00000500000000000000" pitchFamily="2" charset="0"/>
      <p:regular r:id="rId28"/>
      <p:bold r:id="rId29"/>
      <p:italic r:id="rId30"/>
      <p:boldItalic r:id="rId31"/>
    </p:embeddedFont>
    <p:embeddedFont>
      <p:font typeface="Open Sans" panose="020B0606030504020204" pitchFamily="34" charset="0"/>
      <p:regular r:id="rId32"/>
      <p:bold r:id="rId33"/>
      <p:italic r:id="rId34"/>
      <p:boldItalic r:id="rId35"/>
    </p:embeddedFont>
    <p:embeddedFont>
      <p:font typeface="Vidaloka" panose="020B0604020202020204" charset="0"/>
      <p:regular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rthas Menethil" initials="AM" lastIdx="1" clrIdx="0">
    <p:extLst>
      <p:ext uri="{19B8F6BF-5375-455C-9EA6-DF929625EA0E}">
        <p15:presenceInfo xmlns:p15="http://schemas.microsoft.com/office/powerpoint/2012/main" userId="4f0ba2a323a7baf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DD1DB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84363CB-7A51-478F-B3E0-03CDD63C1755}">
  <a:tblStyle styleId="{284363CB-7A51-478F-B3E0-03CDD63C175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10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61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presProps" Target="pres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01-16T23:35:42.061" idx="1">
    <p:pos x="10" y="10"/>
    <p:text/>
    <p:extLst>
      <p:ext uri="{C676402C-5697-4E1C-873F-D02D1690AC5C}">
        <p15:threadingInfo xmlns:p15="http://schemas.microsoft.com/office/powerpoint/2012/main" timeZoneBias="-6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105840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cf7a3c503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cf7a3c503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005844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cf7a3c503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cf7a3c503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444615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105aad17dc0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105aad17dc0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023903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105aad17dc0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105aad17dc0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59525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gcc7554a049_0_6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8" name="Google Shape;1168;gcc7554a049_0_6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858362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105aad17dc0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105aad17dc0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734302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105aad17dc0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105aad17dc0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281515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105aad17dc0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105aad17dc0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514685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105aad17dc0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105aad17dc0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300808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105aad17dc0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105aad17dc0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981896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105aad17dc0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105aad17dc0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512884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105aad17dc0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105aad17dc0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855210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105aad17dc0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105aad17dc0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976220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105aad17dc0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105aad17dc0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88504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105aad17dc0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105aad17dc0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814605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105aad17dc0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105aad17dc0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467421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105aad17dc0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105aad17dc0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6220571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105aad17dc0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105aad17dc0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9953792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105aad17dc0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105aad17dc0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4783674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105aad17dc0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105aad17dc0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728429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105aad17dc0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105aad17dc0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57244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105aad17dc0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105aad17dc0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2207289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5" name="Google Shape;1565;gcf7a3c503a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6" name="Google Shape;1566;gcf7a3c503a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aticon.com/" TargetMode="External"/><Relationship Id="rId2" Type="http://schemas.openxmlformats.org/officeDocument/2006/relationships/hyperlink" Target="https://slidesgo.com/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freepik.com/" TargetMode="Externa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039975" y="1324500"/>
            <a:ext cx="70641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040000" y="3377100"/>
            <a:ext cx="7064100" cy="44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-257975" y="-72550"/>
            <a:ext cx="3047400" cy="1346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13;p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14;p2"/>
          <p:cNvCxnSpPr/>
          <p:nvPr/>
        </p:nvCxnSpPr>
        <p:spPr>
          <a:xfrm flipH="1">
            <a:off x="6467450" y="3935375"/>
            <a:ext cx="3047400" cy="1346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40" name="Google Shape;40;p6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" name="Google Shape;41;p6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358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subTitle" idx="1"/>
          </p:nvPr>
        </p:nvSpPr>
        <p:spPr>
          <a:xfrm>
            <a:off x="5001000" y="1942925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subTitle" idx="2"/>
          </p:nvPr>
        </p:nvSpPr>
        <p:spPr>
          <a:xfrm>
            <a:off x="5001000" y="2255100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subTitle" idx="3"/>
          </p:nvPr>
        </p:nvSpPr>
        <p:spPr>
          <a:xfrm>
            <a:off x="1655200" y="1942925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subTitle" idx="4"/>
          </p:nvPr>
        </p:nvSpPr>
        <p:spPr>
          <a:xfrm>
            <a:off x="1655200" y="2255100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ubTitle" idx="5"/>
          </p:nvPr>
        </p:nvSpPr>
        <p:spPr>
          <a:xfrm>
            <a:off x="5001000" y="3723950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6"/>
          </p:nvPr>
        </p:nvSpPr>
        <p:spPr>
          <a:xfrm>
            <a:off x="5001000" y="4036125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subTitle" idx="7"/>
          </p:nvPr>
        </p:nvSpPr>
        <p:spPr>
          <a:xfrm>
            <a:off x="1655200" y="3723950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subTitle" idx="8"/>
          </p:nvPr>
        </p:nvSpPr>
        <p:spPr>
          <a:xfrm>
            <a:off x="1655250" y="4036125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title" idx="9" hasCustomPrompt="1"/>
          </p:nvPr>
        </p:nvSpPr>
        <p:spPr>
          <a:xfrm>
            <a:off x="2378650" y="1303588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4" name="Google Shape;84;p13"/>
          <p:cNvSpPr txBox="1">
            <a:spLocks noGrp="1"/>
          </p:cNvSpPr>
          <p:nvPr>
            <p:ph type="title" idx="13" hasCustomPrompt="1"/>
          </p:nvPr>
        </p:nvSpPr>
        <p:spPr>
          <a:xfrm>
            <a:off x="5724450" y="1303588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5" name="Google Shape;85;p13"/>
          <p:cNvSpPr txBox="1">
            <a:spLocks noGrp="1"/>
          </p:cNvSpPr>
          <p:nvPr>
            <p:ph type="title" idx="14" hasCustomPrompt="1"/>
          </p:nvPr>
        </p:nvSpPr>
        <p:spPr>
          <a:xfrm>
            <a:off x="2378700" y="3082738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 txBox="1">
            <a:spLocks noGrp="1"/>
          </p:cNvSpPr>
          <p:nvPr>
            <p:ph type="title" idx="15" hasCustomPrompt="1"/>
          </p:nvPr>
        </p:nvSpPr>
        <p:spPr>
          <a:xfrm>
            <a:off x="5724450" y="3082738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cxnSp>
        <p:nvCxnSpPr>
          <p:cNvPr id="87" name="Google Shape;87;p1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" name="Google Shape;88;p1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14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9"/>
          <p:cNvSpPr txBox="1">
            <a:spLocks noGrp="1"/>
          </p:cNvSpPr>
          <p:nvPr>
            <p:ph type="title"/>
          </p:nvPr>
        </p:nvSpPr>
        <p:spPr>
          <a:xfrm>
            <a:off x="3742850" y="1549875"/>
            <a:ext cx="4545000" cy="129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1pPr>
            <a:lvl2pPr lvl="1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 lvl="2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 lvl="3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 lvl="4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 lvl="5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 lvl="6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 lvl="7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 lvl="8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>
            <a:endParaRPr/>
          </a:p>
        </p:txBody>
      </p:sp>
      <p:sp>
        <p:nvSpPr>
          <p:cNvPr id="139" name="Google Shape;139;p19"/>
          <p:cNvSpPr txBox="1">
            <a:spLocks noGrp="1"/>
          </p:cNvSpPr>
          <p:nvPr>
            <p:ph type="subTitle" idx="1"/>
          </p:nvPr>
        </p:nvSpPr>
        <p:spPr>
          <a:xfrm>
            <a:off x="3742850" y="3039213"/>
            <a:ext cx="4545000" cy="55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cxnSp>
        <p:nvCxnSpPr>
          <p:cNvPr id="140" name="Google Shape;140;p1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1" name="Google Shape;141;p1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2" name="Google Shape;142;p19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" name="Google Shape;143;p19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4" name="Google Shape;144;p19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5" name="Google Shape;145;p19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1"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49"/>
          <p:cNvSpPr txBox="1">
            <a:spLocks noGrp="1"/>
          </p:cNvSpPr>
          <p:nvPr>
            <p:ph type="title"/>
          </p:nvPr>
        </p:nvSpPr>
        <p:spPr>
          <a:xfrm>
            <a:off x="2832900" y="791200"/>
            <a:ext cx="3478200" cy="92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7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443" name="Google Shape;443;p49"/>
          <p:cNvSpPr txBox="1">
            <a:spLocks noGrp="1"/>
          </p:cNvSpPr>
          <p:nvPr>
            <p:ph type="subTitle" idx="1"/>
          </p:nvPr>
        </p:nvSpPr>
        <p:spPr>
          <a:xfrm>
            <a:off x="2983350" y="1749425"/>
            <a:ext cx="3177300" cy="92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4" name="Google Shape;444;p49"/>
          <p:cNvSpPr txBox="1"/>
          <p:nvPr/>
        </p:nvSpPr>
        <p:spPr>
          <a:xfrm>
            <a:off x="2900450" y="3438275"/>
            <a:ext cx="3343200" cy="71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CREDITS</a:t>
            </a:r>
            <a:r>
              <a:rPr lang="en" sz="11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: This presentation template was created by </a:t>
            </a:r>
            <a:r>
              <a:rPr lang="en" sz="1100" b="1">
                <a:solidFill>
                  <a:schemeClr val="dk2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, including icons by </a:t>
            </a:r>
            <a:r>
              <a:rPr lang="en" sz="1100" b="1">
                <a:solidFill>
                  <a:schemeClr val="dk2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, infographics &amp; images by </a:t>
            </a:r>
            <a:r>
              <a:rPr lang="en" sz="1100" b="1">
                <a:solidFill>
                  <a:schemeClr val="dk2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100" b="1" dirty="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45" name="Google Shape;445;p4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6" name="Google Shape;446;p49"/>
          <p:cNvCxnSpPr/>
          <p:nvPr/>
        </p:nvCxnSpPr>
        <p:spPr>
          <a:xfrm>
            <a:off x="-257975" y="3935375"/>
            <a:ext cx="3047400" cy="1346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7" name="Google Shape;447;p4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8" name="Google Shape;448;p49"/>
          <p:cNvCxnSpPr/>
          <p:nvPr/>
        </p:nvCxnSpPr>
        <p:spPr>
          <a:xfrm>
            <a:off x="6467450" y="-72550"/>
            <a:ext cx="3047400" cy="1346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0"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0" name="Google Shape;450;p50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1" name="Google Shape;451;p50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_1"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3" name="Google Shape;453;p5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4" name="Google Shape;454;p5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5" name="Google Shape;455;p51"/>
          <p:cNvCxnSpPr/>
          <p:nvPr/>
        </p:nvCxnSpPr>
        <p:spPr>
          <a:xfrm>
            <a:off x="7434175" y="-125600"/>
            <a:ext cx="1993200" cy="1330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6" name="Google Shape;456;p51"/>
          <p:cNvCxnSpPr/>
          <p:nvPr/>
        </p:nvCxnSpPr>
        <p:spPr>
          <a:xfrm>
            <a:off x="-147275" y="3943475"/>
            <a:ext cx="1993200" cy="1330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0_1_1"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8" name="Google Shape;458;p5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9" name="Google Shape;459;p5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0" name="Google Shape;460;p52"/>
          <p:cNvCxnSpPr/>
          <p:nvPr/>
        </p:nvCxnSpPr>
        <p:spPr>
          <a:xfrm flipH="1">
            <a:off x="6772150" y="3663450"/>
            <a:ext cx="2823300" cy="1633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30"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2" name="Google Shape;462;p5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3" name="Google Shape;463;p5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4" name="Google Shape;464;p53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5" name="Google Shape;465;p53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6" name="Google Shape;466;p53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7" name="Google Shape;467;p53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Vidaloka"/>
              <a:buNone/>
              <a:defRPr sz="30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5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8" r:id="rId3"/>
    <p:sldLayoutId id="2147483659" r:id="rId4"/>
    <p:sldLayoutId id="2147483665" r:id="rId5"/>
    <p:sldLayoutId id="2147483695" r:id="rId6"/>
    <p:sldLayoutId id="2147483696" r:id="rId7"/>
    <p:sldLayoutId id="2147483697" r:id="rId8"/>
    <p:sldLayoutId id="2147483698" r:id="rId9"/>
    <p:sldLayoutId id="214748369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0.png"/><Relationship Id="rId7" Type="http://schemas.openxmlformats.org/officeDocument/2006/relationships/image" Target="../media/image56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50.png"/><Relationship Id="rId5" Type="http://schemas.openxmlformats.org/officeDocument/2006/relationships/image" Target="../media/image540.png"/><Relationship Id="rId4" Type="http://schemas.openxmlformats.org/officeDocument/2006/relationships/image" Target="../media/image52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6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Double_dabble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Double_dabble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5" Type="http://schemas.openxmlformats.org/officeDocument/2006/relationships/comments" Target="../comments/comment1.xml"/><Relationship Id="rId4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59"/>
          <p:cNvSpPr txBox="1">
            <a:spLocks noGrp="1"/>
          </p:cNvSpPr>
          <p:nvPr>
            <p:ph type="ctrTitle"/>
          </p:nvPr>
        </p:nvSpPr>
        <p:spPr>
          <a:xfrm>
            <a:off x="228600" y="1378526"/>
            <a:ext cx="7875475" cy="149980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pt-BR" sz="5400" dirty="0"/>
              <a:t>BINFO1 M2 </a:t>
            </a:r>
            <a:br>
              <a:rPr lang="pt-BR" sz="5400" dirty="0"/>
            </a:br>
            <a:r>
              <a:rPr lang="pt-BR" sz="3200" dirty="0"/>
              <a:t>Repte Fonaments de computadors</a:t>
            </a:r>
            <a:endParaRPr lang="pt-BR" sz="5400" dirty="0"/>
          </a:p>
        </p:txBody>
      </p:sp>
      <p:sp>
        <p:nvSpPr>
          <p:cNvPr id="483" name="Google Shape;483;p59"/>
          <p:cNvSpPr txBox="1">
            <a:spLocks noGrp="1"/>
          </p:cNvSpPr>
          <p:nvPr>
            <p:ph type="subTitle" idx="1"/>
          </p:nvPr>
        </p:nvSpPr>
        <p:spPr>
          <a:xfrm>
            <a:off x="1040000" y="2982247"/>
            <a:ext cx="7064100" cy="44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Alumne: Eric Torrontera Ruiz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  <p:sp>
        <p:nvSpPr>
          <p:cNvPr id="2" name="Google Shape;483;p59">
            <a:extLst>
              <a:ext uri="{FF2B5EF4-FFF2-40B4-BE49-F238E27FC236}">
                <a16:creationId xmlns:a16="http://schemas.microsoft.com/office/drawing/2014/main" id="{C59761A6-8A0F-3EFC-2B7C-4BDA854D7EF2}"/>
              </a:ext>
            </a:extLst>
          </p:cNvPr>
          <p:cNvSpPr txBox="1">
            <a:spLocks/>
          </p:cNvSpPr>
          <p:nvPr/>
        </p:nvSpPr>
        <p:spPr>
          <a:xfrm>
            <a:off x="1040005" y="3349393"/>
            <a:ext cx="7064100" cy="44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"/>
              <a:buNone/>
              <a:defRPr sz="16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>
              <a:buClr>
                <a:schemeClr val="dk1"/>
              </a:buClr>
              <a:buSzPts val="1100"/>
            </a:pPr>
            <a:r>
              <a:rPr lang="ca-ES" dirty="0">
                <a:solidFill>
                  <a:schemeClr val="dk1"/>
                </a:solidFill>
              </a:rPr>
              <a:t>Professorat: </a:t>
            </a:r>
            <a:r>
              <a:rPr lang="en-US" dirty="0"/>
              <a:t>Yolanda Colom, Lorena Jordana, Miquel Viladrich </a:t>
            </a:r>
          </a:p>
        </p:txBody>
      </p:sp>
    </p:spTree>
    <p:extLst>
      <p:ext uri="{BB962C8B-B14F-4D97-AF65-F5344CB8AC3E}">
        <p14:creationId xmlns:p14="http://schemas.microsoft.com/office/powerpoint/2010/main" val="3637460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358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Esquema</a:t>
            </a:r>
            <a:endParaRPr dirty="0"/>
          </a:p>
        </p:txBody>
      </p:sp>
      <p:sp>
        <p:nvSpPr>
          <p:cNvPr id="495" name="Google Shape;495;p61"/>
          <p:cNvSpPr txBox="1">
            <a:spLocks noGrp="1"/>
          </p:cNvSpPr>
          <p:nvPr>
            <p:ph type="subTitle" idx="3"/>
          </p:nvPr>
        </p:nvSpPr>
        <p:spPr>
          <a:xfrm>
            <a:off x="713225" y="1825161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Aigua de la bassa</a:t>
            </a:r>
            <a:endParaRPr dirty="0"/>
          </a:p>
        </p:txBody>
      </p:sp>
      <p:sp>
        <p:nvSpPr>
          <p:cNvPr id="498" name="Google Shape;498;p61"/>
          <p:cNvSpPr txBox="1">
            <a:spLocks noGrp="1"/>
          </p:cNvSpPr>
          <p:nvPr>
            <p:ph type="subTitle" idx="4"/>
          </p:nvPr>
        </p:nvSpPr>
        <p:spPr>
          <a:xfrm>
            <a:off x="713225" y="2137335"/>
            <a:ext cx="2486100" cy="6675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ca-ES" dirty="0"/>
              <a:t>El sistema primer agafarà aigua de la bassa</a:t>
            </a:r>
          </a:p>
        </p:txBody>
      </p:sp>
      <p:sp>
        <p:nvSpPr>
          <p:cNvPr id="501" name="Google Shape;501;p61"/>
          <p:cNvSpPr txBox="1">
            <a:spLocks noGrp="1"/>
          </p:cNvSpPr>
          <p:nvPr>
            <p:ph type="subTitle" idx="7"/>
          </p:nvPr>
        </p:nvSpPr>
        <p:spPr>
          <a:xfrm>
            <a:off x="713224" y="3606186"/>
            <a:ext cx="2652275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Aigua canalitzada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2" name="Google Shape;502;p61"/>
              <p:cNvSpPr txBox="1">
                <a:spLocks noGrp="1"/>
              </p:cNvSpPr>
              <p:nvPr>
                <p:ph type="subTitle" idx="8"/>
              </p:nvPr>
            </p:nvSpPr>
            <p:spPr>
              <a:xfrm>
                <a:off x="713274" y="3918361"/>
                <a:ext cx="2955866" cy="6186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dirty="0"/>
                  <a:t>Si la bassa està seca, agafarà l’aigua canalitzada </a:t>
                </a:r>
                <a14:m>
                  <m:oMath xmlns:m="http://schemas.openxmlformats.org/officeDocument/2006/math">
                    <m:r>
                      <a:rPr lang="en" i="1" dirty="0" smtClean="0">
                        <a:latin typeface="Cambria Math" panose="02040503050406030204" pitchFamily="18" charset="0"/>
                      </a:rPr>
                      <m:t>(0.35€</m:t>
                    </m:r>
                    <m:sSup>
                      <m:sSupPr>
                        <m:ctrlPr>
                          <a:rPr lang="en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dirty="0"/>
              </a:p>
            </p:txBody>
          </p:sp>
        </mc:Choice>
        <mc:Fallback xmlns="">
          <p:sp>
            <p:nvSpPr>
              <p:cNvPr id="502" name="Google Shape;502;p61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8"/>
              </p:nvPr>
            </p:nvSpPr>
            <p:spPr>
              <a:xfrm>
                <a:off x="713274" y="3918361"/>
                <a:ext cx="2955866" cy="618600"/>
              </a:xfrm>
              <a:prstGeom prst="rect">
                <a:avLst/>
              </a:prstGeom>
              <a:blipFill>
                <a:blip r:embed="rId3"/>
                <a:stretch>
                  <a:fillRect b="-19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3" name="Google Shape;503;p61"/>
          <p:cNvSpPr txBox="1">
            <a:spLocks noGrp="1"/>
          </p:cNvSpPr>
          <p:nvPr>
            <p:ph type="title" idx="9"/>
          </p:nvPr>
        </p:nvSpPr>
        <p:spPr>
          <a:xfrm>
            <a:off x="1236337" y="1219376"/>
            <a:ext cx="1439875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V</a:t>
            </a:r>
            <a:endParaRPr dirty="0"/>
          </a:p>
        </p:txBody>
      </p:sp>
      <p:sp>
        <p:nvSpPr>
          <p:cNvPr id="505" name="Google Shape;505;p61"/>
          <p:cNvSpPr txBox="1">
            <a:spLocks noGrp="1"/>
          </p:cNvSpPr>
          <p:nvPr>
            <p:ph type="title" idx="14"/>
          </p:nvPr>
        </p:nvSpPr>
        <p:spPr>
          <a:xfrm>
            <a:off x="1164879" y="2983511"/>
            <a:ext cx="1786614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Si V &lt; 0</a:t>
            </a:r>
            <a:endParaRPr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637D94A-3E7A-92AB-40C1-EBF1B132C384}"/>
              </a:ext>
            </a:extLst>
          </p:cNvPr>
          <p:cNvSpPr/>
          <p:nvPr/>
        </p:nvSpPr>
        <p:spPr>
          <a:xfrm>
            <a:off x="5761164" y="1413612"/>
            <a:ext cx="1143000" cy="250474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C5BDFC2-870F-88E9-B6C7-ECAC4495479D}"/>
              </a:ext>
            </a:extLst>
          </p:cNvPr>
          <p:cNvCxnSpPr>
            <a:cxnSpLocks/>
          </p:cNvCxnSpPr>
          <p:nvPr/>
        </p:nvCxnSpPr>
        <p:spPr>
          <a:xfrm>
            <a:off x="4418064" y="1874548"/>
            <a:ext cx="13431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41BAC7E-BAE7-5A2D-E3A3-9340006C0818}"/>
              </a:ext>
            </a:extLst>
          </p:cNvPr>
          <p:cNvCxnSpPr>
            <a:cxnSpLocks/>
          </p:cNvCxnSpPr>
          <p:nvPr/>
        </p:nvCxnSpPr>
        <p:spPr>
          <a:xfrm>
            <a:off x="4418064" y="3550948"/>
            <a:ext cx="13431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027A874B-AA48-DC9E-D42A-FCC82B5480CB}"/>
              </a:ext>
            </a:extLst>
          </p:cNvPr>
          <p:cNvSpPr/>
          <p:nvPr/>
        </p:nvSpPr>
        <p:spPr>
          <a:xfrm>
            <a:off x="3737775" y="1553126"/>
            <a:ext cx="675350" cy="155323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FC59815-4B1D-6E81-5068-2BE8C47F7CDD}"/>
              </a:ext>
            </a:extLst>
          </p:cNvPr>
          <p:cNvCxnSpPr>
            <a:cxnSpLocks/>
          </p:cNvCxnSpPr>
          <p:nvPr/>
        </p:nvCxnSpPr>
        <p:spPr>
          <a:xfrm>
            <a:off x="4413125" y="3550948"/>
            <a:ext cx="0" cy="47491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Google Shape;495;p61">
            <a:extLst>
              <a:ext uri="{FF2B5EF4-FFF2-40B4-BE49-F238E27FC236}">
                <a16:creationId xmlns:a16="http://schemas.microsoft.com/office/drawing/2014/main" id="{342D7BED-6C22-FCEB-3FFA-CA3016045B87}"/>
              </a:ext>
            </a:extLst>
          </p:cNvPr>
          <p:cNvSpPr txBox="1">
            <a:spLocks/>
          </p:cNvSpPr>
          <p:nvPr/>
        </p:nvSpPr>
        <p:spPr>
          <a:xfrm>
            <a:off x="5685813" y="3955827"/>
            <a:ext cx="1602602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ca-ES" dirty="0"/>
              <a:t>Sensor aigua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BFF390B-F958-A462-01A8-9A4F995FB77E}"/>
              </a:ext>
            </a:extLst>
          </p:cNvPr>
          <p:cNvSpPr/>
          <p:nvPr/>
        </p:nvSpPr>
        <p:spPr>
          <a:xfrm>
            <a:off x="4324790" y="2920121"/>
            <a:ext cx="79262" cy="1018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C6C6684-F3E8-A306-CCDF-BB81D020EA5E}"/>
              </a:ext>
            </a:extLst>
          </p:cNvPr>
          <p:cNvSpPr/>
          <p:nvPr/>
        </p:nvSpPr>
        <p:spPr>
          <a:xfrm>
            <a:off x="6824902" y="3722872"/>
            <a:ext cx="79262" cy="1018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27D1485-84E5-1A81-552A-D390F5EE5CD8}"/>
              </a:ext>
            </a:extLst>
          </p:cNvPr>
          <p:cNvSpPr/>
          <p:nvPr/>
        </p:nvSpPr>
        <p:spPr>
          <a:xfrm>
            <a:off x="6807757" y="1502210"/>
            <a:ext cx="79262" cy="1018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51A4ACE-9DD6-2C15-73AE-D99A27EF4CF5}"/>
              </a:ext>
            </a:extLst>
          </p:cNvPr>
          <p:cNvSpPr/>
          <p:nvPr/>
        </p:nvSpPr>
        <p:spPr>
          <a:xfrm>
            <a:off x="5787139" y="4101953"/>
            <a:ext cx="79262" cy="1018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140E7BD-C326-9AD9-559C-90913BE27FCB}"/>
              </a:ext>
            </a:extLst>
          </p:cNvPr>
          <p:cNvSpPr/>
          <p:nvPr/>
        </p:nvSpPr>
        <p:spPr>
          <a:xfrm>
            <a:off x="5739750" y="4349911"/>
            <a:ext cx="182145" cy="166946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Google Shape;495;p61">
            <a:extLst>
              <a:ext uri="{FF2B5EF4-FFF2-40B4-BE49-F238E27FC236}">
                <a16:creationId xmlns:a16="http://schemas.microsoft.com/office/drawing/2014/main" id="{2D650911-3693-B754-0EE2-88FBA4774F40}"/>
              </a:ext>
            </a:extLst>
          </p:cNvPr>
          <p:cNvSpPr txBox="1">
            <a:spLocks/>
          </p:cNvSpPr>
          <p:nvPr/>
        </p:nvSpPr>
        <p:spPr>
          <a:xfrm>
            <a:off x="5474857" y="4246939"/>
            <a:ext cx="1602602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ca-ES" dirty="0"/>
              <a:t>Motor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12E54BAB-6440-4CB6-2479-33B1E1F7B969}"/>
              </a:ext>
            </a:extLst>
          </p:cNvPr>
          <p:cNvSpPr/>
          <p:nvPr/>
        </p:nvSpPr>
        <p:spPr>
          <a:xfrm>
            <a:off x="4565073" y="1707602"/>
            <a:ext cx="182145" cy="166946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7164371-8FCA-D593-D016-2296F5A98C80}"/>
              </a:ext>
            </a:extLst>
          </p:cNvPr>
          <p:cNvSpPr/>
          <p:nvPr/>
        </p:nvSpPr>
        <p:spPr>
          <a:xfrm>
            <a:off x="4535498" y="3384001"/>
            <a:ext cx="182145" cy="166946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B32DCB8-D114-1F6C-B5B8-6E9DB95FCD5C}"/>
              </a:ext>
            </a:extLst>
          </p:cNvPr>
          <p:cNvCxnSpPr>
            <a:cxnSpLocks/>
          </p:cNvCxnSpPr>
          <p:nvPr/>
        </p:nvCxnSpPr>
        <p:spPr>
          <a:xfrm flipV="1">
            <a:off x="6904164" y="2064777"/>
            <a:ext cx="1318509" cy="80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1519CDE-D098-7308-CF2A-CCEBCB9FB8DD}"/>
              </a:ext>
            </a:extLst>
          </p:cNvPr>
          <p:cNvCxnSpPr>
            <a:cxnSpLocks/>
          </p:cNvCxnSpPr>
          <p:nvPr/>
        </p:nvCxnSpPr>
        <p:spPr>
          <a:xfrm flipV="1">
            <a:off x="6897814" y="3328427"/>
            <a:ext cx="1318509" cy="80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A29DC51-6CC8-656D-1EBF-9CA9A82422CE}"/>
                  </a:ext>
                </a:extLst>
              </p:cNvPr>
              <p:cNvSpPr txBox="1"/>
              <p:nvPr/>
            </p:nvSpPr>
            <p:spPr>
              <a:xfrm>
                <a:off x="5883002" y="2497059"/>
                <a:ext cx="94190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180 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𝑚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3</m:t>
                          </m:r>
                        </m:sup>
                      </m:sSup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A29DC51-6CC8-656D-1EBF-9CA9A82422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3002" y="2497059"/>
                <a:ext cx="941900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D844E142-91AB-1CD6-DC46-D72E95D53445}"/>
              </a:ext>
            </a:extLst>
          </p:cNvPr>
          <p:cNvCxnSpPr>
            <a:cxnSpLocks/>
          </p:cNvCxnSpPr>
          <p:nvPr/>
        </p:nvCxnSpPr>
        <p:spPr>
          <a:xfrm flipV="1">
            <a:off x="5600700" y="2032387"/>
            <a:ext cx="0" cy="135161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8A8E36B-DF99-8301-B7EB-DE90876316F7}"/>
                  </a:ext>
                </a:extLst>
              </p:cNvPr>
              <p:cNvSpPr txBox="1"/>
              <p:nvPr/>
            </p:nvSpPr>
            <p:spPr>
              <a:xfrm>
                <a:off x="4565073" y="2442585"/>
                <a:ext cx="1216025" cy="4782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h</m:t>
                      </m:r>
                      <m:r>
                        <a:rPr lang="en-US" sz="7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sz="7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</m:ctrlPr>
                        </m:fPr>
                        <m:num>
                          <m:r>
                            <a:rPr lang="en-US" sz="7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180</m:t>
                          </m:r>
                        </m:num>
                        <m:den>
                          <m:r>
                            <a:rPr lang="en-US" sz="7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en-US" sz="700" b="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Open Sans" panose="020B0606030504020204" pitchFamily="34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7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Open Sans" panose="020B0606030504020204" pitchFamily="34" charset="0"/>
                                    </a:rPr>
                                  </m:ctrlPr>
                                </m:dPr>
                                <m:e>
                                  <m:rad>
                                    <m:radPr>
                                      <m:degHide m:val="on"/>
                                      <m:ctrlPr>
                                        <a:rPr lang="en-US" sz="700" i="1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Open Sans" panose="020B0606030504020204" pitchFamily="34" charset="0"/>
                                          <a:cs typeface="Open Sans" panose="020B0606030504020204" pitchFamily="34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f>
                                        <m:fPr>
                                          <m:ctrlPr>
                                            <a:rPr lang="en-US" sz="700" i="1" dirty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  <a:ea typeface="Open Sans" panose="020B0606030504020204" pitchFamily="34" charset="0"/>
                                              <a:cs typeface="Open Sans" panose="020B0606030504020204" pitchFamily="34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700" i="1" dirty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  <a:ea typeface="Open Sans" panose="020B0606030504020204" pitchFamily="34" charset="0"/>
                                              <a:cs typeface="Open Sans" panose="020B0606030504020204" pitchFamily="34" charset="0"/>
                                            </a:rPr>
                                            <m:t>90</m:t>
                                          </m:r>
                                        </m:num>
                                        <m:den>
                                          <m:r>
                                            <a:rPr lang="en-US" sz="700" i="1" dirty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Open Sans" panose="020B0606030504020204" pitchFamily="34" charset="0"/>
                                            </a:rPr>
                                            <m:t>𝜋</m:t>
                                          </m:r>
                                        </m:den>
                                      </m:f>
                                    </m:e>
                                  </m:rad>
                                </m:e>
                              </m:d>
                            </m:e>
                            <m:sup>
                              <m:r>
                                <a:rPr lang="en-US" sz="700" b="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Open Sans" panose="020B0606030504020204" pitchFamily="3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8A8E36B-DF99-8301-B7EB-DE90876316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5073" y="2442585"/>
                <a:ext cx="1216025" cy="47820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8B25FCBE-DB12-42BD-2748-FC248FBD4F92}"/>
                  </a:ext>
                </a:extLst>
              </p:cNvPr>
              <p:cNvSpPr txBox="1"/>
              <p:nvPr/>
            </p:nvSpPr>
            <p:spPr>
              <a:xfrm>
                <a:off x="5679951" y="770807"/>
                <a:ext cx="1184582" cy="2973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5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𝑟</m:t>
                      </m:r>
                      <m:r>
                        <a:rPr lang="en-US" sz="105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US" sz="105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</m:ctrlPr>
                        </m:radPr>
                        <m:deg/>
                        <m:e>
                          <m:r>
                            <a:rPr lang="en-US" sz="105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90/</m:t>
                          </m:r>
                          <m:r>
                            <a:rPr lang="en-US" sz="105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𝜋</m:t>
                          </m:r>
                        </m:e>
                      </m:rad>
                      <m:r>
                        <a:rPr lang="en-US" sz="105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 </m:t>
                      </m:r>
                    </m:oMath>
                  </m:oMathPara>
                </a14:m>
                <a:endParaRPr lang="en-US" sz="105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8B25FCBE-DB12-42BD-2748-FC248FBD4F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9951" y="770807"/>
                <a:ext cx="1184582" cy="29732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Arc 50">
            <a:extLst>
              <a:ext uri="{FF2B5EF4-FFF2-40B4-BE49-F238E27FC236}">
                <a16:creationId xmlns:a16="http://schemas.microsoft.com/office/drawing/2014/main" id="{0C0C97F8-E84D-ECB0-B710-7D2827B5BB4D}"/>
              </a:ext>
            </a:extLst>
          </p:cNvPr>
          <p:cNvSpPr/>
          <p:nvPr/>
        </p:nvSpPr>
        <p:spPr>
          <a:xfrm>
            <a:off x="5756225" y="1105216"/>
            <a:ext cx="1130794" cy="673368"/>
          </a:xfrm>
          <a:prstGeom prst="arc">
            <a:avLst>
              <a:gd name="adj1" fmla="val 10946401"/>
              <a:gd name="adj2" fmla="val 21396179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221007F3-2BFD-9874-F9C8-FF88AB4D8632}"/>
              </a:ext>
            </a:extLst>
          </p:cNvPr>
          <p:cNvCxnSpPr>
            <a:endCxn id="14" idx="0"/>
          </p:cNvCxnSpPr>
          <p:nvPr/>
        </p:nvCxnSpPr>
        <p:spPr>
          <a:xfrm>
            <a:off x="6324600" y="1105216"/>
            <a:ext cx="8064" cy="30839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ED21D0C7-E32D-55EC-695C-63B53B7E5287}"/>
                  </a:ext>
                </a:extLst>
              </p:cNvPr>
              <p:cNvSpPr txBox="1"/>
              <p:nvPr/>
            </p:nvSpPr>
            <p:spPr>
              <a:xfrm rot="16200000">
                <a:off x="3507778" y="2192367"/>
                <a:ext cx="1135344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12.315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ca-ES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ED21D0C7-E32D-55EC-695C-63B53B7E52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3507778" y="2192367"/>
                <a:ext cx="1135344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6" name="Google Shape;9208;p146">
            <a:extLst>
              <a:ext uri="{FF2B5EF4-FFF2-40B4-BE49-F238E27FC236}">
                <a16:creationId xmlns:a16="http://schemas.microsoft.com/office/drawing/2014/main" id="{0AA2726B-18D1-1B44-B19C-446A2C6AC604}"/>
              </a:ext>
            </a:extLst>
          </p:cNvPr>
          <p:cNvGrpSpPr/>
          <p:nvPr/>
        </p:nvGrpSpPr>
        <p:grpSpPr>
          <a:xfrm>
            <a:off x="4190910" y="4115695"/>
            <a:ext cx="486566" cy="414708"/>
            <a:chOff x="-19835275" y="3330250"/>
            <a:chExt cx="329250" cy="280625"/>
          </a:xfrm>
          <a:solidFill>
            <a:schemeClr val="tx1"/>
          </a:solidFill>
        </p:grpSpPr>
        <p:sp>
          <p:nvSpPr>
            <p:cNvPr id="57" name="Google Shape;9209;p146">
              <a:extLst>
                <a:ext uri="{FF2B5EF4-FFF2-40B4-BE49-F238E27FC236}">
                  <a16:creationId xmlns:a16="http://schemas.microsoft.com/office/drawing/2014/main" id="{A44740B2-49CB-062D-2AE9-A855641B179E}"/>
                </a:ext>
              </a:extLst>
            </p:cNvPr>
            <p:cNvSpPr/>
            <p:nvPr/>
          </p:nvSpPr>
          <p:spPr>
            <a:xfrm>
              <a:off x="-19768325" y="3361750"/>
              <a:ext cx="197725" cy="249125"/>
            </a:xfrm>
            <a:custGeom>
              <a:avLst/>
              <a:gdLst/>
              <a:ahLst/>
              <a:cxnLst/>
              <a:rect l="l" t="t" r="r" b="b"/>
              <a:pathLst>
                <a:path w="7909" h="9965" extrusionOk="0">
                  <a:moveTo>
                    <a:pt x="3927" y="1"/>
                  </a:moveTo>
                  <a:cubicBezTo>
                    <a:pt x="3797" y="1"/>
                    <a:pt x="3671" y="56"/>
                    <a:pt x="3624" y="166"/>
                  </a:cubicBezTo>
                  <a:lnTo>
                    <a:pt x="1103" y="5302"/>
                  </a:lnTo>
                  <a:cubicBezTo>
                    <a:pt x="1" y="7412"/>
                    <a:pt x="1607" y="9964"/>
                    <a:pt x="3970" y="9964"/>
                  </a:cubicBezTo>
                  <a:cubicBezTo>
                    <a:pt x="6333" y="9964"/>
                    <a:pt x="7908" y="7412"/>
                    <a:pt x="6837" y="5302"/>
                  </a:cubicBezTo>
                  <a:lnTo>
                    <a:pt x="4254" y="166"/>
                  </a:lnTo>
                  <a:cubicBezTo>
                    <a:pt x="4191" y="56"/>
                    <a:pt x="4057" y="1"/>
                    <a:pt x="39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" name="Google Shape;9210;p146">
              <a:extLst>
                <a:ext uri="{FF2B5EF4-FFF2-40B4-BE49-F238E27FC236}">
                  <a16:creationId xmlns:a16="http://schemas.microsoft.com/office/drawing/2014/main" id="{AB05B504-29EF-6AED-F12D-95F18317B5CF}"/>
                </a:ext>
              </a:extLst>
            </p:cNvPr>
            <p:cNvSpPr/>
            <p:nvPr/>
          </p:nvSpPr>
          <p:spPr>
            <a:xfrm>
              <a:off x="-19622625" y="3330250"/>
              <a:ext cx="116600" cy="189250"/>
            </a:xfrm>
            <a:custGeom>
              <a:avLst/>
              <a:gdLst/>
              <a:ahLst/>
              <a:cxnLst/>
              <a:rect l="l" t="t" r="r" b="b"/>
              <a:pathLst>
                <a:path w="4664" h="7570" extrusionOk="0">
                  <a:moveTo>
                    <a:pt x="1683" y="1"/>
                  </a:moveTo>
                  <a:cubicBezTo>
                    <a:pt x="1553" y="1"/>
                    <a:pt x="1419" y="56"/>
                    <a:pt x="1356" y="166"/>
                  </a:cubicBezTo>
                  <a:lnTo>
                    <a:pt x="1" y="2939"/>
                  </a:lnTo>
                  <a:lnTo>
                    <a:pt x="1608" y="6215"/>
                  </a:lnTo>
                  <a:cubicBezTo>
                    <a:pt x="1828" y="6625"/>
                    <a:pt x="1954" y="7097"/>
                    <a:pt x="1986" y="7570"/>
                  </a:cubicBezTo>
                  <a:cubicBezTo>
                    <a:pt x="3687" y="7381"/>
                    <a:pt x="4664" y="5585"/>
                    <a:pt x="3876" y="4010"/>
                  </a:cubicBezTo>
                  <a:lnTo>
                    <a:pt x="1986" y="166"/>
                  </a:lnTo>
                  <a:cubicBezTo>
                    <a:pt x="1938" y="56"/>
                    <a:pt x="1812" y="1"/>
                    <a:pt x="16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" name="Google Shape;9211;p146">
              <a:extLst>
                <a:ext uri="{FF2B5EF4-FFF2-40B4-BE49-F238E27FC236}">
                  <a16:creationId xmlns:a16="http://schemas.microsoft.com/office/drawing/2014/main" id="{E0D04FEE-5897-90D5-BCBB-7986E0EE33A7}"/>
                </a:ext>
              </a:extLst>
            </p:cNvPr>
            <p:cNvSpPr/>
            <p:nvPr/>
          </p:nvSpPr>
          <p:spPr>
            <a:xfrm>
              <a:off x="-19835275" y="3330250"/>
              <a:ext cx="116600" cy="189250"/>
            </a:xfrm>
            <a:custGeom>
              <a:avLst/>
              <a:gdLst/>
              <a:ahLst/>
              <a:cxnLst/>
              <a:rect l="l" t="t" r="r" b="b"/>
              <a:pathLst>
                <a:path w="4664" h="7570" extrusionOk="0">
                  <a:moveTo>
                    <a:pt x="2982" y="1"/>
                  </a:moveTo>
                  <a:cubicBezTo>
                    <a:pt x="2852" y="1"/>
                    <a:pt x="2726" y="56"/>
                    <a:pt x="2679" y="166"/>
                  </a:cubicBezTo>
                  <a:lnTo>
                    <a:pt x="788" y="4010"/>
                  </a:lnTo>
                  <a:cubicBezTo>
                    <a:pt x="1" y="5522"/>
                    <a:pt x="977" y="7381"/>
                    <a:pt x="2679" y="7570"/>
                  </a:cubicBezTo>
                  <a:cubicBezTo>
                    <a:pt x="2710" y="7097"/>
                    <a:pt x="2868" y="6593"/>
                    <a:pt x="3057" y="6152"/>
                  </a:cubicBezTo>
                  <a:lnTo>
                    <a:pt x="4663" y="2876"/>
                  </a:lnTo>
                  <a:lnTo>
                    <a:pt x="3309" y="166"/>
                  </a:lnTo>
                  <a:cubicBezTo>
                    <a:pt x="3246" y="56"/>
                    <a:pt x="3112" y="1"/>
                    <a:pt x="29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  <p:extLst>
      <p:ext uri="{BB962C8B-B14F-4D97-AF65-F5344CB8AC3E}">
        <p14:creationId xmlns:p14="http://schemas.microsoft.com/office/powerpoint/2010/main" val="538028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358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Esquema</a:t>
            </a:r>
            <a:endParaRPr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637D94A-3E7A-92AB-40C1-EBF1B132C384}"/>
              </a:ext>
            </a:extLst>
          </p:cNvPr>
          <p:cNvSpPr/>
          <p:nvPr/>
        </p:nvSpPr>
        <p:spPr>
          <a:xfrm>
            <a:off x="2505346" y="1621430"/>
            <a:ext cx="1143000" cy="250474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C5BDFC2-870F-88E9-B6C7-ECAC4495479D}"/>
              </a:ext>
            </a:extLst>
          </p:cNvPr>
          <p:cNvCxnSpPr>
            <a:cxnSpLocks/>
          </p:cNvCxnSpPr>
          <p:nvPr/>
        </p:nvCxnSpPr>
        <p:spPr>
          <a:xfrm>
            <a:off x="1162246" y="2082366"/>
            <a:ext cx="13431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41BAC7E-BAE7-5A2D-E3A3-9340006C0818}"/>
              </a:ext>
            </a:extLst>
          </p:cNvPr>
          <p:cNvCxnSpPr>
            <a:cxnSpLocks/>
          </p:cNvCxnSpPr>
          <p:nvPr/>
        </p:nvCxnSpPr>
        <p:spPr>
          <a:xfrm>
            <a:off x="1162246" y="3758766"/>
            <a:ext cx="13431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027A874B-AA48-DC9E-D42A-FCC82B5480CB}"/>
              </a:ext>
            </a:extLst>
          </p:cNvPr>
          <p:cNvSpPr/>
          <p:nvPr/>
        </p:nvSpPr>
        <p:spPr>
          <a:xfrm>
            <a:off x="481957" y="1760944"/>
            <a:ext cx="675350" cy="155323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FC59815-4B1D-6E81-5068-2BE8C47F7CDD}"/>
              </a:ext>
            </a:extLst>
          </p:cNvPr>
          <p:cNvCxnSpPr>
            <a:cxnSpLocks/>
          </p:cNvCxnSpPr>
          <p:nvPr/>
        </p:nvCxnSpPr>
        <p:spPr>
          <a:xfrm>
            <a:off x="1157307" y="3758766"/>
            <a:ext cx="0" cy="47491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Google Shape;495;p61">
            <a:extLst>
              <a:ext uri="{FF2B5EF4-FFF2-40B4-BE49-F238E27FC236}">
                <a16:creationId xmlns:a16="http://schemas.microsoft.com/office/drawing/2014/main" id="{342D7BED-6C22-FCEB-3FFA-CA3016045B87}"/>
              </a:ext>
            </a:extLst>
          </p:cNvPr>
          <p:cNvSpPr txBox="1">
            <a:spLocks/>
          </p:cNvSpPr>
          <p:nvPr/>
        </p:nvSpPr>
        <p:spPr>
          <a:xfrm>
            <a:off x="4662485" y="524766"/>
            <a:ext cx="1602602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ca-ES" dirty="0"/>
              <a:t>Sensor aigua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BFF390B-F958-A462-01A8-9A4F995FB77E}"/>
              </a:ext>
            </a:extLst>
          </p:cNvPr>
          <p:cNvSpPr/>
          <p:nvPr/>
        </p:nvSpPr>
        <p:spPr>
          <a:xfrm>
            <a:off x="1068972" y="3127939"/>
            <a:ext cx="79262" cy="1018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C6C6684-F3E8-A306-CCDF-BB81D020EA5E}"/>
              </a:ext>
            </a:extLst>
          </p:cNvPr>
          <p:cNvSpPr/>
          <p:nvPr/>
        </p:nvSpPr>
        <p:spPr>
          <a:xfrm>
            <a:off x="3569084" y="3930690"/>
            <a:ext cx="79262" cy="1018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27D1485-84E5-1A81-552A-D390F5EE5CD8}"/>
              </a:ext>
            </a:extLst>
          </p:cNvPr>
          <p:cNvSpPr/>
          <p:nvPr/>
        </p:nvSpPr>
        <p:spPr>
          <a:xfrm>
            <a:off x="3551939" y="1710028"/>
            <a:ext cx="79262" cy="1018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51A4ACE-9DD6-2C15-73AE-D99A27EF4CF5}"/>
              </a:ext>
            </a:extLst>
          </p:cNvPr>
          <p:cNvSpPr/>
          <p:nvPr/>
        </p:nvSpPr>
        <p:spPr>
          <a:xfrm>
            <a:off x="4763811" y="670892"/>
            <a:ext cx="79262" cy="1018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140E7BD-C326-9AD9-559C-90913BE27FCB}"/>
              </a:ext>
            </a:extLst>
          </p:cNvPr>
          <p:cNvSpPr/>
          <p:nvPr/>
        </p:nvSpPr>
        <p:spPr>
          <a:xfrm>
            <a:off x="4716422" y="918850"/>
            <a:ext cx="182145" cy="166946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Google Shape;495;p61">
            <a:extLst>
              <a:ext uri="{FF2B5EF4-FFF2-40B4-BE49-F238E27FC236}">
                <a16:creationId xmlns:a16="http://schemas.microsoft.com/office/drawing/2014/main" id="{2D650911-3693-B754-0EE2-88FBA4774F40}"/>
              </a:ext>
            </a:extLst>
          </p:cNvPr>
          <p:cNvSpPr txBox="1">
            <a:spLocks/>
          </p:cNvSpPr>
          <p:nvPr/>
        </p:nvSpPr>
        <p:spPr>
          <a:xfrm>
            <a:off x="4424679" y="835812"/>
            <a:ext cx="1602602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ca-ES" dirty="0"/>
              <a:t>Motor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12E54BAB-6440-4CB6-2479-33B1E1F7B969}"/>
              </a:ext>
            </a:extLst>
          </p:cNvPr>
          <p:cNvSpPr/>
          <p:nvPr/>
        </p:nvSpPr>
        <p:spPr>
          <a:xfrm>
            <a:off x="3941524" y="3591819"/>
            <a:ext cx="182145" cy="166946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7164371-8FCA-D593-D016-2296F5A98C80}"/>
              </a:ext>
            </a:extLst>
          </p:cNvPr>
          <p:cNvSpPr/>
          <p:nvPr/>
        </p:nvSpPr>
        <p:spPr>
          <a:xfrm>
            <a:off x="3941523" y="2404803"/>
            <a:ext cx="182145" cy="166946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B32DCB8-D114-1F6C-B5B8-6E9DB95FCD5C}"/>
              </a:ext>
            </a:extLst>
          </p:cNvPr>
          <p:cNvCxnSpPr>
            <a:cxnSpLocks/>
          </p:cNvCxnSpPr>
          <p:nvPr/>
        </p:nvCxnSpPr>
        <p:spPr>
          <a:xfrm flipV="1">
            <a:off x="3631201" y="2571750"/>
            <a:ext cx="1318509" cy="80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3E2B1D8-74B4-3674-6C69-A40EDA0E8320}"/>
              </a:ext>
            </a:extLst>
          </p:cNvPr>
          <p:cNvCxnSpPr>
            <a:cxnSpLocks/>
          </p:cNvCxnSpPr>
          <p:nvPr/>
        </p:nvCxnSpPr>
        <p:spPr>
          <a:xfrm flipV="1">
            <a:off x="3648346" y="3757956"/>
            <a:ext cx="1318509" cy="80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544DEA1-831E-2E53-49B1-A5219A763887}"/>
              </a:ext>
            </a:extLst>
          </p:cNvPr>
          <p:cNvCxnSpPr>
            <a:cxnSpLocks/>
          </p:cNvCxnSpPr>
          <p:nvPr/>
        </p:nvCxnSpPr>
        <p:spPr>
          <a:xfrm>
            <a:off x="4953002" y="2334290"/>
            <a:ext cx="0" cy="47491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97D70BD-15E9-324F-0628-52BB68D199F0}"/>
              </a:ext>
            </a:extLst>
          </p:cNvPr>
          <p:cNvCxnSpPr>
            <a:cxnSpLocks/>
          </p:cNvCxnSpPr>
          <p:nvPr/>
        </p:nvCxnSpPr>
        <p:spPr>
          <a:xfrm>
            <a:off x="4980710" y="3591819"/>
            <a:ext cx="0" cy="47491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5E4F707-2D6C-96A0-7693-48E48E6A6C3F}"/>
              </a:ext>
            </a:extLst>
          </p:cNvPr>
          <p:cNvCxnSpPr>
            <a:cxnSpLocks/>
          </p:cNvCxnSpPr>
          <p:nvPr/>
        </p:nvCxnSpPr>
        <p:spPr>
          <a:xfrm flipV="1">
            <a:off x="4980710" y="3599195"/>
            <a:ext cx="1318509" cy="80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7421720-20B3-1BBF-2098-14EE843B24E7}"/>
              </a:ext>
            </a:extLst>
          </p:cNvPr>
          <p:cNvCxnSpPr>
            <a:cxnSpLocks/>
          </p:cNvCxnSpPr>
          <p:nvPr/>
        </p:nvCxnSpPr>
        <p:spPr>
          <a:xfrm flipV="1">
            <a:off x="4980710" y="4065929"/>
            <a:ext cx="1318509" cy="80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9954D04-E693-F245-29F7-37E81C66897E}"/>
              </a:ext>
            </a:extLst>
          </p:cNvPr>
          <p:cNvCxnSpPr>
            <a:cxnSpLocks/>
          </p:cNvCxnSpPr>
          <p:nvPr/>
        </p:nvCxnSpPr>
        <p:spPr>
          <a:xfrm flipV="1">
            <a:off x="4947770" y="2338383"/>
            <a:ext cx="1318509" cy="80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0B7B561-772A-ED1D-037B-54759618DED0}"/>
              </a:ext>
            </a:extLst>
          </p:cNvPr>
          <p:cNvCxnSpPr>
            <a:cxnSpLocks/>
          </p:cNvCxnSpPr>
          <p:nvPr/>
        </p:nvCxnSpPr>
        <p:spPr>
          <a:xfrm flipV="1">
            <a:off x="4947769" y="2799619"/>
            <a:ext cx="1318509" cy="80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3A19C670-D5D3-021F-6B14-D23CC651DE95}"/>
              </a:ext>
            </a:extLst>
          </p:cNvPr>
          <p:cNvSpPr/>
          <p:nvPr/>
        </p:nvSpPr>
        <p:spPr>
          <a:xfrm>
            <a:off x="1362346" y="1915420"/>
            <a:ext cx="182145" cy="166946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E9172638-0F1B-6F90-47DB-8D391D078248}"/>
              </a:ext>
            </a:extLst>
          </p:cNvPr>
          <p:cNvSpPr/>
          <p:nvPr/>
        </p:nvSpPr>
        <p:spPr>
          <a:xfrm>
            <a:off x="1271273" y="3591010"/>
            <a:ext cx="182145" cy="166946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Isosceles Triangle 39">
            <a:extLst>
              <a:ext uri="{FF2B5EF4-FFF2-40B4-BE49-F238E27FC236}">
                <a16:creationId xmlns:a16="http://schemas.microsoft.com/office/drawing/2014/main" id="{02AE5045-19D2-3C23-6778-B30C8580FC1E}"/>
              </a:ext>
            </a:extLst>
          </p:cNvPr>
          <p:cNvSpPr/>
          <p:nvPr/>
        </p:nvSpPr>
        <p:spPr>
          <a:xfrm>
            <a:off x="4763811" y="1234227"/>
            <a:ext cx="126977" cy="159869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Isosceles Triangle 40">
            <a:extLst>
              <a:ext uri="{FF2B5EF4-FFF2-40B4-BE49-F238E27FC236}">
                <a16:creationId xmlns:a16="http://schemas.microsoft.com/office/drawing/2014/main" id="{6C39DA6A-2196-6661-BD41-7EDCB3ED966B}"/>
              </a:ext>
            </a:extLst>
          </p:cNvPr>
          <p:cNvSpPr/>
          <p:nvPr/>
        </p:nvSpPr>
        <p:spPr>
          <a:xfrm>
            <a:off x="4917221" y="2253759"/>
            <a:ext cx="126977" cy="159869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Isosceles Triangle 41">
            <a:extLst>
              <a:ext uri="{FF2B5EF4-FFF2-40B4-BE49-F238E27FC236}">
                <a16:creationId xmlns:a16="http://schemas.microsoft.com/office/drawing/2014/main" id="{1C4F37E9-DE6F-72FE-67CF-450383D66C4C}"/>
              </a:ext>
            </a:extLst>
          </p:cNvPr>
          <p:cNvSpPr/>
          <p:nvPr/>
        </p:nvSpPr>
        <p:spPr>
          <a:xfrm>
            <a:off x="4917220" y="2692087"/>
            <a:ext cx="126977" cy="159869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Isosceles Triangle 42">
            <a:extLst>
              <a:ext uri="{FF2B5EF4-FFF2-40B4-BE49-F238E27FC236}">
                <a16:creationId xmlns:a16="http://schemas.microsoft.com/office/drawing/2014/main" id="{B252AF16-AB78-9EDA-C6A4-199CBDFECBA2}"/>
              </a:ext>
            </a:extLst>
          </p:cNvPr>
          <p:cNvSpPr/>
          <p:nvPr/>
        </p:nvSpPr>
        <p:spPr>
          <a:xfrm>
            <a:off x="4927957" y="3522879"/>
            <a:ext cx="126977" cy="159869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32BABFEA-AFD0-F359-C65F-6FE031435F6C}"/>
              </a:ext>
            </a:extLst>
          </p:cNvPr>
          <p:cNvSpPr/>
          <p:nvPr/>
        </p:nvSpPr>
        <p:spPr>
          <a:xfrm>
            <a:off x="4947008" y="3975809"/>
            <a:ext cx="126977" cy="159869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Google Shape;495;p61">
            <a:extLst>
              <a:ext uri="{FF2B5EF4-FFF2-40B4-BE49-F238E27FC236}">
                <a16:creationId xmlns:a16="http://schemas.microsoft.com/office/drawing/2014/main" id="{295E6922-40EC-F056-882C-663ED5C80E52}"/>
              </a:ext>
            </a:extLst>
          </p:cNvPr>
          <p:cNvSpPr txBox="1">
            <a:spLocks/>
          </p:cNvSpPr>
          <p:nvPr/>
        </p:nvSpPr>
        <p:spPr>
          <a:xfrm>
            <a:off x="4620827" y="2512367"/>
            <a:ext cx="1602602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ca-E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Vàlvula 2</a:t>
            </a:r>
            <a:endParaRPr lang="ca-ES" dirty="0"/>
          </a:p>
        </p:txBody>
      </p:sp>
      <p:sp>
        <p:nvSpPr>
          <p:cNvPr id="47" name="Google Shape;495;p61">
            <a:extLst>
              <a:ext uri="{FF2B5EF4-FFF2-40B4-BE49-F238E27FC236}">
                <a16:creationId xmlns:a16="http://schemas.microsoft.com/office/drawing/2014/main" id="{E8DF2E05-50B5-CA7F-BE76-1D5C088D5506}"/>
              </a:ext>
            </a:extLst>
          </p:cNvPr>
          <p:cNvSpPr txBox="1">
            <a:spLocks/>
          </p:cNvSpPr>
          <p:nvPr/>
        </p:nvSpPr>
        <p:spPr>
          <a:xfrm>
            <a:off x="4620827" y="2041450"/>
            <a:ext cx="1602602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ca-E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Vàlvula 1</a:t>
            </a:r>
            <a:endParaRPr lang="ca-ES" dirty="0"/>
          </a:p>
        </p:txBody>
      </p:sp>
      <p:sp>
        <p:nvSpPr>
          <p:cNvPr id="48" name="Google Shape;495;p61">
            <a:extLst>
              <a:ext uri="{FF2B5EF4-FFF2-40B4-BE49-F238E27FC236}">
                <a16:creationId xmlns:a16="http://schemas.microsoft.com/office/drawing/2014/main" id="{48636683-5EA5-5C8C-D49E-1FEE29711FEB}"/>
              </a:ext>
            </a:extLst>
          </p:cNvPr>
          <p:cNvSpPr txBox="1">
            <a:spLocks/>
          </p:cNvSpPr>
          <p:nvPr/>
        </p:nvSpPr>
        <p:spPr>
          <a:xfrm>
            <a:off x="4620827" y="3283565"/>
            <a:ext cx="1602602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ca-E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Vàlvula 3</a:t>
            </a:r>
            <a:endParaRPr lang="ca-ES" dirty="0"/>
          </a:p>
        </p:txBody>
      </p:sp>
      <p:sp>
        <p:nvSpPr>
          <p:cNvPr id="49" name="Google Shape;495;p61">
            <a:extLst>
              <a:ext uri="{FF2B5EF4-FFF2-40B4-BE49-F238E27FC236}">
                <a16:creationId xmlns:a16="http://schemas.microsoft.com/office/drawing/2014/main" id="{7FC5EF2C-5C22-099E-AA19-B255823392EB}"/>
              </a:ext>
            </a:extLst>
          </p:cNvPr>
          <p:cNvSpPr txBox="1">
            <a:spLocks/>
          </p:cNvSpPr>
          <p:nvPr/>
        </p:nvSpPr>
        <p:spPr>
          <a:xfrm>
            <a:off x="4684041" y="3764200"/>
            <a:ext cx="1602602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ca-E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Vàlvula 3</a:t>
            </a:r>
            <a:endParaRPr lang="ca-ES" dirty="0"/>
          </a:p>
        </p:txBody>
      </p:sp>
      <p:sp>
        <p:nvSpPr>
          <p:cNvPr id="51" name="Google Shape;495;p61">
            <a:extLst>
              <a:ext uri="{FF2B5EF4-FFF2-40B4-BE49-F238E27FC236}">
                <a16:creationId xmlns:a16="http://schemas.microsoft.com/office/drawing/2014/main" id="{6D62E544-BC7B-6A54-AF7C-FE4B11BB61BD}"/>
              </a:ext>
            </a:extLst>
          </p:cNvPr>
          <p:cNvSpPr txBox="1">
            <a:spLocks/>
          </p:cNvSpPr>
          <p:nvPr/>
        </p:nvSpPr>
        <p:spPr>
          <a:xfrm>
            <a:off x="4467351" y="1159636"/>
            <a:ext cx="1602602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ca-ES" dirty="0"/>
              <a:t>Vàlvula</a:t>
            </a:r>
          </a:p>
        </p:txBody>
      </p:sp>
      <p:sp>
        <p:nvSpPr>
          <p:cNvPr id="52" name="Google Shape;495;p61">
            <a:extLst>
              <a:ext uri="{FF2B5EF4-FFF2-40B4-BE49-F238E27FC236}">
                <a16:creationId xmlns:a16="http://schemas.microsoft.com/office/drawing/2014/main" id="{9E222379-5DB3-B4A6-F7A0-76041CC580F0}"/>
              </a:ext>
            </a:extLst>
          </p:cNvPr>
          <p:cNvSpPr txBox="1">
            <a:spLocks/>
          </p:cNvSpPr>
          <p:nvPr/>
        </p:nvSpPr>
        <p:spPr>
          <a:xfrm>
            <a:off x="3721873" y="2285572"/>
            <a:ext cx="1602602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ca-E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Motor 1</a:t>
            </a:r>
            <a:endParaRPr lang="ca-ES" dirty="0"/>
          </a:p>
        </p:txBody>
      </p:sp>
      <p:sp>
        <p:nvSpPr>
          <p:cNvPr id="53" name="Google Shape;495;p61">
            <a:extLst>
              <a:ext uri="{FF2B5EF4-FFF2-40B4-BE49-F238E27FC236}">
                <a16:creationId xmlns:a16="http://schemas.microsoft.com/office/drawing/2014/main" id="{D12FA446-F194-EE38-20F1-185FC027DB29}"/>
              </a:ext>
            </a:extLst>
          </p:cNvPr>
          <p:cNvSpPr txBox="1">
            <a:spLocks/>
          </p:cNvSpPr>
          <p:nvPr/>
        </p:nvSpPr>
        <p:spPr>
          <a:xfrm>
            <a:off x="3721873" y="3487797"/>
            <a:ext cx="1602602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ca-E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Motor 2</a:t>
            </a:r>
            <a:endParaRPr lang="ca-ES" dirty="0"/>
          </a:p>
        </p:txBody>
      </p:sp>
      <p:grpSp>
        <p:nvGrpSpPr>
          <p:cNvPr id="54" name="Google Shape;9013;p146">
            <a:extLst>
              <a:ext uri="{FF2B5EF4-FFF2-40B4-BE49-F238E27FC236}">
                <a16:creationId xmlns:a16="http://schemas.microsoft.com/office/drawing/2014/main" id="{4A5177DE-690A-5D87-7950-4C1FA212F750}"/>
              </a:ext>
            </a:extLst>
          </p:cNvPr>
          <p:cNvGrpSpPr/>
          <p:nvPr/>
        </p:nvGrpSpPr>
        <p:grpSpPr>
          <a:xfrm>
            <a:off x="6489139" y="3975809"/>
            <a:ext cx="450470" cy="449325"/>
            <a:chOff x="-20946600" y="3317850"/>
            <a:chExt cx="304825" cy="304050"/>
          </a:xfrm>
          <a:solidFill>
            <a:schemeClr val="accent4">
              <a:lumMod val="60000"/>
              <a:lumOff val="40000"/>
            </a:schemeClr>
          </a:solidFill>
        </p:grpSpPr>
        <p:sp>
          <p:nvSpPr>
            <p:cNvPr id="55" name="Google Shape;9014;p146">
              <a:extLst>
                <a:ext uri="{FF2B5EF4-FFF2-40B4-BE49-F238E27FC236}">
                  <a16:creationId xmlns:a16="http://schemas.microsoft.com/office/drawing/2014/main" id="{87B45CCF-B011-B690-7B0E-CB84CD0C2F99}"/>
                </a:ext>
              </a:extLst>
            </p:cNvPr>
            <p:cNvSpPr/>
            <p:nvPr/>
          </p:nvSpPr>
          <p:spPr>
            <a:xfrm>
              <a:off x="-20946600" y="3317850"/>
              <a:ext cx="232350" cy="248925"/>
            </a:xfrm>
            <a:custGeom>
              <a:avLst/>
              <a:gdLst/>
              <a:ahLst/>
              <a:cxnLst/>
              <a:rect l="l" t="t" r="r" b="b"/>
              <a:pathLst>
                <a:path w="9294" h="9957" extrusionOk="0">
                  <a:moveTo>
                    <a:pt x="4631" y="1"/>
                  </a:moveTo>
                  <a:cubicBezTo>
                    <a:pt x="3340" y="1"/>
                    <a:pt x="2268" y="977"/>
                    <a:pt x="2142" y="2237"/>
                  </a:cubicBezTo>
                  <a:cubicBezTo>
                    <a:pt x="1292" y="2521"/>
                    <a:pt x="693" y="3340"/>
                    <a:pt x="693" y="4254"/>
                  </a:cubicBezTo>
                  <a:cubicBezTo>
                    <a:pt x="693" y="4695"/>
                    <a:pt x="819" y="5073"/>
                    <a:pt x="1040" y="5451"/>
                  </a:cubicBezTo>
                  <a:cubicBezTo>
                    <a:pt x="378" y="5923"/>
                    <a:pt x="0" y="6648"/>
                    <a:pt x="0" y="7499"/>
                  </a:cubicBezTo>
                  <a:cubicBezTo>
                    <a:pt x="0" y="8853"/>
                    <a:pt x="1134" y="9956"/>
                    <a:pt x="2520" y="9956"/>
                  </a:cubicBezTo>
                  <a:lnTo>
                    <a:pt x="4316" y="9956"/>
                  </a:lnTo>
                  <a:lnTo>
                    <a:pt x="4316" y="8349"/>
                  </a:lnTo>
                  <a:lnTo>
                    <a:pt x="2962" y="7026"/>
                  </a:lnTo>
                  <a:cubicBezTo>
                    <a:pt x="2804" y="6869"/>
                    <a:pt x="2804" y="6648"/>
                    <a:pt x="2962" y="6491"/>
                  </a:cubicBezTo>
                  <a:cubicBezTo>
                    <a:pt x="3040" y="6412"/>
                    <a:pt x="3135" y="6372"/>
                    <a:pt x="3229" y="6372"/>
                  </a:cubicBezTo>
                  <a:cubicBezTo>
                    <a:pt x="3324" y="6372"/>
                    <a:pt x="3418" y="6412"/>
                    <a:pt x="3497" y="6491"/>
                  </a:cubicBezTo>
                  <a:lnTo>
                    <a:pt x="4316" y="7341"/>
                  </a:lnTo>
                  <a:lnTo>
                    <a:pt x="4316" y="5482"/>
                  </a:lnTo>
                  <a:lnTo>
                    <a:pt x="2962" y="4128"/>
                  </a:lnTo>
                  <a:cubicBezTo>
                    <a:pt x="2804" y="3970"/>
                    <a:pt x="2804" y="3781"/>
                    <a:pt x="2962" y="3624"/>
                  </a:cubicBezTo>
                  <a:cubicBezTo>
                    <a:pt x="3040" y="3545"/>
                    <a:pt x="3135" y="3505"/>
                    <a:pt x="3229" y="3505"/>
                  </a:cubicBezTo>
                  <a:cubicBezTo>
                    <a:pt x="3324" y="3505"/>
                    <a:pt x="3418" y="3545"/>
                    <a:pt x="3497" y="3624"/>
                  </a:cubicBezTo>
                  <a:lnTo>
                    <a:pt x="4316" y="4443"/>
                  </a:lnTo>
                  <a:lnTo>
                    <a:pt x="4316" y="2458"/>
                  </a:lnTo>
                  <a:cubicBezTo>
                    <a:pt x="4316" y="2237"/>
                    <a:pt x="4474" y="2080"/>
                    <a:pt x="4663" y="2080"/>
                  </a:cubicBezTo>
                  <a:cubicBezTo>
                    <a:pt x="4852" y="2080"/>
                    <a:pt x="5009" y="2237"/>
                    <a:pt x="5009" y="2458"/>
                  </a:cubicBezTo>
                  <a:lnTo>
                    <a:pt x="5009" y="5860"/>
                  </a:lnTo>
                  <a:lnTo>
                    <a:pt x="5860" y="5041"/>
                  </a:lnTo>
                  <a:cubicBezTo>
                    <a:pt x="5939" y="4963"/>
                    <a:pt x="6025" y="4923"/>
                    <a:pt x="6112" y="4923"/>
                  </a:cubicBezTo>
                  <a:cubicBezTo>
                    <a:pt x="6199" y="4923"/>
                    <a:pt x="6285" y="4963"/>
                    <a:pt x="6364" y="5041"/>
                  </a:cubicBezTo>
                  <a:cubicBezTo>
                    <a:pt x="6522" y="5199"/>
                    <a:pt x="6522" y="5388"/>
                    <a:pt x="6364" y="5545"/>
                  </a:cubicBezTo>
                  <a:lnTo>
                    <a:pt x="5009" y="6900"/>
                  </a:lnTo>
                  <a:lnTo>
                    <a:pt x="5009" y="9956"/>
                  </a:lnTo>
                  <a:lnTo>
                    <a:pt x="6805" y="9956"/>
                  </a:lnTo>
                  <a:cubicBezTo>
                    <a:pt x="8160" y="9956"/>
                    <a:pt x="9294" y="8853"/>
                    <a:pt x="9294" y="7499"/>
                  </a:cubicBezTo>
                  <a:cubicBezTo>
                    <a:pt x="9294" y="6648"/>
                    <a:pt x="8884" y="5923"/>
                    <a:pt x="8223" y="5451"/>
                  </a:cubicBezTo>
                  <a:cubicBezTo>
                    <a:pt x="8443" y="5073"/>
                    <a:pt x="8569" y="4695"/>
                    <a:pt x="8569" y="4254"/>
                  </a:cubicBezTo>
                  <a:cubicBezTo>
                    <a:pt x="8569" y="3340"/>
                    <a:pt x="7971" y="2521"/>
                    <a:pt x="7120" y="2237"/>
                  </a:cubicBezTo>
                  <a:cubicBezTo>
                    <a:pt x="6994" y="977"/>
                    <a:pt x="5923" y="1"/>
                    <a:pt x="46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" name="Google Shape;9015;p146">
              <a:extLst>
                <a:ext uri="{FF2B5EF4-FFF2-40B4-BE49-F238E27FC236}">
                  <a16:creationId xmlns:a16="http://schemas.microsoft.com/office/drawing/2014/main" id="{65E6AD30-CD1A-46D3-F7E8-29E88809E106}"/>
                </a:ext>
              </a:extLst>
            </p:cNvPr>
            <p:cNvSpPr/>
            <p:nvPr/>
          </p:nvSpPr>
          <p:spPr>
            <a:xfrm>
              <a:off x="-20775700" y="3318650"/>
              <a:ext cx="133925" cy="249700"/>
            </a:xfrm>
            <a:custGeom>
              <a:avLst/>
              <a:gdLst/>
              <a:ahLst/>
              <a:cxnLst/>
              <a:rect l="l" t="t" r="r" b="b"/>
              <a:pathLst>
                <a:path w="5357" h="9988" extrusionOk="0">
                  <a:moveTo>
                    <a:pt x="694" y="0"/>
                  </a:moveTo>
                  <a:cubicBezTo>
                    <a:pt x="473" y="0"/>
                    <a:pt x="253" y="32"/>
                    <a:pt x="1" y="126"/>
                  </a:cubicBezTo>
                  <a:cubicBezTo>
                    <a:pt x="473" y="567"/>
                    <a:pt x="820" y="1103"/>
                    <a:pt x="977" y="1764"/>
                  </a:cubicBezTo>
                  <a:cubicBezTo>
                    <a:pt x="1891" y="2300"/>
                    <a:pt x="2490" y="3245"/>
                    <a:pt x="2490" y="4285"/>
                  </a:cubicBezTo>
                  <a:cubicBezTo>
                    <a:pt x="2490" y="4663"/>
                    <a:pt x="2395" y="4978"/>
                    <a:pt x="2269" y="5293"/>
                  </a:cubicBezTo>
                  <a:cubicBezTo>
                    <a:pt x="2836" y="5860"/>
                    <a:pt x="3183" y="6648"/>
                    <a:pt x="3183" y="7498"/>
                  </a:cubicBezTo>
                  <a:cubicBezTo>
                    <a:pt x="3183" y="8506"/>
                    <a:pt x="2710" y="9389"/>
                    <a:pt x="1985" y="9987"/>
                  </a:cubicBezTo>
                  <a:lnTo>
                    <a:pt x="2836" y="9987"/>
                  </a:lnTo>
                  <a:cubicBezTo>
                    <a:pt x="4222" y="9987"/>
                    <a:pt x="5325" y="8853"/>
                    <a:pt x="5325" y="7498"/>
                  </a:cubicBezTo>
                  <a:cubicBezTo>
                    <a:pt x="5357" y="6679"/>
                    <a:pt x="4915" y="5891"/>
                    <a:pt x="4285" y="5450"/>
                  </a:cubicBezTo>
                  <a:cubicBezTo>
                    <a:pt x="4537" y="5104"/>
                    <a:pt x="4632" y="4694"/>
                    <a:pt x="4632" y="4253"/>
                  </a:cubicBezTo>
                  <a:cubicBezTo>
                    <a:pt x="4632" y="3340"/>
                    <a:pt x="4065" y="2520"/>
                    <a:pt x="3183" y="2237"/>
                  </a:cubicBezTo>
                  <a:cubicBezTo>
                    <a:pt x="3057" y="977"/>
                    <a:pt x="2017" y="0"/>
                    <a:pt x="6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" name="Google Shape;9016;p146">
              <a:extLst>
                <a:ext uri="{FF2B5EF4-FFF2-40B4-BE49-F238E27FC236}">
                  <a16:creationId xmlns:a16="http://schemas.microsoft.com/office/drawing/2014/main" id="{7D32294A-460E-BD25-D794-CC1FE0B7A7AB}"/>
                </a:ext>
              </a:extLst>
            </p:cNvPr>
            <p:cNvSpPr/>
            <p:nvPr/>
          </p:nvSpPr>
          <p:spPr>
            <a:xfrm>
              <a:off x="-20890700" y="3586425"/>
              <a:ext cx="195375" cy="35475"/>
            </a:xfrm>
            <a:custGeom>
              <a:avLst/>
              <a:gdLst/>
              <a:ahLst/>
              <a:cxnLst/>
              <a:rect l="l" t="t" r="r" b="b"/>
              <a:pathLst>
                <a:path w="7815" h="1419" extrusionOk="0">
                  <a:moveTo>
                    <a:pt x="2112" y="1"/>
                  </a:moveTo>
                  <a:lnTo>
                    <a:pt x="2112" y="725"/>
                  </a:lnTo>
                  <a:lnTo>
                    <a:pt x="347" y="725"/>
                  </a:lnTo>
                  <a:cubicBezTo>
                    <a:pt x="158" y="725"/>
                    <a:pt x="1" y="883"/>
                    <a:pt x="1" y="1072"/>
                  </a:cubicBezTo>
                  <a:cubicBezTo>
                    <a:pt x="1" y="1261"/>
                    <a:pt x="158" y="1418"/>
                    <a:pt x="347" y="1418"/>
                  </a:cubicBezTo>
                  <a:lnTo>
                    <a:pt x="7468" y="1418"/>
                  </a:lnTo>
                  <a:cubicBezTo>
                    <a:pt x="7657" y="1418"/>
                    <a:pt x="7814" y="1261"/>
                    <a:pt x="7814" y="1072"/>
                  </a:cubicBezTo>
                  <a:cubicBezTo>
                    <a:pt x="7814" y="883"/>
                    <a:pt x="7625" y="725"/>
                    <a:pt x="7436" y="725"/>
                  </a:cubicBezTo>
                  <a:lnTo>
                    <a:pt x="5672" y="725"/>
                  </a:lnTo>
                  <a:lnTo>
                    <a:pt x="5672" y="1"/>
                  </a:lnTo>
                  <a:lnTo>
                    <a:pt x="4947" y="1"/>
                  </a:lnTo>
                  <a:lnTo>
                    <a:pt x="4947" y="725"/>
                  </a:lnTo>
                  <a:lnTo>
                    <a:pt x="2836" y="725"/>
                  </a:lnTo>
                  <a:lnTo>
                    <a:pt x="283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58" name="Google Shape;9257;p146">
            <a:extLst>
              <a:ext uri="{FF2B5EF4-FFF2-40B4-BE49-F238E27FC236}">
                <a16:creationId xmlns:a16="http://schemas.microsoft.com/office/drawing/2014/main" id="{B290E991-6FFA-53AF-C1E5-73049895472C}"/>
              </a:ext>
            </a:extLst>
          </p:cNvPr>
          <p:cNvSpPr/>
          <p:nvPr/>
        </p:nvSpPr>
        <p:spPr>
          <a:xfrm>
            <a:off x="6489139" y="3366938"/>
            <a:ext cx="449288" cy="448143"/>
          </a:xfrm>
          <a:custGeom>
            <a:avLst/>
            <a:gdLst/>
            <a:ahLst/>
            <a:cxnLst/>
            <a:rect l="l" t="t" r="r" b="b"/>
            <a:pathLst>
              <a:path w="12161" h="12130" extrusionOk="0">
                <a:moveTo>
                  <a:pt x="3245" y="0"/>
                </a:moveTo>
                <a:cubicBezTo>
                  <a:pt x="3245" y="0"/>
                  <a:pt x="2174" y="820"/>
                  <a:pt x="2174" y="1765"/>
                </a:cubicBezTo>
                <a:cubicBezTo>
                  <a:pt x="2174" y="2363"/>
                  <a:pt x="2552" y="2930"/>
                  <a:pt x="2867" y="3245"/>
                </a:cubicBezTo>
                <a:lnTo>
                  <a:pt x="2867" y="4254"/>
                </a:lnTo>
                <a:cubicBezTo>
                  <a:pt x="2867" y="3466"/>
                  <a:pt x="2237" y="2836"/>
                  <a:pt x="1449" y="2836"/>
                </a:cubicBezTo>
                <a:lnTo>
                  <a:pt x="756" y="2836"/>
                </a:lnTo>
                <a:lnTo>
                  <a:pt x="756" y="3560"/>
                </a:lnTo>
                <a:cubicBezTo>
                  <a:pt x="756" y="4348"/>
                  <a:pt x="1386" y="4978"/>
                  <a:pt x="2174" y="4978"/>
                </a:cubicBezTo>
                <a:lnTo>
                  <a:pt x="2867" y="4978"/>
                </a:lnTo>
                <a:lnTo>
                  <a:pt x="2867" y="6742"/>
                </a:lnTo>
                <a:cubicBezTo>
                  <a:pt x="2867" y="5955"/>
                  <a:pt x="2237" y="5325"/>
                  <a:pt x="1449" y="5325"/>
                </a:cubicBezTo>
                <a:lnTo>
                  <a:pt x="756" y="5325"/>
                </a:lnTo>
                <a:lnTo>
                  <a:pt x="756" y="6018"/>
                </a:lnTo>
                <a:cubicBezTo>
                  <a:pt x="756" y="6805"/>
                  <a:pt x="1386" y="7467"/>
                  <a:pt x="2174" y="7467"/>
                </a:cubicBezTo>
                <a:lnTo>
                  <a:pt x="2867" y="7467"/>
                </a:lnTo>
                <a:lnTo>
                  <a:pt x="2867" y="9263"/>
                </a:lnTo>
                <a:cubicBezTo>
                  <a:pt x="2867" y="8475"/>
                  <a:pt x="2237" y="7845"/>
                  <a:pt x="1449" y="7845"/>
                </a:cubicBezTo>
                <a:lnTo>
                  <a:pt x="756" y="7845"/>
                </a:lnTo>
                <a:lnTo>
                  <a:pt x="756" y="8570"/>
                </a:lnTo>
                <a:cubicBezTo>
                  <a:pt x="756" y="9357"/>
                  <a:pt x="1386" y="9987"/>
                  <a:pt x="2174" y="9987"/>
                </a:cubicBezTo>
                <a:lnTo>
                  <a:pt x="2867" y="9987"/>
                </a:lnTo>
                <a:lnTo>
                  <a:pt x="2867" y="11437"/>
                </a:lnTo>
                <a:lnTo>
                  <a:pt x="347" y="11437"/>
                </a:lnTo>
                <a:cubicBezTo>
                  <a:pt x="158" y="11437"/>
                  <a:pt x="0" y="11594"/>
                  <a:pt x="0" y="11783"/>
                </a:cubicBezTo>
                <a:cubicBezTo>
                  <a:pt x="0" y="11972"/>
                  <a:pt x="158" y="12130"/>
                  <a:pt x="347" y="12130"/>
                </a:cubicBezTo>
                <a:lnTo>
                  <a:pt x="11814" y="12130"/>
                </a:lnTo>
                <a:cubicBezTo>
                  <a:pt x="12004" y="12130"/>
                  <a:pt x="12161" y="11972"/>
                  <a:pt x="12161" y="11783"/>
                </a:cubicBezTo>
                <a:cubicBezTo>
                  <a:pt x="12161" y="11594"/>
                  <a:pt x="12004" y="11437"/>
                  <a:pt x="11814" y="11437"/>
                </a:cubicBezTo>
                <a:lnTo>
                  <a:pt x="9294" y="11437"/>
                </a:lnTo>
                <a:lnTo>
                  <a:pt x="9294" y="9987"/>
                </a:lnTo>
                <a:lnTo>
                  <a:pt x="10019" y="9987"/>
                </a:lnTo>
                <a:cubicBezTo>
                  <a:pt x="10806" y="9987"/>
                  <a:pt x="11436" y="9357"/>
                  <a:pt x="11436" y="8570"/>
                </a:cubicBezTo>
                <a:lnTo>
                  <a:pt x="11436" y="7845"/>
                </a:lnTo>
                <a:lnTo>
                  <a:pt x="10712" y="7845"/>
                </a:lnTo>
                <a:cubicBezTo>
                  <a:pt x="9924" y="7845"/>
                  <a:pt x="9294" y="8475"/>
                  <a:pt x="9294" y="9263"/>
                </a:cubicBezTo>
                <a:lnTo>
                  <a:pt x="9294" y="7467"/>
                </a:lnTo>
                <a:lnTo>
                  <a:pt x="10019" y="7467"/>
                </a:lnTo>
                <a:cubicBezTo>
                  <a:pt x="10806" y="7467"/>
                  <a:pt x="11436" y="6805"/>
                  <a:pt x="11436" y="6018"/>
                </a:cubicBezTo>
                <a:lnTo>
                  <a:pt x="11436" y="5325"/>
                </a:lnTo>
                <a:lnTo>
                  <a:pt x="10712" y="5325"/>
                </a:lnTo>
                <a:cubicBezTo>
                  <a:pt x="9924" y="5325"/>
                  <a:pt x="9294" y="5955"/>
                  <a:pt x="9294" y="6742"/>
                </a:cubicBezTo>
                <a:lnTo>
                  <a:pt x="9294" y="4978"/>
                </a:lnTo>
                <a:lnTo>
                  <a:pt x="10019" y="4978"/>
                </a:lnTo>
                <a:cubicBezTo>
                  <a:pt x="10806" y="4978"/>
                  <a:pt x="11436" y="4348"/>
                  <a:pt x="11436" y="3560"/>
                </a:cubicBezTo>
                <a:lnTo>
                  <a:pt x="11436" y="2836"/>
                </a:lnTo>
                <a:lnTo>
                  <a:pt x="10712" y="2836"/>
                </a:lnTo>
                <a:cubicBezTo>
                  <a:pt x="9924" y="2836"/>
                  <a:pt x="9294" y="3466"/>
                  <a:pt x="9294" y="4254"/>
                </a:cubicBezTo>
                <a:lnTo>
                  <a:pt x="9294" y="3245"/>
                </a:lnTo>
                <a:cubicBezTo>
                  <a:pt x="9609" y="2930"/>
                  <a:pt x="10019" y="2363"/>
                  <a:pt x="10019" y="1765"/>
                </a:cubicBezTo>
                <a:cubicBezTo>
                  <a:pt x="10019" y="788"/>
                  <a:pt x="8948" y="0"/>
                  <a:pt x="8948" y="0"/>
                </a:cubicBezTo>
                <a:cubicBezTo>
                  <a:pt x="8948" y="0"/>
                  <a:pt x="7876" y="820"/>
                  <a:pt x="7876" y="1765"/>
                </a:cubicBezTo>
                <a:cubicBezTo>
                  <a:pt x="7876" y="2363"/>
                  <a:pt x="8286" y="2930"/>
                  <a:pt x="8601" y="3245"/>
                </a:cubicBezTo>
                <a:lnTo>
                  <a:pt x="8601" y="4254"/>
                </a:lnTo>
                <a:cubicBezTo>
                  <a:pt x="8601" y="3466"/>
                  <a:pt x="7971" y="2836"/>
                  <a:pt x="7183" y="2836"/>
                </a:cubicBezTo>
                <a:lnTo>
                  <a:pt x="6459" y="2836"/>
                </a:lnTo>
                <a:lnTo>
                  <a:pt x="6459" y="3560"/>
                </a:lnTo>
                <a:cubicBezTo>
                  <a:pt x="6459" y="4348"/>
                  <a:pt x="7089" y="4978"/>
                  <a:pt x="7876" y="4978"/>
                </a:cubicBezTo>
                <a:lnTo>
                  <a:pt x="8601" y="4978"/>
                </a:lnTo>
                <a:lnTo>
                  <a:pt x="8601" y="6742"/>
                </a:lnTo>
                <a:cubicBezTo>
                  <a:pt x="8601" y="5955"/>
                  <a:pt x="7971" y="5325"/>
                  <a:pt x="7183" y="5325"/>
                </a:cubicBezTo>
                <a:lnTo>
                  <a:pt x="6459" y="5325"/>
                </a:lnTo>
                <a:lnTo>
                  <a:pt x="6459" y="6018"/>
                </a:lnTo>
                <a:cubicBezTo>
                  <a:pt x="6459" y="6805"/>
                  <a:pt x="7089" y="7467"/>
                  <a:pt x="7876" y="7467"/>
                </a:cubicBezTo>
                <a:lnTo>
                  <a:pt x="8601" y="7467"/>
                </a:lnTo>
                <a:lnTo>
                  <a:pt x="8601" y="9263"/>
                </a:lnTo>
                <a:cubicBezTo>
                  <a:pt x="8601" y="8475"/>
                  <a:pt x="7971" y="7845"/>
                  <a:pt x="7183" y="7845"/>
                </a:cubicBezTo>
                <a:lnTo>
                  <a:pt x="6459" y="7845"/>
                </a:lnTo>
                <a:lnTo>
                  <a:pt x="6459" y="8570"/>
                </a:lnTo>
                <a:cubicBezTo>
                  <a:pt x="6459" y="9357"/>
                  <a:pt x="7089" y="9987"/>
                  <a:pt x="7876" y="9987"/>
                </a:cubicBezTo>
                <a:lnTo>
                  <a:pt x="8601" y="9987"/>
                </a:lnTo>
                <a:lnTo>
                  <a:pt x="8601" y="11437"/>
                </a:lnTo>
                <a:lnTo>
                  <a:pt x="3592" y="11437"/>
                </a:lnTo>
                <a:lnTo>
                  <a:pt x="3592" y="9987"/>
                </a:lnTo>
                <a:lnTo>
                  <a:pt x="4285" y="9987"/>
                </a:lnTo>
                <a:cubicBezTo>
                  <a:pt x="5072" y="9987"/>
                  <a:pt x="5703" y="9357"/>
                  <a:pt x="5703" y="8570"/>
                </a:cubicBezTo>
                <a:lnTo>
                  <a:pt x="5703" y="7845"/>
                </a:lnTo>
                <a:lnTo>
                  <a:pt x="5009" y="7845"/>
                </a:lnTo>
                <a:cubicBezTo>
                  <a:pt x="4222" y="7845"/>
                  <a:pt x="3592" y="8475"/>
                  <a:pt x="3592" y="9263"/>
                </a:cubicBezTo>
                <a:lnTo>
                  <a:pt x="3592" y="7467"/>
                </a:lnTo>
                <a:lnTo>
                  <a:pt x="4285" y="7467"/>
                </a:lnTo>
                <a:cubicBezTo>
                  <a:pt x="5072" y="7467"/>
                  <a:pt x="5703" y="6805"/>
                  <a:pt x="5703" y="6018"/>
                </a:cubicBezTo>
                <a:lnTo>
                  <a:pt x="5703" y="5325"/>
                </a:lnTo>
                <a:lnTo>
                  <a:pt x="5009" y="5325"/>
                </a:lnTo>
                <a:cubicBezTo>
                  <a:pt x="4222" y="5325"/>
                  <a:pt x="3592" y="5955"/>
                  <a:pt x="3592" y="6742"/>
                </a:cubicBezTo>
                <a:lnTo>
                  <a:pt x="3592" y="4978"/>
                </a:lnTo>
                <a:lnTo>
                  <a:pt x="4285" y="4978"/>
                </a:lnTo>
                <a:cubicBezTo>
                  <a:pt x="5072" y="4978"/>
                  <a:pt x="5703" y="4348"/>
                  <a:pt x="5703" y="3560"/>
                </a:cubicBezTo>
                <a:lnTo>
                  <a:pt x="5703" y="2836"/>
                </a:lnTo>
                <a:lnTo>
                  <a:pt x="5009" y="2836"/>
                </a:lnTo>
                <a:cubicBezTo>
                  <a:pt x="4222" y="2836"/>
                  <a:pt x="3592" y="3466"/>
                  <a:pt x="3592" y="4254"/>
                </a:cubicBezTo>
                <a:lnTo>
                  <a:pt x="3592" y="3245"/>
                </a:lnTo>
                <a:cubicBezTo>
                  <a:pt x="3907" y="2930"/>
                  <a:pt x="4285" y="2363"/>
                  <a:pt x="4285" y="1765"/>
                </a:cubicBezTo>
                <a:cubicBezTo>
                  <a:pt x="4285" y="788"/>
                  <a:pt x="3245" y="0"/>
                  <a:pt x="3245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tx1"/>
              </a:solidFill>
            </a:endParaRPr>
          </a:p>
        </p:txBody>
      </p:sp>
      <p:grpSp>
        <p:nvGrpSpPr>
          <p:cNvPr id="59" name="Google Shape;9022;p146">
            <a:extLst>
              <a:ext uri="{FF2B5EF4-FFF2-40B4-BE49-F238E27FC236}">
                <a16:creationId xmlns:a16="http://schemas.microsoft.com/office/drawing/2014/main" id="{D990622C-A22C-C7C2-FD31-D7B8B0B7D9AF}"/>
              </a:ext>
            </a:extLst>
          </p:cNvPr>
          <p:cNvGrpSpPr/>
          <p:nvPr/>
        </p:nvGrpSpPr>
        <p:grpSpPr>
          <a:xfrm>
            <a:off x="6505190" y="2643600"/>
            <a:ext cx="398119" cy="448143"/>
            <a:chOff x="-20930075" y="4066100"/>
            <a:chExt cx="269400" cy="30325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60" name="Google Shape;9023;p146">
              <a:extLst>
                <a:ext uri="{FF2B5EF4-FFF2-40B4-BE49-F238E27FC236}">
                  <a16:creationId xmlns:a16="http://schemas.microsoft.com/office/drawing/2014/main" id="{D74696F3-0888-2E16-47CE-8FD13F4BFD79}"/>
                </a:ext>
              </a:extLst>
            </p:cNvPr>
            <p:cNvSpPr/>
            <p:nvPr/>
          </p:nvSpPr>
          <p:spPr>
            <a:xfrm>
              <a:off x="-20865475" y="4066100"/>
              <a:ext cx="141775" cy="144150"/>
            </a:xfrm>
            <a:custGeom>
              <a:avLst/>
              <a:gdLst/>
              <a:ahLst/>
              <a:cxnLst/>
              <a:rect l="l" t="t" r="r" b="b"/>
              <a:pathLst>
                <a:path w="5671" h="5766" extrusionOk="0">
                  <a:moveTo>
                    <a:pt x="2836" y="2174"/>
                  </a:moveTo>
                  <a:cubicBezTo>
                    <a:pt x="3245" y="2174"/>
                    <a:pt x="3560" y="2489"/>
                    <a:pt x="3560" y="2867"/>
                  </a:cubicBezTo>
                  <a:cubicBezTo>
                    <a:pt x="3560" y="3277"/>
                    <a:pt x="3245" y="3592"/>
                    <a:pt x="2836" y="3592"/>
                  </a:cubicBezTo>
                  <a:cubicBezTo>
                    <a:pt x="2457" y="3592"/>
                    <a:pt x="2142" y="3277"/>
                    <a:pt x="2142" y="2867"/>
                  </a:cubicBezTo>
                  <a:cubicBezTo>
                    <a:pt x="2142" y="2489"/>
                    <a:pt x="2457" y="2174"/>
                    <a:pt x="2836" y="2174"/>
                  </a:cubicBezTo>
                  <a:close/>
                  <a:moveTo>
                    <a:pt x="2836" y="0"/>
                  </a:moveTo>
                  <a:cubicBezTo>
                    <a:pt x="2457" y="0"/>
                    <a:pt x="2111" y="252"/>
                    <a:pt x="1890" y="599"/>
                  </a:cubicBezTo>
                  <a:cubicBezTo>
                    <a:pt x="1791" y="563"/>
                    <a:pt x="1685" y="545"/>
                    <a:pt x="1577" y="545"/>
                  </a:cubicBezTo>
                  <a:cubicBezTo>
                    <a:pt x="1307" y="545"/>
                    <a:pt x="1031" y="657"/>
                    <a:pt x="851" y="882"/>
                  </a:cubicBezTo>
                  <a:cubicBezTo>
                    <a:pt x="630" y="1071"/>
                    <a:pt x="536" y="1355"/>
                    <a:pt x="536" y="1607"/>
                  </a:cubicBezTo>
                  <a:cubicBezTo>
                    <a:pt x="536" y="1733"/>
                    <a:pt x="536" y="1827"/>
                    <a:pt x="567" y="1922"/>
                  </a:cubicBezTo>
                  <a:cubicBezTo>
                    <a:pt x="189" y="2142"/>
                    <a:pt x="0" y="2489"/>
                    <a:pt x="0" y="2867"/>
                  </a:cubicBezTo>
                  <a:cubicBezTo>
                    <a:pt x="0" y="3308"/>
                    <a:pt x="189" y="3655"/>
                    <a:pt x="567" y="3812"/>
                  </a:cubicBezTo>
                  <a:cubicBezTo>
                    <a:pt x="536" y="3938"/>
                    <a:pt x="536" y="4033"/>
                    <a:pt x="536" y="4127"/>
                  </a:cubicBezTo>
                  <a:cubicBezTo>
                    <a:pt x="536" y="4411"/>
                    <a:pt x="630" y="4694"/>
                    <a:pt x="851" y="4883"/>
                  </a:cubicBezTo>
                  <a:cubicBezTo>
                    <a:pt x="1036" y="5092"/>
                    <a:pt x="1325" y="5216"/>
                    <a:pt x="1603" y="5216"/>
                  </a:cubicBezTo>
                  <a:cubicBezTo>
                    <a:pt x="1702" y="5216"/>
                    <a:pt x="1799" y="5200"/>
                    <a:pt x="1890" y="5167"/>
                  </a:cubicBezTo>
                  <a:cubicBezTo>
                    <a:pt x="2111" y="5513"/>
                    <a:pt x="2457" y="5766"/>
                    <a:pt x="2836" y="5766"/>
                  </a:cubicBezTo>
                  <a:cubicBezTo>
                    <a:pt x="3245" y="5766"/>
                    <a:pt x="3592" y="5513"/>
                    <a:pt x="3781" y="5167"/>
                  </a:cubicBezTo>
                  <a:cubicBezTo>
                    <a:pt x="3889" y="5203"/>
                    <a:pt x="3999" y="5221"/>
                    <a:pt x="4109" y="5221"/>
                  </a:cubicBezTo>
                  <a:cubicBezTo>
                    <a:pt x="4382" y="5221"/>
                    <a:pt x="4649" y="5108"/>
                    <a:pt x="4852" y="4883"/>
                  </a:cubicBezTo>
                  <a:cubicBezTo>
                    <a:pt x="5041" y="4694"/>
                    <a:pt x="5167" y="4411"/>
                    <a:pt x="5167" y="4127"/>
                  </a:cubicBezTo>
                  <a:cubicBezTo>
                    <a:pt x="5167" y="4033"/>
                    <a:pt x="5167" y="3938"/>
                    <a:pt x="5135" y="3812"/>
                  </a:cubicBezTo>
                  <a:cubicBezTo>
                    <a:pt x="5482" y="3623"/>
                    <a:pt x="5671" y="3277"/>
                    <a:pt x="5671" y="2867"/>
                  </a:cubicBezTo>
                  <a:cubicBezTo>
                    <a:pt x="5671" y="2489"/>
                    <a:pt x="5450" y="2142"/>
                    <a:pt x="5135" y="1922"/>
                  </a:cubicBezTo>
                  <a:cubicBezTo>
                    <a:pt x="5167" y="1827"/>
                    <a:pt x="5167" y="1733"/>
                    <a:pt x="5167" y="1607"/>
                  </a:cubicBezTo>
                  <a:cubicBezTo>
                    <a:pt x="5167" y="1355"/>
                    <a:pt x="5041" y="1071"/>
                    <a:pt x="4852" y="882"/>
                  </a:cubicBezTo>
                  <a:cubicBezTo>
                    <a:pt x="4643" y="673"/>
                    <a:pt x="4348" y="550"/>
                    <a:pt x="4069" y="550"/>
                  </a:cubicBezTo>
                  <a:cubicBezTo>
                    <a:pt x="3969" y="550"/>
                    <a:pt x="3872" y="566"/>
                    <a:pt x="3781" y="599"/>
                  </a:cubicBezTo>
                  <a:cubicBezTo>
                    <a:pt x="3592" y="252"/>
                    <a:pt x="3245" y="0"/>
                    <a:pt x="283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" name="Google Shape;9024;p146">
              <a:extLst>
                <a:ext uri="{FF2B5EF4-FFF2-40B4-BE49-F238E27FC236}">
                  <a16:creationId xmlns:a16="http://schemas.microsoft.com/office/drawing/2014/main" id="{BE7A2B7B-7E95-025D-ADE4-58D991FABDA3}"/>
                </a:ext>
              </a:extLst>
            </p:cNvPr>
            <p:cNvSpPr/>
            <p:nvPr/>
          </p:nvSpPr>
          <p:spPr>
            <a:xfrm>
              <a:off x="-20930075" y="4191325"/>
              <a:ext cx="269400" cy="178025"/>
            </a:xfrm>
            <a:custGeom>
              <a:avLst/>
              <a:gdLst/>
              <a:ahLst/>
              <a:cxnLst/>
              <a:rect l="l" t="t" r="r" b="b"/>
              <a:pathLst>
                <a:path w="10776" h="7121" extrusionOk="0">
                  <a:moveTo>
                    <a:pt x="379" y="0"/>
                  </a:moveTo>
                  <a:cubicBezTo>
                    <a:pt x="253" y="0"/>
                    <a:pt x="190" y="32"/>
                    <a:pt x="95" y="95"/>
                  </a:cubicBezTo>
                  <a:cubicBezTo>
                    <a:pt x="32" y="189"/>
                    <a:pt x="1" y="252"/>
                    <a:pt x="1" y="378"/>
                  </a:cubicBezTo>
                  <a:cubicBezTo>
                    <a:pt x="1" y="473"/>
                    <a:pt x="190" y="2710"/>
                    <a:pt x="1103" y="3655"/>
                  </a:cubicBezTo>
                  <a:cubicBezTo>
                    <a:pt x="1513" y="4096"/>
                    <a:pt x="1922" y="4285"/>
                    <a:pt x="2364" y="4285"/>
                  </a:cubicBezTo>
                  <a:cubicBezTo>
                    <a:pt x="2679" y="4285"/>
                    <a:pt x="3025" y="4159"/>
                    <a:pt x="3340" y="3907"/>
                  </a:cubicBezTo>
                  <a:lnTo>
                    <a:pt x="4947" y="5514"/>
                  </a:lnTo>
                  <a:lnTo>
                    <a:pt x="4947" y="6427"/>
                  </a:lnTo>
                  <a:lnTo>
                    <a:pt x="2458" y="6427"/>
                  </a:lnTo>
                  <a:cubicBezTo>
                    <a:pt x="2269" y="6427"/>
                    <a:pt x="2112" y="6585"/>
                    <a:pt x="2112" y="6774"/>
                  </a:cubicBezTo>
                  <a:cubicBezTo>
                    <a:pt x="2112" y="6963"/>
                    <a:pt x="2269" y="7120"/>
                    <a:pt x="2458" y="7120"/>
                  </a:cubicBezTo>
                  <a:lnTo>
                    <a:pt x="8192" y="7120"/>
                  </a:lnTo>
                  <a:cubicBezTo>
                    <a:pt x="8381" y="7120"/>
                    <a:pt x="8539" y="6963"/>
                    <a:pt x="8539" y="6774"/>
                  </a:cubicBezTo>
                  <a:cubicBezTo>
                    <a:pt x="8539" y="6585"/>
                    <a:pt x="8381" y="6427"/>
                    <a:pt x="8192" y="6427"/>
                  </a:cubicBezTo>
                  <a:lnTo>
                    <a:pt x="5672" y="6427"/>
                  </a:lnTo>
                  <a:lnTo>
                    <a:pt x="5672" y="6207"/>
                  </a:lnTo>
                  <a:lnTo>
                    <a:pt x="7278" y="4600"/>
                  </a:lnTo>
                  <a:cubicBezTo>
                    <a:pt x="7751" y="4884"/>
                    <a:pt x="8066" y="5010"/>
                    <a:pt x="8413" y="5010"/>
                  </a:cubicBezTo>
                  <a:cubicBezTo>
                    <a:pt x="8854" y="5010"/>
                    <a:pt x="9232" y="4789"/>
                    <a:pt x="9673" y="4380"/>
                  </a:cubicBezTo>
                  <a:cubicBezTo>
                    <a:pt x="10586" y="3466"/>
                    <a:pt x="10775" y="1229"/>
                    <a:pt x="10775" y="1103"/>
                  </a:cubicBezTo>
                  <a:cubicBezTo>
                    <a:pt x="10775" y="977"/>
                    <a:pt x="10744" y="883"/>
                    <a:pt x="10649" y="820"/>
                  </a:cubicBezTo>
                  <a:cubicBezTo>
                    <a:pt x="10586" y="757"/>
                    <a:pt x="10492" y="693"/>
                    <a:pt x="10397" y="693"/>
                  </a:cubicBezTo>
                  <a:cubicBezTo>
                    <a:pt x="10303" y="693"/>
                    <a:pt x="8066" y="883"/>
                    <a:pt x="7121" y="1796"/>
                  </a:cubicBezTo>
                  <a:cubicBezTo>
                    <a:pt x="6365" y="2552"/>
                    <a:pt x="6302" y="3308"/>
                    <a:pt x="6869" y="4033"/>
                  </a:cubicBezTo>
                  <a:lnTo>
                    <a:pt x="5735" y="5167"/>
                  </a:lnTo>
                  <a:lnTo>
                    <a:pt x="5735" y="1324"/>
                  </a:lnTo>
                  <a:cubicBezTo>
                    <a:pt x="5609" y="1387"/>
                    <a:pt x="5514" y="1387"/>
                    <a:pt x="5388" y="1387"/>
                  </a:cubicBezTo>
                  <a:cubicBezTo>
                    <a:pt x="5262" y="1387"/>
                    <a:pt x="5136" y="1387"/>
                    <a:pt x="5041" y="1324"/>
                  </a:cubicBezTo>
                  <a:lnTo>
                    <a:pt x="5041" y="4443"/>
                  </a:lnTo>
                  <a:lnTo>
                    <a:pt x="3876" y="3340"/>
                  </a:lnTo>
                  <a:cubicBezTo>
                    <a:pt x="4474" y="2584"/>
                    <a:pt x="4411" y="1828"/>
                    <a:pt x="3655" y="1103"/>
                  </a:cubicBezTo>
                  <a:cubicBezTo>
                    <a:pt x="2742" y="189"/>
                    <a:pt x="505" y="0"/>
                    <a:pt x="37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62" name="Google Shape;9137;p146">
            <a:extLst>
              <a:ext uri="{FF2B5EF4-FFF2-40B4-BE49-F238E27FC236}">
                <a16:creationId xmlns:a16="http://schemas.microsoft.com/office/drawing/2014/main" id="{EFA09551-84D9-F37D-83C4-B4F4E4FAF52D}"/>
              </a:ext>
            </a:extLst>
          </p:cNvPr>
          <p:cNvGrpSpPr/>
          <p:nvPr/>
        </p:nvGrpSpPr>
        <p:grpSpPr>
          <a:xfrm>
            <a:off x="6444038" y="2041450"/>
            <a:ext cx="457453" cy="449325"/>
            <a:chOff x="-20199150" y="3317850"/>
            <a:chExt cx="309550" cy="304050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63" name="Google Shape;9138;p146">
              <a:extLst>
                <a:ext uri="{FF2B5EF4-FFF2-40B4-BE49-F238E27FC236}">
                  <a16:creationId xmlns:a16="http://schemas.microsoft.com/office/drawing/2014/main" id="{D9C6CFD2-FE7E-3534-AF27-5F8DC69B48C4}"/>
                </a:ext>
              </a:extLst>
            </p:cNvPr>
            <p:cNvSpPr/>
            <p:nvPr/>
          </p:nvSpPr>
          <p:spPr>
            <a:xfrm>
              <a:off x="-20161350" y="3507675"/>
              <a:ext cx="68550" cy="43325"/>
            </a:xfrm>
            <a:custGeom>
              <a:avLst/>
              <a:gdLst/>
              <a:ahLst/>
              <a:cxnLst/>
              <a:rect l="l" t="t" r="r" b="b"/>
              <a:pathLst>
                <a:path w="2742" h="1733" extrusionOk="0">
                  <a:moveTo>
                    <a:pt x="2647" y="0"/>
                  </a:moveTo>
                  <a:cubicBezTo>
                    <a:pt x="2174" y="158"/>
                    <a:pt x="1639" y="284"/>
                    <a:pt x="1072" y="284"/>
                  </a:cubicBezTo>
                  <a:cubicBezTo>
                    <a:pt x="788" y="284"/>
                    <a:pt x="505" y="252"/>
                    <a:pt x="221" y="221"/>
                  </a:cubicBezTo>
                  <a:cubicBezTo>
                    <a:pt x="64" y="567"/>
                    <a:pt x="1" y="945"/>
                    <a:pt x="1" y="1386"/>
                  </a:cubicBezTo>
                  <a:cubicBezTo>
                    <a:pt x="1" y="1575"/>
                    <a:pt x="158" y="1733"/>
                    <a:pt x="347" y="1733"/>
                  </a:cubicBezTo>
                  <a:cubicBezTo>
                    <a:pt x="1292" y="1733"/>
                    <a:pt x="2174" y="1292"/>
                    <a:pt x="2741" y="630"/>
                  </a:cubicBezTo>
                  <a:cubicBezTo>
                    <a:pt x="2710" y="441"/>
                    <a:pt x="2678" y="189"/>
                    <a:pt x="26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8" name="Google Shape;9139;p146">
              <a:extLst>
                <a:ext uri="{FF2B5EF4-FFF2-40B4-BE49-F238E27FC236}">
                  <a16:creationId xmlns:a16="http://schemas.microsoft.com/office/drawing/2014/main" id="{958D138E-F6F9-D437-5FE4-5123FA161792}"/>
                </a:ext>
              </a:extLst>
            </p:cNvPr>
            <p:cNvSpPr/>
            <p:nvPr/>
          </p:nvSpPr>
          <p:spPr>
            <a:xfrm>
              <a:off x="-20161350" y="3389525"/>
              <a:ext cx="68550" cy="43350"/>
            </a:xfrm>
            <a:custGeom>
              <a:avLst/>
              <a:gdLst/>
              <a:ahLst/>
              <a:cxnLst/>
              <a:rect l="l" t="t" r="r" b="b"/>
              <a:pathLst>
                <a:path w="2742" h="1734" extrusionOk="0">
                  <a:moveTo>
                    <a:pt x="347" y="1"/>
                  </a:moveTo>
                  <a:cubicBezTo>
                    <a:pt x="158" y="1"/>
                    <a:pt x="1" y="158"/>
                    <a:pt x="1" y="379"/>
                  </a:cubicBezTo>
                  <a:cubicBezTo>
                    <a:pt x="1" y="757"/>
                    <a:pt x="64" y="1166"/>
                    <a:pt x="221" y="1544"/>
                  </a:cubicBezTo>
                  <a:cubicBezTo>
                    <a:pt x="505" y="1513"/>
                    <a:pt x="788" y="1481"/>
                    <a:pt x="1072" y="1481"/>
                  </a:cubicBezTo>
                  <a:cubicBezTo>
                    <a:pt x="1639" y="1481"/>
                    <a:pt x="2174" y="1576"/>
                    <a:pt x="2647" y="1733"/>
                  </a:cubicBezTo>
                  <a:cubicBezTo>
                    <a:pt x="2678" y="1544"/>
                    <a:pt x="2741" y="1292"/>
                    <a:pt x="2741" y="1103"/>
                  </a:cubicBezTo>
                  <a:cubicBezTo>
                    <a:pt x="2174" y="442"/>
                    <a:pt x="1292" y="1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9" name="Google Shape;9140;p146">
              <a:extLst>
                <a:ext uri="{FF2B5EF4-FFF2-40B4-BE49-F238E27FC236}">
                  <a16:creationId xmlns:a16="http://schemas.microsoft.com/office/drawing/2014/main" id="{BE3B6917-9B3C-EA0E-AA5C-D55780709D9E}"/>
                </a:ext>
              </a:extLst>
            </p:cNvPr>
            <p:cNvSpPr/>
            <p:nvPr/>
          </p:nvSpPr>
          <p:spPr>
            <a:xfrm>
              <a:off x="-20199150" y="3443075"/>
              <a:ext cx="97675" cy="53225"/>
            </a:xfrm>
            <a:custGeom>
              <a:avLst/>
              <a:gdLst/>
              <a:ahLst/>
              <a:cxnLst/>
              <a:rect l="l" t="t" r="r" b="b"/>
              <a:pathLst>
                <a:path w="3907" h="2129" extrusionOk="0">
                  <a:moveTo>
                    <a:pt x="2584" y="1"/>
                  </a:moveTo>
                  <a:cubicBezTo>
                    <a:pt x="1260" y="1"/>
                    <a:pt x="252" y="725"/>
                    <a:pt x="221" y="788"/>
                  </a:cubicBezTo>
                  <a:cubicBezTo>
                    <a:pt x="0" y="914"/>
                    <a:pt x="0" y="1230"/>
                    <a:pt x="221" y="1324"/>
                  </a:cubicBezTo>
                  <a:cubicBezTo>
                    <a:pt x="252" y="1387"/>
                    <a:pt x="1260" y="2112"/>
                    <a:pt x="2584" y="2112"/>
                  </a:cubicBezTo>
                  <a:cubicBezTo>
                    <a:pt x="2669" y="2123"/>
                    <a:pt x="2754" y="2128"/>
                    <a:pt x="2839" y="2128"/>
                  </a:cubicBezTo>
                  <a:cubicBezTo>
                    <a:pt x="3224" y="2128"/>
                    <a:pt x="3597" y="2020"/>
                    <a:pt x="3907" y="1891"/>
                  </a:cubicBezTo>
                  <a:cubicBezTo>
                    <a:pt x="3844" y="1639"/>
                    <a:pt x="3718" y="1450"/>
                    <a:pt x="3592" y="1230"/>
                  </a:cubicBezTo>
                  <a:cubicBezTo>
                    <a:pt x="3560" y="1103"/>
                    <a:pt x="3560" y="1009"/>
                    <a:pt x="3592" y="914"/>
                  </a:cubicBezTo>
                  <a:cubicBezTo>
                    <a:pt x="3718" y="662"/>
                    <a:pt x="3844" y="473"/>
                    <a:pt x="3907" y="221"/>
                  </a:cubicBezTo>
                  <a:cubicBezTo>
                    <a:pt x="3529" y="127"/>
                    <a:pt x="3088" y="1"/>
                    <a:pt x="25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0" name="Google Shape;9141;p146">
              <a:extLst>
                <a:ext uri="{FF2B5EF4-FFF2-40B4-BE49-F238E27FC236}">
                  <a16:creationId xmlns:a16="http://schemas.microsoft.com/office/drawing/2014/main" id="{E93CB812-2145-6D60-4304-322D63B9785D}"/>
                </a:ext>
              </a:extLst>
            </p:cNvPr>
            <p:cNvSpPr/>
            <p:nvPr/>
          </p:nvSpPr>
          <p:spPr>
            <a:xfrm>
              <a:off x="-20091250" y="3479325"/>
              <a:ext cx="92175" cy="142575"/>
            </a:xfrm>
            <a:custGeom>
              <a:avLst/>
              <a:gdLst/>
              <a:ahLst/>
              <a:cxnLst/>
              <a:rect l="l" t="t" r="r" b="b"/>
              <a:pathLst>
                <a:path w="3687" h="5703" extrusionOk="0">
                  <a:moveTo>
                    <a:pt x="190" y="0"/>
                  </a:moveTo>
                  <a:cubicBezTo>
                    <a:pt x="946" y="1638"/>
                    <a:pt x="883" y="3592"/>
                    <a:pt x="95" y="5198"/>
                  </a:cubicBezTo>
                  <a:cubicBezTo>
                    <a:pt x="0" y="5450"/>
                    <a:pt x="158" y="5702"/>
                    <a:pt x="442" y="5702"/>
                  </a:cubicBezTo>
                  <a:lnTo>
                    <a:pt x="3245" y="5702"/>
                  </a:lnTo>
                  <a:cubicBezTo>
                    <a:pt x="3529" y="5702"/>
                    <a:pt x="3687" y="5450"/>
                    <a:pt x="3592" y="5198"/>
                  </a:cubicBezTo>
                  <a:cubicBezTo>
                    <a:pt x="2741" y="3592"/>
                    <a:pt x="2741" y="1607"/>
                    <a:pt x="349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1" name="Google Shape;9142;p146">
              <a:extLst>
                <a:ext uri="{FF2B5EF4-FFF2-40B4-BE49-F238E27FC236}">
                  <a16:creationId xmlns:a16="http://schemas.microsoft.com/office/drawing/2014/main" id="{D8056797-0A8B-3F7A-9F33-46E541E3FC3A}"/>
                </a:ext>
              </a:extLst>
            </p:cNvPr>
            <p:cNvSpPr/>
            <p:nvPr/>
          </p:nvSpPr>
          <p:spPr>
            <a:xfrm>
              <a:off x="-20090475" y="3317850"/>
              <a:ext cx="91400" cy="142575"/>
            </a:xfrm>
            <a:custGeom>
              <a:avLst/>
              <a:gdLst/>
              <a:ahLst/>
              <a:cxnLst/>
              <a:rect l="l" t="t" r="r" b="b"/>
              <a:pathLst>
                <a:path w="3656" h="5703" extrusionOk="0">
                  <a:moveTo>
                    <a:pt x="411" y="1"/>
                  </a:moveTo>
                  <a:cubicBezTo>
                    <a:pt x="285" y="1"/>
                    <a:pt x="159" y="95"/>
                    <a:pt x="64" y="158"/>
                  </a:cubicBezTo>
                  <a:cubicBezTo>
                    <a:pt x="1" y="284"/>
                    <a:pt x="1" y="410"/>
                    <a:pt x="64" y="505"/>
                  </a:cubicBezTo>
                  <a:cubicBezTo>
                    <a:pt x="915" y="2143"/>
                    <a:pt x="915" y="4096"/>
                    <a:pt x="159" y="5703"/>
                  </a:cubicBezTo>
                  <a:lnTo>
                    <a:pt x="3467" y="5703"/>
                  </a:lnTo>
                  <a:cubicBezTo>
                    <a:pt x="2710" y="4065"/>
                    <a:pt x="2710" y="2143"/>
                    <a:pt x="3530" y="505"/>
                  </a:cubicBezTo>
                  <a:cubicBezTo>
                    <a:pt x="3656" y="284"/>
                    <a:pt x="3467" y="1"/>
                    <a:pt x="321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2" name="Google Shape;9143;p146">
              <a:extLst>
                <a:ext uri="{FF2B5EF4-FFF2-40B4-BE49-F238E27FC236}">
                  <a16:creationId xmlns:a16="http://schemas.microsoft.com/office/drawing/2014/main" id="{9979E54A-55E1-AC7B-BB93-419756B78C3A}"/>
                </a:ext>
              </a:extLst>
            </p:cNvPr>
            <p:cNvSpPr/>
            <p:nvPr/>
          </p:nvSpPr>
          <p:spPr>
            <a:xfrm>
              <a:off x="-19984925" y="3389525"/>
              <a:ext cx="94550" cy="107925"/>
            </a:xfrm>
            <a:custGeom>
              <a:avLst/>
              <a:gdLst/>
              <a:ahLst/>
              <a:cxnLst/>
              <a:rect l="l" t="t" r="r" b="b"/>
              <a:pathLst>
                <a:path w="3782" h="4317" extrusionOk="0">
                  <a:moveTo>
                    <a:pt x="473" y="1"/>
                  </a:moveTo>
                  <a:cubicBezTo>
                    <a:pt x="190" y="1"/>
                    <a:pt x="1" y="316"/>
                    <a:pt x="158" y="568"/>
                  </a:cubicBezTo>
                  <a:cubicBezTo>
                    <a:pt x="946" y="1702"/>
                    <a:pt x="946" y="3119"/>
                    <a:pt x="253" y="4317"/>
                  </a:cubicBezTo>
                  <a:lnTo>
                    <a:pt x="3529" y="4317"/>
                  </a:lnTo>
                  <a:cubicBezTo>
                    <a:pt x="2868" y="3151"/>
                    <a:pt x="2868" y="1702"/>
                    <a:pt x="3624" y="568"/>
                  </a:cubicBezTo>
                  <a:cubicBezTo>
                    <a:pt x="3781" y="316"/>
                    <a:pt x="3624" y="1"/>
                    <a:pt x="33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3" name="Google Shape;9144;p146">
              <a:extLst>
                <a:ext uri="{FF2B5EF4-FFF2-40B4-BE49-F238E27FC236}">
                  <a16:creationId xmlns:a16="http://schemas.microsoft.com/office/drawing/2014/main" id="{18DB32BC-FA33-FA46-6569-FC601739DF43}"/>
                </a:ext>
              </a:extLst>
            </p:cNvPr>
            <p:cNvSpPr/>
            <p:nvPr/>
          </p:nvSpPr>
          <p:spPr>
            <a:xfrm>
              <a:off x="-19984125" y="3514750"/>
              <a:ext cx="94525" cy="107150"/>
            </a:xfrm>
            <a:custGeom>
              <a:avLst/>
              <a:gdLst/>
              <a:ahLst/>
              <a:cxnLst/>
              <a:rect l="l" t="t" r="r" b="b"/>
              <a:pathLst>
                <a:path w="3781" h="4286" extrusionOk="0">
                  <a:moveTo>
                    <a:pt x="221" y="1"/>
                  </a:moveTo>
                  <a:cubicBezTo>
                    <a:pt x="914" y="1135"/>
                    <a:pt x="914" y="2647"/>
                    <a:pt x="158" y="3750"/>
                  </a:cubicBezTo>
                  <a:cubicBezTo>
                    <a:pt x="0" y="3970"/>
                    <a:pt x="158" y="4285"/>
                    <a:pt x="473" y="4285"/>
                  </a:cubicBezTo>
                  <a:lnTo>
                    <a:pt x="3308" y="4285"/>
                  </a:lnTo>
                  <a:cubicBezTo>
                    <a:pt x="3592" y="4285"/>
                    <a:pt x="3781" y="3970"/>
                    <a:pt x="3623" y="3750"/>
                  </a:cubicBezTo>
                  <a:cubicBezTo>
                    <a:pt x="2836" y="2584"/>
                    <a:pt x="2804" y="1135"/>
                    <a:pt x="349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454" name="Google Shape;495;p61">
            <a:extLst>
              <a:ext uri="{FF2B5EF4-FFF2-40B4-BE49-F238E27FC236}">
                <a16:creationId xmlns:a16="http://schemas.microsoft.com/office/drawing/2014/main" id="{46B859F8-6BF3-0FEF-2968-62E8BB19A4D8}"/>
              </a:ext>
            </a:extLst>
          </p:cNvPr>
          <p:cNvSpPr txBox="1">
            <a:spLocks/>
          </p:cNvSpPr>
          <p:nvPr/>
        </p:nvSpPr>
        <p:spPr>
          <a:xfrm>
            <a:off x="6855243" y="2108156"/>
            <a:ext cx="1602602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ca-E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Jardí Interior</a:t>
            </a:r>
            <a:endParaRPr lang="ca-ES" dirty="0"/>
          </a:p>
        </p:txBody>
      </p:sp>
      <p:sp>
        <p:nvSpPr>
          <p:cNvPr id="455" name="Google Shape;495;p61">
            <a:extLst>
              <a:ext uri="{FF2B5EF4-FFF2-40B4-BE49-F238E27FC236}">
                <a16:creationId xmlns:a16="http://schemas.microsoft.com/office/drawing/2014/main" id="{D824EE0A-6AF1-F63F-91AF-8AF4C794650E}"/>
              </a:ext>
            </a:extLst>
          </p:cNvPr>
          <p:cNvSpPr txBox="1">
            <a:spLocks/>
          </p:cNvSpPr>
          <p:nvPr/>
        </p:nvSpPr>
        <p:spPr>
          <a:xfrm>
            <a:off x="6900346" y="2717496"/>
            <a:ext cx="1602602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ca-E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Jardí Exterior</a:t>
            </a:r>
            <a:endParaRPr lang="ca-ES" dirty="0"/>
          </a:p>
        </p:txBody>
      </p:sp>
      <p:sp>
        <p:nvSpPr>
          <p:cNvPr id="456" name="Google Shape;495;p61">
            <a:extLst>
              <a:ext uri="{FF2B5EF4-FFF2-40B4-BE49-F238E27FC236}">
                <a16:creationId xmlns:a16="http://schemas.microsoft.com/office/drawing/2014/main" id="{F2FF5DCD-BF4E-8107-053E-0F8875D3AF99}"/>
              </a:ext>
            </a:extLst>
          </p:cNvPr>
          <p:cNvSpPr txBox="1">
            <a:spLocks/>
          </p:cNvSpPr>
          <p:nvPr/>
        </p:nvSpPr>
        <p:spPr>
          <a:xfrm>
            <a:off x="6583312" y="3436206"/>
            <a:ext cx="1602602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ca-E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Hort</a:t>
            </a:r>
            <a:endParaRPr lang="ca-ES" dirty="0"/>
          </a:p>
        </p:txBody>
      </p:sp>
      <p:sp>
        <p:nvSpPr>
          <p:cNvPr id="457" name="Google Shape;495;p61">
            <a:extLst>
              <a:ext uri="{FF2B5EF4-FFF2-40B4-BE49-F238E27FC236}">
                <a16:creationId xmlns:a16="http://schemas.microsoft.com/office/drawing/2014/main" id="{0FF53255-3A17-1E7D-4365-361C80AB299F}"/>
              </a:ext>
            </a:extLst>
          </p:cNvPr>
          <p:cNvSpPr txBox="1">
            <a:spLocks/>
          </p:cNvSpPr>
          <p:nvPr/>
        </p:nvSpPr>
        <p:spPr>
          <a:xfrm>
            <a:off x="7019446" y="4041921"/>
            <a:ext cx="1602602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ca-ES" dirty="0">
                <a:latin typeface="Open Sans" panose="020B0606030504020204" pitchFamily="34" charset="0"/>
              </a:rPr>
              <a:t>Arbres Fruiters</a:t>
            </a:r>
            <a:endParaRPr lang="ca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9" name="TextBox 458">
                <a:extLst>
                  <a:ext uri="{FF2B5EF4-FFF2-40B4-BE49-F238E27FC236}">
                    <a16:creationId xmlns:a16="http://schemas.microsoft.com/office/drawing/2014/main" id="{05D6D645-FC42-F3C7-C383-7151006F82E9}"/>
                  </a:ext>
                </a:extLst>
              </p:cNvPr>
              <p:cNvSpPr txBox="1"/>
              <p:nvPr/>
            </p:nvSpPr>
            <p:spPr>
              <a:xfrm>
                <a:off x="2721881" y="2799619"/>
                <a:ext cx="76691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180 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𝑚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3</m:t>
                          </m:r>
                        </m:sup>
                      </m:sSup>
                      <m:r>
                        <a:rPr lang="en-US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Open Sans" panose="020B0606030504020204" pitchFamily="34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59" name="TextBox 458">
                <a:extLst>
                  <a:ext uri="{FF2B5EF4-FFF2-40B4-BE49-F238E27FC236}">
                    <a16:creationId xmlns:a16="http://schemas.microsoft.com/office/drawing/2014/main" id="{05D6D645-FC42-F3C7-C383-7151006F82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1881" y="2799619"/>
                <a:ext cx="766917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0" name="TextBox 459">
                <a:extLst>
                  <a:ext uri="{FF2B5EF4-FFF2-40B4-BE49-F238E27FC236}">
                    <a16:creationId xmlns:a16="http://schemas.microsoft.com/office/drawing/2014/main" id="{7B0BB892-4434-71A4-C181-ED84EF2921DB}"/>
                  </a:ext>
                </a:extLst>
              </p:cNvPr>
              <p:cNvSpPr txBox="1"/>
              <p:nvPr/>
            </p:nvSpPr>
            <p:spPr>
              <a:xfrm rot="16200000">
                <a:off x="223101" y="2341469"/>
                <a:ext cx="1135344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12.315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ca-ES" dirty="0"/>
              </a:p>
            </p:txBody>
          </p:sp>
        </mc:Choice>
        <mc:Fallback xmlns="">
          <p:sp>
            <p:nvSpPr>
              <p:cNvPr id="460" name="TextBox 459">
                <a:extLst>
                  <a:ext uri="{FF2B5EF4-FFF2-40B4-BE49-F238E27FC236}">
                    <a16:creationId xmlns:a16="http://schemas.microsoft.com/office/drawing/2014/main" id="{7B0BB892-4434-71A4-C181-ED84EF2921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223101" y="2341469"/>
                <a:ext cx="1135344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61" name="Google Shape;9208;p146">
            <a:extLst>
              <a:ext uri="{FF2B5EF4-FFF2-40B4-BE49-F238E27FC236}">
                <a16:creationId xmlns:a16="http://schemas.microsoft.com/office/drawing/2014/main" id="{D2311178-3640-73D4-462E-1CAEFD476860}"/>
              </a:ext>
            </a:extLst>
          </p:cNvPr>
          <p:cNvGrpSpPr/>
          <p:nvPr/>
        </p:nvGrpSpPr>
        <p:grpSpPr>
          <a:xfrm>
            <a:off x="944662" y="4294026"/>
            <a:ext cx="486566" cy="414708"/>
            <a:chOff x="-19835275" y="3330250"/>
            <a:chExt cx="329250" cy="280625"/>
          </a:xfrm>
          <a:solidFill>
            <a:schemeClr val="tx1"/>
          </a:solidFill>
        </p:grpSpPr>
        <p:sp>
          <p:nvSpPr>
            <p:cNvPr id="462" name="Google Shape;9209;p146">
              <a:extLst>
                <a:ext uri="{FF2B5EF4-FFF2-40B4-BE49-F238E27FC236}">
                  <a16:creationId xmlns:a16="http://schemas.microsoft.com/office/drawing/2014/main" id="{9C6EBF65-5214-532F-81E3-EFAFEA2F2860}"/>
                </a:ext>
              </a:extLst>
            </p:cNvPr>
            <p:cNvSpPr/>
            <p:nvPr/>
          </p:nvSpPr>
          <p:spPr>
            <a:xfrm>
              <a:off x="-19768325" y="3361750"/>
              <a:ext cx="197725" cy="249125"/>
            </a:xfrm>
            <a:custGeom>
              <a:avLst/>
              <a:gdLst/>
              <a:ahLst/>
              <a:cxnLst/>
              <a:rect l="l" t="t" r="r" b="b"/>
              <a:pathLst>
                <a:path w="7909" h="9965" extrusionOk="0">
                  <a:moveTo>
                    <a:pt x="3927" y="1"/>
                  </a:moveTo>
                  <a:cubicBezTo>
                    <a:pt x="3797" y="1"/>
                    <a:pt x="3671" y="56"/>
                    <a:pt x="3624" y="166"/>
                  </a:cubicBezTo>
                  <a:lnTo>
                    <a:pt x="1103" y="5302"/>
                  </a:lnTo>
                  <a:cubicBezTo>
                    <a:pt x="1" y="7412"/>
                    <a:pt x="1607" y="9964"/>
                    <a:pt x="3970" y="9964"/>
                  </a:cubicBezTo>
                  <a:cubicBezTo>
                    <a:pt x="6333" y="9964"/>
                    <a:pt x="7908" y="7412"/>
                    <a:pt x="6837" y="5302"/>
                  </a:cubicBezTo>
                  <a:lnTo>
                    <a:pt x="4254" y="166"/>
                  </a:lnTo>
                  <a:cubicBezTo>
                    <a:pt x="4191" y="56"/>
                    <a:pt x="4057" y="1"/>
                    <a:pt x="39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3" name="Google Shape;9210;p146">
              <a:extLst>
                <a:ext uri="{FF2B5EF4-FFF2-40B4-BE49-F238E27FC236}">
                  <a16:creationId xmlns:a16="http://schemas.microsoft.com/office/drawing/2014/main" id="{B5148991-0C10-8152-B793-A208F787FCFA}"/>
                </a:ext>
              </a:extLst>
            </p:cNvPr>
            <p:cNvSpPr/>
            <p:nvPr/>
          </p:nvSpPr>
          <p:spPr>
            <a:xfrm>
              <a:off x="-19622625" y="3330250"/>
              <a:ext cx="116600" cy="189250"/>
            </a:xfrm>
            <a:custGeom>
              <a:avLst/>
              <a:gdLst/>
              <a:ahLst/>
              <a:cxnLst/>
              <a:rect l="l" t="t" r="r" b="b"/>
              <a:pathLst>
                <a:path w="4664" h="7570" extrusionOk="0">
                  <a:moveTo>
                    <a:pt x="1683" y="1"/>
                  </a:moveTo>
                  <a:cubicBezTo>
                    <a:pt x="1553" y="1"/>
                    <a:pt x="1419" y="56"/>
                    <a:pt x="1356" y="166"/>
                  </a:cubicBezTo>
                  <a:lnTo>
                    <a:pt x="1" y="2939"/>
                  </a:lnTo>
                  <a:lnTo>
                    <a:pt x="1608" y="6215"/>
                  </a:lnTo>
                  <a:cubicBezTo>
                    <a:pt x="1828" y="6625"/>
                    <a:pt x="1954" y="7097"/>
                    <a:pt x="1986" y="7570"/>
                  </a:cubicBezTo>
                  <a:cubicBezTo>
                    <a:pt x="3687" y="7381"/>
                    <a:pt x="4664" y="5585"/>
                    <a:pt x="3876" y="4010"/>
                  </a:cubicBezTo>
                  <a:lnTo>
                    <a:pt x="1986" y="166"/>
                  </a:lnTo>
                  <a:cubicBezTo>
                    <a:pt x="1938" y="56"/>
                    <a:pt x="1812" y="1"/>
                    <a:pt x="16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4" name="Google Shape;9211;p146">
              <a:extLst>
                <a:ext uri="{FF2B5EF4-FFF2-40B4-BE49-F238E27FC236}">
                  <a16:creationId xmlns:a16="http://schemas.microsoft.com/office/drawing/2014/main" id="{7A067BC2-C3FF-FCDA-0B49-79E4798990F9}"/>
                </a:ext>
              </a:extLst>
            </p:cNvPr>
            <p:cNvSpPr/>
            <p:nvPr/>
          </p:nvSpPr>
          <p:spPr>
            <a:xfrm>
              <a:off x="-19835275" y="3330250"/>
              <a:ext cx="116600" cy="189250"/>
            </a:xfrm>
            <a:custGeom>
              <a:avLst/>
              <a:gdLst/>
              <a:ahLst/>
              <a:cxnLst/>
              <a:rect l="l" t="t" r="r" b="b"/>
              <a:pathLst>
                <a:path w="4664" h="7570" extrusionOk="0">
                  <a:moveTo>
                    <a:pt x="2982" y="1"/>
                  </a:moveTo>
                  <a:cubicBezTo>
                    <a:pt x="2852" y="1"/>
                    <a:pt x="2726" y="56"/>
                    <a:pt x="2679" y="166"/>
                  </a:cubicBezTo>
                  <a:lnTo>
                    <a:pt x="788" y="4010"/>
                  </a:lnTo>
                  <a:cubicBezTo>
                    <a:pt x="1" y="5522"/>
                    <a:pt x="977" y="7381"/>
                    <a:pt x="2679" y="7570"/>
                  </a:cubicBezTo>
                  <a:cubicBezTo>
                    <a:pt x="2710" y="7097"/>
                    <a:pt x="2868" y="6593"/>
                    <a:pt x="3057" y="6152"/>
                  </a:cubicBezTo>
                  <a:lnTo>
                    <a:pt x="4663" y="2876"/>
                  </a:lnTo>
                  <a:lnTo>
                    <a:pt x="3309" y="166"/>
                  </a:lnTo>
                  <a:cubicBezTo>
                    <a:pt x="3246" y="56"/>
                    <a:pt x="3112" y="1"/>
                    <a:pt x="29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  <p:extLst>
      <p:ext uri="{BB962C8B-B14F-4D97-AF65-F5344CB8AC3E}">
        <p14:creationId xmlns:p14="http://schemas.microsoft.com/office/powerpoint/2010/main" val="5769638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68"/>
          <p:cNvSpPr txBox="1">
            <a:spLocks noGrp="1"/>
          </p:cNvSpPr>
          <p:nvPr>
            <p:ph type="title"/>
          </p:nvPr>
        </p:nvSpPr>
        <p:spPr>
          <a:xfrm>
            <a:off x="3798268" y="683972"/>
            <a:ext cx="3745533" cy="7128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600" dirty="0"/>
              <a:t>Sistema de reg</a:t>
            </a:r>
            <a:endParaRPr sz="3600" dirty="0"/>
          </a:p>
        </p:txBody>
      </p:sp>
      <p:sp>
        <p:nvSpPr>
          <p:cNvPr id="566" name="Google Shape;566;p68"/>
          <p:cNvSpPr txBox="1">
            <a:spLocks noGrp="1"/>
          </p:cNvSpPr>
          <p:nvPr>
            <p:ph type="subTitle" idx="1"/>
          </p:nvPr>
        </p:nvSpPr>
        <p:spPr>
          <a:xfrm>
            <a:off x="3798268" y="1396802"/>
            <a:ext cx="4545000" cy="28219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ca-ES" dirty="0"/>
              <a:t>El sistema de reg amb té dos modes de funcionament:</a:t>
            </a:r>
          </a:p>
          <a:p>
            <a:pPr marL="0" lvl="0" indent="0"/>
            <a:endParaRPr lang="ca-E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ca-ES" dirty="0"/>
              <a:t>Mode programat: Entrant els horaris de regar per cada espai, i la durada.</a:t>
            </a:r>
            <a:br>
              <a:rPr lang="ca-ES" dirty="0"/>
            </a:br>
            <a:endParaRPr lang="ca-E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ca-ES" dirty="0"/>
              <a:t>Mode automàtic: Es reguen tots els espais de forma continuada entrant únicament una durada comuna a tots ells. L'ordre en aquest cas és: jardí interior, jardí exterior, hort i arbres fruiters.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C20585E-3410-6F4C-8908-CA3ADE96C81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1884"/>
          <a:stretch/>
        </p:blipFill>
        <p:spPr>
          <a:xfrm>
            <a:off x="1087582" y="1396802"/>
            <a:ext cx="2540968" cy="248689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8631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5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68"/>
          <p:cNvSpPr txBox="1">
            <a:spLocks noGrp="1"/>
          </p:cNvSpPr>
          <p:nvPr>
            <p:ph type="title"/>
          </p:nvPr>
        </p:nvSpPr>
        <p:spPr>
          <a:xfrm>
            <a:off x="2993050" y="683972"/>
            <a:ext cx="3745533" cy="7128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600" dirty="0"/>
              <a:t>Sistema de reg</a:t>
            </a:r>
            <a:endParaRPr sz="3600" dirty="0"/>
          </a:p>
        </p:txBody>
      </p:sp>
      <p:sp>
        <p:nvSpPr>
          <p:cNvPr id="566" name="Google Shape;566;p68"/>
          <p:cNvSpPr txBox="1">
            <a:spLocks noGrp="1"/>
          </p:cNvSpPr>
          <p:nvPr>
            <p:ph type="subTitle" idx="1"/>
          </p:nvPr>
        </p:nvSpPr>
        <p:spPr>
          <a:xfrm>
            <a:off x="5001904" y="1514901"/>
            <a:ext cx="3341364" cy="26340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ca-ES" dirty="0"/>
              <a:t>En el nostre cas disposa d’un dipòsit amb dos motors per extreure </a:t>
            </a:r>
            <a:r>
              <a:rPr lang="ca-ES" dirty="0" err="1"/>
              <a:t>laigua</a:t>
            </a:r>
            <a:r>
              <a:rPr lang="ca-ES" dirty="0"/>
              <a:t>, un per jardins, l'altre per l'hort i la zona d'arbres fruiters. Per tal de poder regar de forma independent cada un dels espais hem afegit un sistema de vàlvules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FF45298-721B-136C-6314-FE881B4D886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1538"/>
          <a:stretch/>
        </p:blipFill>
        <p:spPr bwMode="auto">
          <a:xfrm>
            <a:off x="800731" y="1590219"/>
            <a:ext cx="4097669" cy="247681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431960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5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p10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890448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Components</a:t>
            </a:r>
            <a:endParaRPr dirty="0"/>
          </a:p>
        </p:txBody>
      </p:sp>
      <p:sp>
        <p:nvSpPr>
          <p:cNvPr id="1171" name="Google Shape;1171;p101"/>
          <p:cNvSpPr txBox="1"/>
          <p:nvPr/>
        </p:nvSpPr>
        <p:spPr>
          <a:xfrm>
            <a:off x="713238" y="1785863"/>
            <a:ext cx="1955400" cy="6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Sortides actives a baixa.</a:t>
            </a:r>
            <a:endParaRPr dirty="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2" name="Google Shape;1172;p101"/>
          <p:cNvSpPr txBox="1"/>
          <p:nvPr/>
        </p:nvSpPr>
        <p:spPr>
          <a:xfrm>
            <a:off x="0" y="1136525"/>
            <a:ext cx="2135600" cy="666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7447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(Descodificador BCD)</a:t>
            </a:r>
            <a:endParaRPr sz="2400" dirty="0">
              <a:solidFill>
                <a:schemeClr val="dk1"/>
              </a:solidFill>
              <a:latin typeface="Vidaloka"/>
              <a:ea typeface="Vidaloka"/>
              <a:cs typeface="Vidaloka"/>
              <a:sym typeface="Vidaloka"/>
            </a:endParaRPr>
          </a:p>
        </p:txBody>
      </p:sp>
      <p:sp>
        <p:nvSpPr>
          <p:cNvPr id="1177" name="Google Shape;1177;p101"/>
          <p:cNvSpPr txBox="1"/>
          <p:nvPr/>
        </p:nvSpPr>
        <p:spPr>
          <a:xfrm>
            <a:off x="7008475" y="3649975"/>
            <a:ext cx="14223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74LS90</a:t>
            </a:r>
            <a:endParaRPr sz="2400" dirty="0">
              <a:solidFill>
                <a:schemeClr val="dk1"/>
              </a:solidFill>
              <a:latin typeface="Vidaloka"/>
              <a:ea typeface="Vidaloka"/>
              <a:cs typeface="Vidaloka"/>
              <a:sym typeface="Vidaloka"/>
            </a:endParaRPr>
          </a:p>
        </p:txBody>
      </p:sp>
      <p:sp>
        <p:nvSpPr>
          <p:cNvPr id="1178" name="Google Shape;1178;p101"/>
          <p:cNvSpPr txBox="1"/>
          <p:nvPr/>
        </p:nvSpPr>
        <p:spPr>
          <a:xfrm>
            <a:off x="6331042" y="4079875"/>
            <a:ext cx="1955700" cy="6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ca-ES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Comptador de dècades asíncron</a:t>
            </a:r>
          </a:p>
        </p:txBody>
      </p:sp>
      <p:cxnSp>
        <p:nvCxnSpPr>
          <p:cNvPr id="1191" name="Google Shape;1191;p101"/>
          <p:cNvCxnSpPr>
            <a:cxnSpLocks/>
            <a:stCxn id="1172" idx="3"/>
          </p:cNvCxnSpPr>
          <p:nvPr/>
        </p:nvCxnSpPr>
        <p:spPr>
          <a:xfrm>
            <a:off x="2135600" y="1469700"/>
            <a:ext cx="1801500" cy="979975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194" name="Google Shape;1194;p101"/>
          <p:cNvCxnSpPr>
            <a:stCxn id="1177" idx="1"/>
          </p:cNvCxnSpPr>
          <p:nvPr/>
        </p:nvCxnSpPr>
        <p:spPr>
          <a:xfrm rot="10800000">
            <a:off x="5076775" y="3544975"/>
            <a:ext cx="1931700" cy="2835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FF1BF728-FEE9-E62F-4311-2081891E2B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8171" y="1493525"/>
            <a:ext cx="4621920" cy="980677"/>
          </a:xfrm>
          <a:prstGeom prst="rect">
            <a:avLst/>
          </a:prstGeom>
        </p:spPr>
      </p:pic>
      <p:sp>
        <p:nvSpPr>
          <p:cNvPr id="6" name="Google Shape;1178;p101">
            <a:extLst>
              <a:ext uri="{FF2B5EF4-FFF2-40B4-BE49-F238E27FC236}">
                <a16:creationId xmlns:a16="http://schemas.microsoft.com/office/drawing/2014/main" id="{6371EC23-0A15-82CF-E700-BDEF902B85A3}"/>
              </a:ext>
            </a:extLst>
          </p:cNvPr>
          <p:cNvSpPr txBox="1"/>
          <p:nvPr/>
        </p:nvSpPr>
        <p:spPr>
          <a:xfrm>
            <a:off x="4120212" y="2460837"/>
            <a:ext cx="4709702" cy="1319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LS7447 (Logisim Evolution): https://datasheetspdf.com/datasheet/7474.html (Data de consulta: 12/01/2023)</a:t>
            </a:r>
            <a:endParaRPr lang="en-US" sz="900" dirty="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B22CCBF-5BD2-2B6A-62FE-83119BDD6C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2730" y="3085150"/>
            <a:ext cx="1765763" cy="11296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A39EFFC-4543-D92C-F562-47516130F5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354" y="2827135"/>
            <a:ext cx="1914236" cy="1435677"/>
          </a:xfrm>
          <a:prstGeom prst="rect">
            <a:avLst/>
          </a:prstGeom>
        </p:spPr>
      </p:pic>
      <p:sp>
        <p:nvSpPr>
          <p:cNvPr id="14" name="Google Shape;1178;p101">
            <a:extLst>
              <a:ext uri="{FF2B5EF4-FFF2-40B4-BE49-F238E27FC236}">
                <a16:creationId xmlns:a16="http://schemas.microsoft.com/office/drawing/2014/main" id="{F60E64FF-F442-D5EA-94E3-8C4768E4D3A6}"/>
              </a:ext>
            </a:extLst>
          </p:cNvPr>
          <p:cNvSpPr txBox="1"/>
          <p:nvPr/>
        </p:nvSpPr>
        <p:spPr>
          <a:xfrm>
            <a:off x="-32227" y="4262812"/>
            <a:ext cx="4709702" cy="1319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CL74LS90: https://www.alldatasheet.com/datasheet-pdf/pdf/5755/MOTOROLA/74LS90.html (Data de consulta: 12/01/2023))</a:t>
            </a:r>
            <a:endParaRPr lang="en-US" sz="900" dirty="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1424753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68"/>
          <p:cNvSpPr txBox="1">
            <a:spLocks noGrp="1"/>
          </p:cNvSpPr>
          <p:nvPr>
            <p:ph type="title"/>
          </p:nvPr>
        </p:nvSpPr>
        <p:spPr>
          <a:xfrm>
            <a:off x="1087582" y="683972"/>
            <a:ext cx="6456219" cy="7128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ca-ES" sz="3600" dirty="0"/>
              <a:t>Rellotge intern</a:t>
            </a:r>
            <a:br>
              <a:rPr lang="ca-ES" sz="3600" dirty="0"/>
            </a:br>
            <a:endParaRPr lang="ca-ES" sz="3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28BFF7-15CA-3952-E050-F0678F265E3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621" y="1584733"/>
            <a:ext cx="4974139" cy="292974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E986DDA-D422-BE37-B650-DAF8FD5411D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17"/>
          <a:stretch/>
        </p:blipFill>
        <p:spPr>
          <a:xfrm>
            <a:off x="6941345" y="2571750"/>
            <a:ext cx="2148276" cy="78486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3875E92-8D62-86DE-87A6-3E0ECAA8139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6035" t="36507" b="-446"/>
          <a:stretch/>
        </p:blipFill>
        <p:spPr>
          <a:xfrm>
            <a:off x="5264728" y="4090597"/>
            <a:ext cx="2507674" cy="61181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2D6AB8F-448F-1A68-B1B0-4CC88D1446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9574" y="2247663"/>
            <a:ext cx="1425502" cy="49603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3444A4A-FCE4-7069-F212-29317303285E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r="19811"/>
          <a:stretch/>
        </p:blipFill>
        <p:spPr>
          <a:xfrm>
            <a:off x="264535" y="3091877"/>
            <a:ext cx="1425501" cy="59815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85586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68"/>
          <p:cNvSpPr txBox="1">
            <a:spLocks noGrp="1"/>
          </p:cNvSpPr>
          <p:nvPr>
            <p:ph type="title"/>
          </p:nvPr>
        </p:nvSpPr>
        <p:spPr>
          <a:xfrm>
            <a:off x="1087582" y="683972"/>
            <a:ext cx="6456219" cy="7128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ca-ES" sz="3600" dirty="0"/>
              <a:t>Rellotge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381FE8-D506-78DB-E6F4-B49175A0E2D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875" y="2109632"/>
            <a:ext cx="2778372" cy="163644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4D83F7A-AC2B-23A6-93B5-D6DBD40E24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6727" y="1615104"/>
            <a:ext cx="2295525" cy="2762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FB2A4B2-83F0-8885-8288-F148E3B5D99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982" y="3935913"/>
            <a:ext cx="2374900" cy="63246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29A1AA7-3397-8420-EC08-28BC561E4C5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7852" y="782835"/>
            <a:ext cx="4500416" cy="265359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05739F2-CD67-DE2D-313D-81CD07A84E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35167" y="3691513"/>
            <a:ext cx="3713232" cy="78702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E4BA3C5-BCD7-04FC-E9BF-AB38FA03B3FC}"/>
              </a:ext>
            </a:extLst>
          </p:cNvPr>
          <p:cNvCxnSpPr>
            <a:cxnSpLocks/>
          </p:cNvCxnSpPr>
          <p:nvPr/>
        </p:nvCxnSpPr>
        <p:spPr>
          <a:xfrm>
            <a:off x="7826991" y="2292824"/>
            <a:ext cx="136478" cy="13101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4657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68"/>
          <p:cNvSpPr txBox="1">
            <a:spLocks noGrp="1"/>
          </p:cNvSpPr>
          <p:nvPr>
            <p:ph type="title"/>
          </p:nvPr>
        </p:nvSpPr>
        <p:spPr>
          <a:xfrm>
            <a:off x="2248783" y="469227"/>
            <a:ext cx="4281054" cy="7128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ca-ES" sz="2800" dirty="0"/>
              <a:t>Sistema de reg</a:t>
            </a:r>
          </a:p>
        </p:txBody>
      </p:sp>
      <p:sp>
        <p:nvSpPr>
          <p:cNvPr id="566" name="Google Shape;566;p68"/>
          <p:cNvSpPr txBox="1">
            <a:spLocks noGrp="1"/>
          </p:cNvSpPr>
          <p:nvPr>
            <p:ph type="subTitle" idx="1"/>
          </p:nvPr>
        </p:nvSpPr>
        <p:spPr>
          <a:xfrm>
            <a:off x="630382" y="1396802"/>
            <a:ext cx="7883237" cy="40272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endParaRPr lang="ca-ES" dirty="0"/>
          </a:p>
          <a:p>
            <a:pPr marL="0" lvl="0" indent="0"/>
            <a:endParaRPr lang="ca-E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D61088-1851-8364-D18B-CF486E3364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4055" y="1186093"/>
            <a:ext cx="5550510" cy="34836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34690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5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68"/>
          <p:cNvSpPr txBox="1">
            <a:spLocks noGrp="1"/>
          </p:cNvSpPr>
          <p:nvPr>
            <p:ph type="title"/>
          </p:nvPr>
        </p:nvSpPr>
        <p:spPr>
          <a:xfrm>
            <a:off x="2248783" y="469227"/>
            <a:ext cx="4281054" cy="7128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ca-ES" sz="2800" dirty="0"/>
              <a:t>Sistema de reg programat</a:t>
            </a:r>
          </a:p>
        </p:txBody>
      </p:sp>
      <p:sp>
        <p:nvSpPr>
          <p:cNvPr id="566" name="Google Shape;566;p68"/>
          <p:cNvSpPr txBox="1">
            <a:spLocks noGrp="1"/>
          </p:cNvSpPr>
          <p:nvPr>
            <p:ph type="subTitle" idx="1"/>
          </p:nvPr>
        </p:nvSpPr>
        <p:spPr>
          <a:xfrm>
            <a:off x="630382" y="1396802"/>
            <a:ext cx="7883237" cy="40272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endParaRPr lang="ca-ES" dirty="0"/>
          </a:p>
          <a:p>
            <a:pPr marL="0" lvl="0" indent="0"/>
            <a:endParaRPr lang="ca-E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F64CAFA-20EC-CD02-2A8C-1DD7D1D18B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0234" y="1424255"/>
            <a:ext cx="2438400" cy="2952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1C3DF92-EE6A-70A5-3CE7-84F4ED83EF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600" y="1424255"/>
            <a:ext cx="2276475" cy="228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43B7DB5-3EC0-44AE-78BA-7C04D3E1E98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366" y="1392529"/>
            <a:ext cx="2247900" cy="276225"/>
          </a:xfrm>
          <a:prstGeom prst="rect">
            <a:avLst/>
          </a:prstGeom>
        </p:spPr>
      </p:pic>
      <p:sp>
        <p:nvSpPr>
          <p:cNvPr id="6" name="Google Shape;1172;p101">
            <a:extLst>
              <a:ext uri="{FF2B5EF4-FFF2-40B4-BE49-F238E27FC236}">
                <a16:creationId xmlns:a16="http://schemas.microsoft.com/office/drawing/2014/main" id="{D03CFB13-C0D6-424B-F773-F02FBA4451C7}"/>
              </a:ext>
            </a:extLst>
          </p:cNvPr>
          <p:cNvSpPr txBox="1"/>
          <p:nvPr/>
        </p:nvSpPr>
        <p:spPr>
          <a:xfrm>
            <a:off x="2851555" y="1205380"/>
            <a:ext cx="475029" cy="666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+</a:t>
            </a:r>
          </a:p>
        </p:txBody>
      </p:sp>
      <p:sp>
        <p:nvSpPr>
          <p:cNvPr id="7" name="Google Shape;1172;p101">
            <a:extLst>
              <a:ext uri="{FF2B5EF4-FFF2-40B4-BE49-F238E27FC236}">
                <a16:creationId xmlns:a16="http://schemas.microsoft.com/office/drawing/2014/main" id="{00412B75-26C7-E50E-E6C2-EC41CD2800D9}"/>
              </a:ext>
            </a:extLst>
          </p:cNvPr>
          <p:cNvSpPr txBox="1"/>
          <p:nvPr/>
        </p:nvSpPr>
        <p:spPr>
          <a:xfrm>
            <a:off x="5650447" y="1205380"/>
            <a:ext cx="475029" cy="666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=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E564F71-6EC4-4A0F-1879-C88A6A9F08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362" y="1967002"/>
            <a:ext cx="4077875" cy="237788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CDF7B78-4539-F7EA-8AD1-E2A0DD2F2FA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5266" y="3782667"/>
            <a:ext cx="1753162" cy="5807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1685B1E-2BFF-F849-6ADF-657C6C0021E6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9525" y="1968697"/>
            <a:ext cx="3499528" cy="156975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0BD03FD-95F5-27BF-DF0A-F2E795050D6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7965" y="3782667"/>
            <a:ext cx="1753162" cy="5807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56089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5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68"/>
          <p:cNvSpPr txBox="1">
            <a:spLocks noGrp="1"/>
          </p:cNvSpPr>
          <p:nvPr>
            <p:ph type="title"/>
          </p:nvPr>
        </p:nvSpPr>
        <p:spPr>
          <a:xfrm>
            <a:off x="2248783" y="469227"/>
            <a:ext cx="4281054" cy="7128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ca-ES" sz="2800" dirty="0"/>
              <a:t>Lògica de control</a:t>
            </a:r>
          </a:p>
        </p:txBody>
      </p:sp>
      <p:sp>
        <p:nvSpPr>
          <p:cNvPr id="566" name="Google Shape;566;p68"/>
          <p:cNvSpPr txBox="1">
            <a:spLocks noGrp="1"/>
          </p:cNvSpPr>
          <p:nvPr>
            <p:ph type="subTitle" idx="1"/>
          </p:nvPr>
        </p:nvSpPr>
        <p:spPr>
          <a:xfrm>
            <a:off x="630381" y="1182057"/>
            <a:ext cx="7883237" cy="10561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endParaRPr lang="ca-ES" dirty="0"/>
          </a:p>
          <a:p>
            <a:pPr marL="0" lvl="0" indent="0"/>
            <a:r>
              <a:rPr lang="ca-ES" dirty="0"/>
              <a:t>Lògica de control:  Els Blocs </a:t>
            </a:r>
            <a:r>
              <a:rPr lang="ca-ES" b="1" dirty="0"/>
              <a:t>A4_Rellotge_Intern </a:t>
            </a:r>
            <a:r>
              <a:rPr lang="ca-ES" dirty="0"/>
              <a:t>i </a:t>
            </a:r>
            <a:r>
              <a:rPr lang="ca-ES" b="1" dirty="0"/>
              <a:t>A3_Temp_Hores_Minuts</a:t>
            </a:r>
            <a:r>
              <a:rPr lang="ca-ES" dirty="0"/>
              <a:t> tenen sortides de 16B que es compararan dins del bloc </a:t>
            </a:r>
            <a:r>
              <a:rPr lang="ca-ES" b="1" dirty="0"/>
              <a:t>A6_Logica_Contol</a:t>
            </a:r>
            <a:r>
              <a:rPr lang="ca-ES" dirty="0"/>
              <a:t>.</a:t>
            </a:r>
          </a:p>
        </p:txBody>
      </p:sp>
      <p:sp>
        <p:nvSpPr>
          <p:cNvPr id="6" name="Google Shape;1172;p101">
            <a:extLst>
              <a:ext uri="{FF2B5EF4-FFF2-40B4-BE49-F238E27FC236}">
                <a16:creationId xmlns:a16="http://schemas.microsoft.com/office/drawing/2014/main" id="{D03CFB13-C0D6-424B-F773-F02FBA4451C7}"/>
              </a:ext>
            </a:extLst>
          </p:cNvPr>
          <p:cNvSpPr txBox="1"/>
          <p:nvPr/>
        </p:nvSpPr>
        <p:spPr>
          <a:xfrm>
            <a:off x="2851555" y="1205380"/>
            <a:ext cx="475029" cy="666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" sz="3200" dirty="0">
              <a:solidFill>
                <a:schemeClr val="dk1"/>
              </a:solidFill>
              <a:latin typeface="Vidaloka"/>
              <a:ea typeface="Vidaloka"/>
              <a:cs typeface="Vidaloka"/>
              <a:sym typeface="Vidaloka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D5DA02-D7A9-12AA-3473-18A8EF14B6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5" y="2134296"/>
            <a:ext cx="2922905" cy="209423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9C69684-9AAD-12FC-18EE-FB1BDB411A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8914" y="3531886"/>
            <a:ext cx="4475324" cy="69664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DA068F9-8E3C-E288-98E6-20C3551E6BB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8914" y="2144379"/>
            <a:ext cx="2928460" cy="116833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E65A585-E2AA-0FCF-0445-6AF05DE066AC}"/>
              </a:ext>
            </a:extLst>
          </p:cNvPr>
          <p:cNvCxnSpPr>
            <a:cxnSpLocks/>
          </p:cNvCxnSpPr>
          <p:nvPr/>
        </p:nvCxnSpPr>
        <p:spPr>
          <a:xfrm flipH="1" flipV="1">
            <a:off x="6529837" y="2951063"/>
            <a:ext cx="1567683" cy="10103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CD3AD88E-327E-07BB-30F9-B534CB755A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8536" y="2499276"/>
            <a:ext cx="1446177" cy="45854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E61B1F0-79B0-2791-6157-3D47CF12E611}"/>
              </a:ext>
            </a:extLst>
          </p:cNvPr>
          <p:cNvCxnSpPr>
            <a:cxnSpLocks/>
          </p:cNvCxnSpPr>
          <p:nvPr/>
        </p:nvCxnSpPr>
        <p:spPr>
          <a:xfrm flipH="1">
            <a:off x="6897374" y="2824480"/>
            <a:ext cx="717546" cy="846170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22">
            <a:extLst>
              <a:ext uri="{FF2B5EF4-FFF2-40B4-BE49-F238E27FC236}">
                <a16:creationId xmlns:a16="http://schemas.microsoft.com/office/drawing/2014/main" id="{F03CECD2-6F04-C56D-F413-F8E46E3314D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05188" y="2003593"/>
            <a:ext cx="1933575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564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5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68"/>
          <p:cNvSpPr txBox="1">
            <a:spLocks noGrp="1"/>
          </p:cNvSpPr>
          <p:nvPr>
            <p:ph type="title"/>
          </p:nvPr>
        </p:nvSpPr>
        <p:spPr>
          <a:xfrm>
            <a:off x="2248783" y="469227"/>
            <a:ext cx="4281054" cy="7128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ca-ES" sz="2800" dirty="0"/>
              <a:t>Lògica de control</a:t>
            </a:r>
          </a:p>
        </p:txBody>
      </p:sp>
      <p:sp>
        <p:nvSpPr>
          <p:cNvPr id="566" name="Google Shape;566;p68"/>
          <p:cNvSpPr txBox="1">
            <a:spLocks noGrp="1"/>
          </p:cNvSpPr>
          <p:nvPr>
            <p:ph type="subTitle" idx="1"/>
          </p:nvPr>
        </p:nvSpPr>
        <p:spPr>
          <a:xfrm>
            <a:off x="630381" y="1182057"/>
            <a:ext cx="7883237" cy="10561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endParaRPr lang="ca-ES" dirty="0"/>
          </a:p>
          <a:p>
            <a:pPr marL="0" lvl="0" indent="0"/>
            <a:r>
              <a:rPr lang="ca-ES" dirty="0"/>
              <a:t>Lògica de control:  Els Blocs </a:t>
            </a:r>
            <a:r>
              <a:rPr lang="ca-ES" b="1" dirty="0"/>
              <a:t>A4_Rellotge_Intern </a:t>
            </a:r>
            <a:r>
              <a:rPr lang="ca-ES" dirty="0"/>
              <a:t>i </a:t>
            </a:r>
            <a:r>
              <a:rPr lang="ca-ES" b="1" dirty="0"/>
              <a:t>A3_Temp_Hores_Minuts</a:t>
            </a:r>
            <a:r>
              <a:rPr lang="ca-ES" dirty="0"/>
              <a:t> tenen sortides de 16B que es compararan dins del bloc </a:t>
            </a:r>
            <a:r>
              <a:rPr lang="ca-ES" b="1" dirty="0"/>
              <a:t>A6_Logica_Contol</a:t>
            </a:r>
            <a:r>
              <a:rPr lang="ca-ES" dirty="0"/>
              <a:t>.</a:t>
            </a:r>
          </a:p>
        </p:txBody>
      </p:sp>
      <p:sp>
        <p:nvSpPr>
          <p:cNvPr id="6" name="Google Shape;1172;p101">
            <a:extLst>
              <a:ext uri="{FF2B5EF4-FFF2-40B4-BE49-F238E27FC236}">
                <a16:creationId xmlns:a16="http://schemas.microsoft.com/office/drawing/2014/main" id="{D03CFB13-C0D6-424B-F773-F02FBA4451C7}"/>
              </a:ext>
            </a:extLst>
          </p:cNvPr>
          <p:cNvSpPr txBox="1"/>
          <p:nvPr/>
        </p:nvSpPr>
        <p:spPr>
          <a:xfrm>
            <a:off x="2851555" y="1205380"/>
            <a:ext cx="475029" cy="666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" sz="3200" dirty="0">
              <a:solidFill>
                <a:schemeClr val="dk1"/>
              </a:solidFill>
              <a:latin typeface="Vidaloka"/>
              <a:ea typeface="Vidaloka"/>
              <a:cs typeface="Vidaloka"/>
              <a:sym typeface="Vidaloka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03CECD2-6F04-C56D-F413-F8E46E3314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1828" y="1757430"/>
            <a:ext cx="1933575" cy="2286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CB02370-9E2C-9F6E-DA43-9CE9A59E54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2069" y="2168372"/>
            <a:ext cx="3554730" cy="243539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3FE0E14-DB34-42C8-7770-682C38C5F7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8758" y="1986030"/>
            <a:ext cx="2940050" cy="14611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0A851A0-7CE7-97AB-DA90-53175ADEBE2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758" y="3660775"/>
            <a:ext cx="1362075" cy="8242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9A89679-4A0F-C87F-7ACC-C06861C913C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0741" y="3629507"/>
            <a:ext cx="1482655" cy="114031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55759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5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68"/>
          <p:cNvSpPr txBox="1">
            <a:spLocks noGrp="1"/>
          </p:cNvSpPr>
          <p:nvPr>
            <p:ph type="title"/>
          </p:nvPr>
        </p:nvSpPr>
        <p:spPr>
          <a:xfrm>
            <a:off x="997528" y="683972"/>
            <a:ext cx="7516090" cy="7128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ca-ES" sz="2800" dirty="0"/>
              <a:t>Sistema de control de temperatura i humitat</a:t>
            </a:r>
            <a:endParaRPr sz="2800" dirty="0"/>
          </a:p>
        </p:txBody>
      </p:sp>
      <p:sp>
        <p:nvSpPr>
          <p:cNvPr id="566" name="Google Shape;566;p68"/>
          <p:cNvSpPr txBox="1">
            <a:spLocks noGrp="1"/>
          </p:cNvSpPr>
          <p:nvPr>
            <p:ph type="subTitle" idx="1"/>
          </p:nvPr>
        </p:nvSpPr>
        <p:spPr>
          <a:xfrm>
            <a:off x="1124341" y="1396802"/>
            <a:ext cx="4545000" cy="40272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ca-ES" dirty="0"/>
              <a:t>Sistema de control de temperatura i humitat: Ha de permetre configurar els nivells d'humitat i temperatura en el jardí interior:</a:t>
            </a:r>
          </a:p>
          <a:p>
            <a:pPr marL="0" lvl="0" indent="0"/>
            <a:endParaRPr lang="ca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a-ES" dirty="0"/>
              <a:t>Un nivell baix d'humitat activarà un humidificador fins a arribar al llindar programat, en la seva contrapart un deshumidificador.</a:t>
            </a:r>
          </a:p>
          <a:p>
            <a:pPr marL="0" indent="0"/>
            <a:endParaRPr lang="ca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a-ES" dirty="0"/>
              <a:t>Un nivell alt de temperatura activarà el sistema d'aire condicionat fins a assolir la temperatura programada (Ventilador / Calefactor).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E0609C-E2E8-F76C-9659-3DBC8B7C932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0280"/>
          <a:stretch/>
        </p:blipFill>
        <p:spPr>
          <a:xfrm>
            <a:off x="5669341" y="1890382"/>
            <a:ext cx="2306782" cy="220753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1554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5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68"/>
          <p:cNvSpPr txBox="1">
            <a:spLocks noGrp="1"/>
          </p:cNvSpPr>
          <p:nvPr>
            <p:ph type="title"/>
          </p:nvPr>
        </p:nvSpPr>
        <p:spPr>
          <a:xfrm>
            <a:off x="997528" y="683972"/>
            <a:ext cx="7516090" cy="7128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ca-ES" sz="2800" dirty="0"/>
              <a:t>Sistema de control de temperatura i humitat</a:t>
            </a:r>
            <a:endParaRPr sz="2800" dirty="0"/>
          </a:p>
        </p:txBody>
      </p:sp>
      <p:sp>
        <p:nvSpPr>
          <p:cNvPr id="566" name="Google Shape;566;p68"/>
          <p:cNvSpPr txBox="1">
            <a:spLocks noGrp="1"/>
          </p:cNvSpPr>
          <p:nvPr>
            <p:ph type="subTitle" idx="1"/>
          </p:nvPr>
        </p:nvSpPr>
        <p:spPr>
          <a:xfrm>
            <a:off x="914401" y="1396802"/>
            <a:ext cx="7599218" cy="40272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ca-ES" b="1" dirty="0"/>
              <a:t>Simulació: </a:t>
            </a:r>
            <a:r>
              <a:rPr lang="ca-ES" dirty="0"/>
              <a:t>Si tenim una temperatura/humitat actual i una temperatura/humitat objectiu (Termòstat) diferents encendrem els diferents dispositius de regulació i cada 3s actualitzarem la temperatura/humitat real fins que siguin iguals.</a:t>
            </a:r>
            <a:br>
              <a:rPr lang="ca-ES" dirty="0"/>
            </a:br>
            <a:br>
              <a:rPr lang="ca-ES" dirty="0"/>
            </a:br>
            <a:endParaRPr lang="ca-ES" dirty="0"/>
          </a:p>
        </p:txBody>
      </p:sp>
    </p:spTree>
    <p:extLst>
      <p:ext uri="{BB962C8B-B14F-4D97-AF65-F5344CB8AC3E}">
        <p14:creationId xmlns:p14="http://schemas.microsoft.com/office/powerpoint/2010/main" val="2228162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5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68"/>
          <p:cNvSpPr txBox="1">
            <a:spLocks noGrp="1"/>
          </p:cNvSpPr>
          <p:nvPr>
            <p:ph type="title"/>
          </p:nvPr>
        </p:nvSpPr>
        <p:spPr>
          <a:xfrm>
            <a:off x="997528" y="683972"/>
            <a:ext cx="7516090" cy="7128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ca-ES" sz="2800" dirty="0"/>
              <a:t>Sistema de control de temperatura i humitat</a:t>
            </a:r>
            <a:endParaRPr sz="2800" dirty="0"/>
          </a:p>
        </p:txBody>
      </p:sp>
      <p:sp>
        <p:nvSpPr>
          <p:cNvPr id="566" name="Google Shape;566;p68"/>
          <p:cNvSpPr txBox="1">
            <a:spLocks noGrp="1"/>
          </p:cNvSpPr>
          <p:nvPr>
            <p:ph type="subTitle" idx="1"/>
          </p:nvPr>
        </p:nvSpPr>
        <p:spPr>
          <a:xfrm>
            <a:off x="914401" y="1396802"/>
            <a:ext cx="7599218" cy="40272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ca-ES" b="1" dirty="0"/>
              <a:t>Implementació: </a:t>
            </a:r>
            <a:r>
              <a:rPr lang="ca-ES" dirty="0"/>
              <a:t>Tenim les sortides de la temperatura/humitat real en binari així com els seus objectius. Amb comparadors si la temperatura/humitat real és inferior encendrem els dispositius (calefactor o humidificador). Si la temperatura/humitat real és superior, encendrem els dispositius de baixada (ventilador o deshumidificador) Cada 3 segons, actualitzarem +- 1 els valors de temperatura i humitat fins a arribar als valors programats.</a:t>
            </a:r>
          </a:p>
          <a:p>
            <a:pPr marL="0" lvl="0" indent="0"/>
            <a:endParaRPr lang="ca-ES" dirty="0"/>
          </a:p>
          <a:p>
            <a:pPr marL="0" indent="0"/>
            <a:r>
              <a:rPr lang="ca-ES" b="1" dirty="0"/>
              <a:t>Modes</a:t>
            </a:r>
            <a:r>
              <a:rPr lang="ca-ES" dirty="0"/>
              <a:t>: Els dispositius els he dissenyat de forma que siguin genèrics, es comporten de diferent manera en funció del mode.</a:t>
            </a:r>
          </a:p>
          <a:p>
            <a:pPr marL="0" lvl="0" indent="0"/>
            <a:endParaRPr lang="ca-ES" dirty="0"/>
          </a:p>
        </p:txBody>
      </p:sp>
    </p:spTree>
    <p:extLst>
      <p:ext uri="{BB962C8B-B14F-4D97-AF65-F5344CB8AC3E}">
        <p14:creationId xmlns:p14="http://schemas.microsoft.com/office/powerpoint/2010/main" val="3412920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5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68"/>
          <p:cNvSpPr txBox="1">
            <a:spLocks noGrp="1"/>
          </p:cNvSpPr>
          <p:nvPr>
            <p:ph type="title"/>
          </p:nvPr>
        </p:nvSpPr>
        <p:spPr>
          <a:xfrm>
            <a:off x="997528" y="683972"/>
            <a:ext cx="7516090" cy="7128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ca-ES" sz="2800" dirty="0"/>
              <a:t>Sistema de control de temperatura i humitat</a:t>
            </a:r>
            <a:endParaRPr sz="2800" dirty="0"/>
          </a:p>
        </p:txBody>
      </p:sp>
      <p:sp>
        <p:nvSpPr>
          <p:cNvPr id="566" name="Google Shape;566;p68"/>
          <p:cNvSpPr txBox="1">
            <a:spLocks noGrp="1"/>
          </p:cNvSpPr>
          <p:nvPr>
            <p:ph type="subTitle" idx="1"/>
          </p:nvPr>
        </p:nvSpPr>
        <p:spPr>
          <a:xfrm>
            <a:off x="914401" y="1396802"/>
            <a:ext cx="7599218" cy="40272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endParaRPr lang="ca-ES" dirty="0"/>
          </a:p>
          <a:p>
            <a:pPr marL="0" lvl="0" indent="0"/>
            <a:endParaRPr lang="ca-E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1D8E46-A510-84C3-78A2-DFBC895E81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511" y="1329400"/>
            <a:ext cx="4752109" cy="289340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57F9C0D-CFE5-22A2-5EBC-4C23103B38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6094" y="3663848"/>
            <a:ext cx="2322830" cy="8953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A8C4331-F47C-204B-F4A5-03BD429616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0036" y="2109632"/>
            <a:ext cx="3193582" cy="1153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931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5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68"/>
          <p:cNvSpPr txBox="1">
            <a:spLocks noGrp="1"/>
          </p:cNvSpPr>
          <p:nvPr>
            <p:ph type="title"/>
          </p:nvPr>
        </p:nvSpPr>
        <p:spPr>
          <a:xfrm>
            <a:off x="997528" y="683972"/>
            <a:ext cx="7516090" cy="7128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ca-ES" sz="2800" dirty="0"/>
              <a:t>Sistema de control de temperatura i humitat</a:t>
            </a:r>
            <a:endParaRPr sz="2800" dirty="0"/>
          </a:p>
        </p:txBody>
      </p:sp>
      <p:sp>
        <p:nvSpPr>
          <p:cNvPr id="566" name="Google Shape;566;p68"/>
          <p:cNvSpPr txBox="1">
            <a:spLocks noGrp="1"/>
          </p:cNvSpPr>
          <p:nvPr>
            <p:ph type="subTitle" idx="1"/>
          </p:nvPr>
        </p:nvSpPr>
        <p:spPr>
          <a:xfrm>
            <a:off x="630382" y="1396802"/>
            <a:ext cx="7883237" cy="40272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ca-ES" dirty="0"/>
              <a:t>En els dos modes la sortida és binària i la volem expressar en BCD hem implementat</a:t>
            </a:r>
            <a:r>
              <a:rPr lang="ca-ES" b="1" dirty="0"/>
              <a:t> l’algoritme Double Dabble </a:t>
            </a:r>
            <a:r>
              <a:rPr lang="ca-ES" dirty="0"/>
              <a:t>explicat en wikipèdia: </a:t>
            </a:r>
            <a:r>
              <a:rPr lang="ca-ES" u="sng" dirty="0">
                <a:solidFill>
                  <a:schemeClr val="tx2">
                    <a:lumMod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https://en.wikipedia.org/wiki/Double_dabble</a:t>
            </a:r>
            <a:r>
              <a:rPr lang="ca-ES" dirty="0"/>
              <a:t>:</a:t>
            </a:r>
          </a:p>
          <a:p>
            <a:pPr marL="0" lvl="0" indent="0"/>
            <a:endParaRPr lang="ca-ES" dirty="0"/>
          </a:p>
          <a:p>
            <a:pPr marL="0" lvl="0" indent="0"/>
            <a:endParaRPr lang="ca-E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D95072-3607-D4C6-6ABD-B38C830E88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2856" y="2210016"/>
            <a:ext cx="5980834" cy="1998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57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5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68"/>
          <p:cNvSpPr txBox="1">
            <a:spLocks noGrp="1"/>
          </p:cNvSpPr>
          <p:nvPr>
            <p:ph type="title"/>
          </p:nvPr>
        </p:nvSpPr>
        <p:spPr>
          <a:xfrm>
            <a:off x="997528" y="683972"/>
            <a:ext cx="7516090" cy="7128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ca-ES" sz="2800" dirty="0"/>
              <a:t>Sistema de control de temperatura i humitat</a:t>
            </a:r>
            <a:endParaRPr sz="2800" dirty="0"/>
          </a:p>
        </p:txBody>
      </p:sp>
      <p:sp>
        <p:nvSpPr>
          <p:cNvPr id="566" name="Google Shape;566;p68"/>
          <p:cNvSpPr txBox="1">
            <a:spLocks noGrp="1"/>
          </p:cNvSpPr>
          <p:nvPr>
            <p:ph type="subTitle" idx="1"/>
          </p:nvPr>
        </p:nvSpPr>
        <p:spPr>
          <a:xfrm>
            <a:off x="630382" y="1396802"/>
            <a:ext cx="7883237" cy="40272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ca-ES" dirty="0"/>
              <a:t>En els dos modes la sortida és binària i la volem expressar en BCD hem implementat</a:t>
            </a:r>
            <a:r>
              <a:rPr lang="ca-ES" b="1" dirty="0"/>
              <a:t> l’algoritme Double Dabble </a:t>
            </a:r>
            <a:r>
              <a:rPr lang="ca-ES" dirty="0"/>
              <a:t>explicat en wikipèdia: </a:t>
            </a:r>
            <a:r>
              <a:rPr lang="ca-ES" u="sng" dirty="0">
                <a:solidFill>
                  <a:schemeClr val="tx2">
                    <a:lumMod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https://en.wikipedia.org/wiki/Double_dabble</a:t>
            </a:r>
            <a:r>
              <a:rPr lang="ca-ES" dirty="0"/>
              <a:t>:</a:t>
            </a:r>
          </a:p>
          <a:p>
            <a:pPr marL="0" lvl="0" indent="0"/>
            <a:endParaRPr lang="ca-ES" dirty="0"/>
          </a:p>
          <a:p>
            <a:pPr marL="0" lvl="0" indent="0"/>
            <a:endParaRPr lang="ca-E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087A7E-4C3F-2F0D-F8BF-2A15F6704D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7584" y="2340680"/>
            <a:ext cx="4690197" cy="2399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57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5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68"/>
          <p:cNvSpPr txBox="1">
            <a:spLocks noGrp="1"/>
          </p:cNvSpPr>
          <p:nvPr>
            <p:ph type="title"/>
          </p:nvPr>
        </p:nvSpPr>
        <p:spPr>
          <a:xfrm>
            <a:off x="997528" y="683972"/>
            <a:ext cx="7516090" cy="7128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ca-ES" sz="2800" dirty="0"/>
              <a:t>Sistema de control de temperatura i humitat</a:t>
            </a:r>
            <a:endParaRPr sz="2800" dirty="0"/>
          </a:p>
        </p:txBody>
      </p:sp>
      <p:sp>
        <p:nvSpPr>
          <p:cNvPr id="566" name="Google Shape;566;p68"/>
          <p:cNvSpPr txBox="1">
            <a:spLocks noGrp="1"/>
          </p:cNvSpPr>
          <p:nvPr>
            <p:ph type="subTitle" idx="1"/>
          </p:nvPr>
        </p:nvSpPr>
        <p:spPr>
          <a:xfrm>
            <a:off x="630382" y="1396802"/>
            <a:ext cx="7883237" cy="40272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endParaRPr lang="ca-ES" dirty="0"/>
          </a:p>
          <a:p>
            <a:pPr marL="0" lvl="0" indent="0"/>
            <a:endParaRPr lang="ca-E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A385B9-4057-A4FE-467C-DEA19D128C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772" y="635481"/>
            <a:ext cx="7052446" cy="40354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FA67C33-ED74-819D-B900-5581DD0E78B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1005" y="3410428"/>
            <a:ext cx="1576603" cy="1314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122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5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68"/>
          <p:cNvSpPr txBox="1">
            <a:spLocks noGrp="1"/>
          </p:cNvSpPr>
          <p:nvPr>
            <p:ph type="title"/>
          </p:nvPr>
        </p:nvSpPr>
        <p:spPr>
          <a:xfrm>
            <a:off x="997528" y="683972"/>
            <a:ext cx="7516090" cy="7128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ca-ES" sz="2800" dirty="0"/>
              <a:t>Sistema de control de temperatura i humitat</a:t>
            </a:r>
            <a:endParaRPr sz="2800" dirty="0"/>
          </a:p>
        </p:txBody>
      </p:sp>
      <p:sp>
        <p:nvSpPr>
          <p:cNvPr id="566" name="Google Shape;566;p68"/>
          <p:cNvSpPr txBox="1">
            <a:spLocks noGrp="1"/>
          </p:cNvSpPr>
          <p:nvPr>
            <p:ph type="subTitle" idx="1"/>
          </p:nvPr>
        </p:nvSpPr>
        <p:spPr>
          <a:xfrm>
            <a:off x="630382" y="1396802"/>
            <a:ext cx="7883237" cy="40272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endParaRPr lang="ca-ES" dirty="0"/>
          </a:p>
          <a:p>
            <a:pPr marL="0" lvl="0" indent="0"/>
            <a:endParaRPr lang="ca-E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4A4C73-EE7E-A340-5D7F-1A13817E4B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579" y="1330036"/>
            <a:ext cx="7240893" cy="3444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015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5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68"/>
          <p:cNvSpPr txBox="1">
            <a:spLocks noGrp="1"/>
          </p:cNvSpPr>
          <p:nvPr>
            <p:ph type="title"/>
          </p:nvPr>
        </p:nvSpPr>
        <p:spPr>
          <a:xfrm>
            <a:off x="3798268" y="683972"/>
            <a:ext cx="4784623" cy="7128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ca-ES" sz="3600" dirty="0"/>
              <a:t>Sistema d’avisos</a:t>
            </a:r>
          </a:p>
        </p:txBody>
      </p:sp>
      <p:sp>
        <p:nvSpPr>
          <p:cNvPr id="566" name="Google Shape;566;p68"/>
          <p:cNvSpPr txBox="1">
            <a:spLocks noGrp="1"/>
          </p:cNvSpPr>
          <p:nvPr>
            <p:ph type="subTitle" idx="1"/>
          </p:nvPr>
        </p:nvSpPr>
        <p:spPr>
          <a:xfrm>
            <a:off x="3798268" y="1454726"/>
            <a:ext cx="4545000" cy="31865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ca-ES" dirty="0"/>
              <a:t>El sistema complirà amb els següents punts:</a:t>
            </a:r>
          </a:p>
          <a:p>
            <a:pPr marL="0" lvl="0" indent="0"/>
            <a:endParaRPr lang="ca-E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ca-ES" dirty="0"/>
              <a:t>Si es dispara el sensor de moviment, caldrà avisar-ho a la policia i al propietari.</a:t>
            </a:r>
          </a:p>
          <a:p>
            <a:pPr marL="0" lvl="0" indent="0"/>
            <a:endParaRPr lang="ca-E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ca-ES" dirty="0"/>
              <a:t>Si falla algun dels motors avisarem al mecànic i al jardiner.</a:t>
            </a:r>
          </a:p>
          <a:p>
            <a:pPr marL="0" lvl="0" indent="0"/>
            <a:endParaRPr lang="ca-E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ca-ES" dirty="0"/>
              <a:t>Si hi ha problemes amb el ventilador o calefactor, cal avisar al mecànic.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ca-E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ca-ES" dirty="0"/>
              <a:t>Si s'espaien els sensors de temperatura o humitat, cal notificar-ho al jardiner i al propietari.</a:t>
            </a:r>
          </a:p>
          <a:p>
            <a:pPr marL="0" lvl="0" indent="0"/>
            <a:endParaRPr lang="ca-ES" dirty="0"/>
          </a:p>
          <a:p>
            <a:pPr marL="0" lvl="0" indent="0"/>
            <a:br>
              <a:rPr lang="ca-ES" dirty="0"/>
            </a:br>
            <a:br>
              <a:rPr lang="ca-ES" dirty="0"/>
            </a:br>
            <a:br>
              <a:rPr lang="ca-ES" dirty="0"/>
            </a:br>
            <a:r>
              <a:rPr lang="ca-ES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35C096-27AE-EFC6-55E2-7D1B8CEC098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379" r="20785"/>
          <a:stretch/>
        </p:blipFill>
        <p:spPr>
          <a:xfrm>
            <a:off x="800732" y="1198418"/>
            <a:ext cx="2701637" cy="284710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82130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5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68"/>
          <p:cNvSpPr txBox="1">
            <a:spLocks noGrp="1"/>
          </p:cNvSpPr>
          <p:nvPr>
            <p:ph type="title"/>
          </p:nvPr>
        </p:nvSpPr>
        <p:spPr>
          <a:xfrm>
            <a:off x="992723" y="649336"/>
            <a:ext cx="4784623" cy="7128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ca-ES" sz="3600" dirty="0"/>
              <a:t>Sistema d’avisos</a:t>
            </a:r>
          </a:p>
        </p:txBody>
      </p:sp>
      <p:sp>
        <p:nvSpPr>
          <p:cNvPr id="566" name="Google Shape;566;p68"/>
          <p:cNvSpPr txBox="1">
            <a:spLocks noGrp="1"/>
          </p:cNvSpPr>
          <p:nvPr>
            <p:ph type="subTitle" idx="1"/>
          </p:nvPr>
        </p:nvSpPr>
        <p:spPr>
          <a:xfrm>
            <a:off x="1052945" y="1454727"/>
            <a:ext cx="7290323" cy="52647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ca-ES" dirty="0"/>
              <a:t>Traducció al món de l’electrònica digital: Taules de veritat, mapes de Karnaugh i algunes portes lògiques.</a:t>
            </a:r>
          </a:p>
          <a:p>
            <a:pPr marL="0" lvl="0" indent="0"/>
            <a:endParaRPr lang="ca-ES" dirty="0"/>
          </a:p>
          <a:p>
            <a:pPr marL="0" lvl="0" indent="0"/>
            <a:br>
              <a:rPr lang="ca-ES" dirty="0"/>
            </a:br>
            <a:br>
              <a:rPr lang="ca-ES" dirty="0"/>
            </a:br>
            <a:br>
              <a:rPr lang="ca-ES" dirty="0"/>
            </a:br>
            <a:r>
              <a:rPr lang="ca-ES" dirty="0"/>
              <a:t>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32E00F5-73D0-2DFF-B54C-BFFCC5CD95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2373" y="2291436"/>
            <a:ext cx="3757526" cy="174173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6369FF4-4EAE-CE9E-F6C1-3220349137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6936" y="2073761"/>
            <a:ext cx="3106332" cy="2279304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758B70D-90A2-3692-272C-7B4BFB7108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688" y="3213413"/>
            <a:ext cx="1301866" cy="1323109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20586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5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68"/>
          <p:cNvSpPr txBox="1">
            <a:spLocks noGrp="1"/>
          </p:cNvSpPr>
          <p:nvPr>
            <p:ph type="title"/>
          </p:nvPr>
        </p:nvSpPr>
        <p:spPr>
          <a:xfrm>
            <a:off x="992723" y="649336"/>
            <a:ext cx="4784623" cy="7128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ca-ES" sz="3600" dirty="0"/>
              <a:t>Sistema d’avisos (SIM)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CE22F7-B73F-15E1-D9D0-F7D8DFC8B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081" y="1667163"/>
            <a:ext cx="1974732" cy="29794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BEFA00D-5B5C-07AF-105C-24A351118C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8813" y="1671041"/>
            <a:ext cx="2213126" cy="297554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97532A7-F2BE-9286-9269-B84A9552FE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0261" y="2413057"/>
            <a:ext cx="1589607" cy="148763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6EC1EE5-4D36-9070-6F2E-C20F2F69AF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25907" y="1922414"/>
            <a:ext cx="1424354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155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8" name="Google Shape;1568;p123"/>
          <p:cNvSpPr txBox="1">
            <a:spLocks noGrp="1"/>
          </p:cNvSpPr>
          <p:nvPr>
            <p:ph type="title"/>
          </p:nvPr>
        </p:nvSpPr>
        <p:spPr>
          <a:xfrm>
            <a:off x="2840379" y="1165950"/>
            <a:ext cx="3478200" cy="92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Gràcies</a:t>
            </a:r>
            <a:endParaRPr dirty="0"/>
          </a:p>
        </p:txBody>
      </p:sp>
      <p:sp>
        <p:nvSpPr>
          <p:cNvPr id="1569" name="Google Shape;1569;p123"/>
          <p:cNvSpPr txBox="1">
            <a:spLocks noGrp="1"/>
          </p:cNvSpPr>
          <p:nvPr>
            <p:ph type="subTitle" idx="1"/>
          </p:nvPr>
        </p:nvSpPr>
        <p:spPr>
          <a:xfrm>
            <a:off x="2983350" y="2131951"/>
            <a:ext cx="3177300" cy="92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Tens alguna pregunta?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etorrontera@uda.com</a:t>
            </a:r>
            <a:endParaRPr dirty="0"/>
          </a:p>
        </p:txBody>
      </p:sp>
      <p:grpSp>
        <p:nvGrpSpPr>
          <p:cNvPr id="1570" name="Google Shape;1570;p123"/>
          <p:cNvGrpSpPr/>
          <p:nvPr/>
        </p:nvGrpSpPr>
        <p:grpSpPr>
          <a:xfrm>
            <a:off x="4961882" y="2876803"/>
            <a:ext cx="458723" cy="458684"/>
            <a:chOff x="1379798" y="1723250"/>
            <a:chExt cx="397887" cy="397887"/>
          </a:xfrm>
        </p:grpSpPr>
        <p:sp>
          <p:nvSpPr>
            <p:cNvPr id="1571" name="Google Shape;1571;p123"/>
            <p:cNvSpPr/>
            <p:nvPr/>
          </p:nvSpPr>
          <p:spPr>
            <a:xfrm>
              <a:off x="1462169" y="1793977"/>
              <a:ext cx="23354" cy="23312"/>
            </a:xfrm>
            <a:custGeom>
              <a:avLst/>
              <a:gdLst/>
              <a:ahLst/>
              <a:cxnLst/>
              <a:rect l="l" t="t" r="r" b="b"/>
              <a:pathLst>
                <a:path w="1119" h="1117" extrusionOk="0">
                  <a:moveTo>
                    <a:pt x="559" y="1"/>
                  </a:moveTo>
                  <a:cubicBezTo>
                    <a:pt x="251" y="1"/>
                    <a:pt x="0" y="250"/>
                    <a:pt x="0" y="558"/>
                  </a:cubicBezTo>
                  <a:cubicBezTo>
                    <a:pt x="0" y="866"/>
                    <a:pt x="251" y="1117"/>
                    <a:pt x="559" y="1117"/>
                  </a:cubicBezTo>
                  <a:cubicBezTo>
                    <a:pt x="867" y="1117"/>
                    <a:pt x="1118" y="866"/>
                    <a:pt x="1118" y="558"/>
                  </a:cubicBezTo>
                  <a:cubicBezTo>
                    <a:pt x="1118" y="250"/>
                    <a:pt x="867" y="1"/>
                    <a:pt x="5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72" name="Google Shape;1572;p123"/>
            <p:cNvSpPr/>
            <p:nvPr/>
          </p:nvSpPr>
          <p:spPr>
            <a:xfrm>
              <a:off x="1379798" y="1723250"/>
              <a:ext cx="397887" cy="397887"/>
            </a:xfrm>
            <a:custGeom>
              <a:avLst/>
              <a:gdLst/>
              <a:ahLst/>
              <a:cxnLst/>
              <a:rect l="l" t="t" r="r" b="b"/>
              <a:pathLst>
                <a:path w="19065" h="19065" extrusionOk="0">
                  <a:moveTo>
                    <a:pt x="4506" y="2271"/>
                  </a:moveTo>
                  <a:cubicBezTo>
                    <a:pt x="5429" y="2271"/>
                    <a:pt x="6181" y="3023"/>
                    <a:pt x="6181" y="3947"/>
                  </a:cubicBezTo>
                  <a:cubicBezTo>
                    <a:pt x="6181" y="4872"/>
                    <a:pt x="5429" y="5622"/>
                    <a:pt x="4506" y="5622"/>
                  </a:cubicBezTo>
                  <a:cubicBezTo>
                    <a:pt x="3583" y="5622"/>
                    <a:pt x="2831" y="4872"/>
                    <a:pt x="2831" y="3947"/>
                  </a:cubicBezTo>
                  <a:cubicBezTo>
                    <a:pt x="2831" y="3023"/>
                    <a:pt x="3583" y="2271"/>
                    <a:pt x="4506" y="2271"/>
                  </a:cubicBezTo>
                  <a:close/>
                  <a:moveTo>
                    <a:pt x="5622" y="6740"/>
                  </a:moveTo>
                  <a:cubicBezTo>
                    <a:pt x="5932" y="6740"/>
                    <a:pt x="6181" y="6989"/>
                    <a:pt x="6181" y="7299"/>
                  </a:cubicBezTo>
                  <a:lnTo>
                    <a:pt x="6181" y="16234"/>
                  </a:lnTo>
                  <a:cubicBezTo>
                    <a:pt x="6181" y="16544"/>
                    <a:pt x="5932" y="16793"/>
                    <a:pt x="5622" y="16793"/>
                  </a:cubicBezTo>
                  <a:lnTo>
                    <a:pt x="3388" y="16793"/>
                  </a:lnTo>
                  <a:cubicBezTo>
                    <a:pt x="3080" y="16793"/>
                    <a:pt x="2831" y="16544"/>
                    <a:pt x="2831" y="16234"/>
                  </a:cubicBezTo>
                  <a:lnTo>
                    <a:pt x="2831" y="7299"/>
                  </a:lnTo>
                  <a:cubicBezTo>
                    <a:pt x="2831" y="6989"/>
                    <a:pt x="3080" y="6740"/>
                    <a:pt x="3388" y="6740"/>
                  </a:cubicBezTo>
                  <a:close/>
                  <a:moveTo>
                    <a:pt x="12596" y="6721"/>
                  </a:moveTo>
                  <a:cubicBezTo>
                    <a:pt x="12811" y="6721"/>
                    <a:pt x="13027" y="6739"/>
                    <a:pt x="13241" y="6774"/>
                  </a:cubicBezTo>
                  <a:cubicBezTo>
                    <a:pt x="15058" y="7069"/>
                    <a:pt x="16235" y="8557"/>
                    <a:pt x="16235" y="10223"/>
                  </a:cubicBezTo>
                  <a:lnTo>
                    <a:pt x="16235" y="16234"/>
                  </a:lnTo>
                  <a:cubicBezTo>
                    <a:pt x="16235" y="16544"/>
                    <a:pt x="15985" y="16793"/>
                    <a:pt x="15676" y="16793"/>
                  </a:cubicBezTo>
                  <a:lnTo>
                    <a:pt x="13441" y="16793"/>
                  </a:lnTo>
                  <a:cubicBezTo>
                    <a:pt x="13133" y="16793"/>
                    <a:pt x="12884" y="16544"/>
                    <a:pt x="12884" y="16234"/>
                  </a:cubicBezTo>
                  <a:lnTo>
                    <a:pt x="12884" y="11209"/>
                  </a:lnTo>
                  <a:cubicBezTo>
                    <a:pt x="12884" y="10593"/>
                    <a:pt x="12382" y="10091"/>
                    <a:pt x="11766" y="10091"/>
                  </a:cubicBezTo>
                  <a:cubicBezTo>
                    <a:pt x="11150" y="10091"/>
                    <a:pt x="10650" y="10593"/>
                    <a:pt x="10650" y="11209"/>
                  </a:cubicBezTo>
                  <a:lnTo>
                    <a:pt x="10650" y="16234"/>
                  </a:lnTo>
                  <a:cubicBezTo>
                    <a:pt x="10650" y="16544"/>
                    <a:pt x="10399" y="16793"/>
                    <a:pt x="10091" y="16793"/>
                  </a:cubicBezTo>
                  <a:lnTo>
                    <a:pt x="7857" y="16793"/>
                  </a:lnTo>
                  <a:cubicBezTo>
                    <a:pt x="7547" y="16793"/>
                    <a:pt x="7298" y="16544"/>
                    <a:pt x="7298" y="16234"/>
                  </a:cubicBezTo>
                  <a:lnTo>
                    <a:pt x="7298" y="7299"/>
                  </a:lnTo>
                  <a:cubicBezTo>
                    <a:pt x="7298" y="6989"/>
                    <a:pt x="7547" y="6740"/>
                    <a:pt x="7857" y="6740"/>
                  </a:cubicBezTo>
                  <a:lnTo>
                    <a:pt x="10091" y="6740"/>
                  </a:lnTo>
                  <a:cubicBezTo>
                    <a:pt x="10377" y="6740"/>
                    <a:pt x="10613" y="6956"/>
                    <a:pt x="10644" y="7234"/>
                  </a:cubicBezTo>
                  <a:cubicBezTo>
                    <a:pt x="11219" y="6901"/>
                    <a:pt x="11901" y="6721"/>
                    <a:pt x="12596" y="6721"/>
                  </a:cubicBezTo>
                  <a:close/>
                  <a:moveTo>
                    <a:pt x="2831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31" y="19065"/>
                  </a:cubicBezTo>
                  <a:lnTo>
                    <a:pt x="16235" y="19065"/>
                  </a:lnTo>
                  <a:cubicBezTo>
                    <a:pt x="17774" y="19065"/>
                    <a:pt x="19065" y="17775"/>
                    <a:pt x="19065" y="16234"/>
                  </a:cubicBezTo>
                  <a:lnTo>
                    <a:pt x="19065" y="2831"/>
                  </a:lnTo>
                  <a:cubicBezTo>
                    <a:pt x="19065" y="1290"/>
                    <a:pt x="17774" y="0"/>
                    <a:pt x="162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73" name="Google Shape;1573;p123"/>
            <p:cNvSpPr/>
            <p:nvPr/>
          </p:nvSpPr>
          <p:spPr>
            <a:xfrm>
              <a:off x="1555413" y="1886846"/>
              <a:ext cx="139912" cy="163558"/>
            </a:xfrm>
            <a:custGeom>
              <a:avLst/>
              <a:gdLst/>
              <a:ahLst/>
              <a:cxnLst/>
              <a:rect l="l" t="t" r="r" b="b"/>
              <a:pathLst>
                <a:path w="6704" h="7837" extrusionOk="0">
                  <a:moveTo>
                    <a:pt x="4182" y="0"/>
                  </a:moveTo>
                  <a:cubicBezTo>
                    <a:pt x="3474" y="0"/>
                    <a:pt x="2782" y="261"/>
                    <a:pt x="2332" y="711"/>
                  </a:cubicBezTo>
                  <a:cubicBezTo>
                    <a:pt x="2108" y="935"/>
                    <a:pt x="1938" y="1142"/>
                    <a:pt x="1686" y="1142"/>
                  </a:cubicBezTo>
                  <a:cubicBezTo>
                    <a:pt x="1618" y="1142"/>
                    <a:pt x="1544" y="1127"/>
                    <a:pt x="1462" y="1093"/>
                  </a:cubicBezTo>
                  <a:cubicBezTo>
                    <a:pt x="1253" y="1006"/>
                    <a:pt x="1117" y="803"/>
                    <a:pt x="1117" y="576"/>
                  </a:cubicBezTo>
                  <a:lnTo>
                    <a:pt x="1117" y="17"/>
                  </a:lnTo>
                  <a:lnTo>
                    <a:pt x="1" y="17"/>
                  </a:lnTo>
                  <a:lnTo>
                    <a:pt x="1" y="7836"/>
                  </a:lnTo>
                  <a:lnTo>
                    <a:pt x="1117" y="7836"/>
                  </a:lnTo>
                  <a:lnTo>
                    <a:pt x="1117" y="3370"/>
                  </a:lnTo>
                  <a:cubicBezTo>
                    <a:pt x="1117" y="2137"/>
                    <a:pt x="2120" y="1135"/>
                    <a:pt x="3351" y="1135"/>
                  </a:cubicBezTo>
                  <a:cubicBezTo>
                    <a:pt x="4584" y="1135"/>
                    <a:pt x="5585" y="2137"/>
                    <a:pt x="5585" y="3370"/>
                  </a:cubicBezTo>
                  <a:lnTo>
                    <a:pt x="5585" y="7836"/>
                  </a:lnTo>
                  <a:lnTo>
                    <a:pt x="6703" y="7836"/>
                  </a:lnTo>
                  <a:lnTo>
                    <a:pt x="6703" y="2384"/>
                  </a:lnTo>
                  <a:cubicBezTo>
                    <a:pt x="6703" y="1266"/>
                    <a:pt x="5932" y="245"/>
                    <a:pt x="4648" y="38"/>
                  </a:cubicBezTo>
                  <a:cubicBezTo>
                    <a:pt x="4493" y="13"/>
                    <a:pt x="4337" y="0"/>
                    <a:pt x="41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74" name="Google Shape;1574;p123"/>
            <p:cNvSpPr/>
            <p:nvPr/>
          </p:nvSpPr>
          <p:spPr>
            <a:xfrm>
              <a:off x="1462169" y="1887200"/>
              <a:ext cx="23354" cy="163203"/>
            </a:xfrm>
            <a:custGeom>
              <a:avLst/>
              <a:gdLst/>
              <a:ahLst/>
              <a:cxnLst/>
              <a:rect l="l" t="t" r="r" b="b"/>
              <a:pathLst>
                <a:path w="1119" h="7820" extrusionOk="0">
                  <a:moveTo>
                    <a:pt x="0" y="0"/>
                  </a:moveTo>
                  <a:lnTo>
                    <a:pt x="0" y="7819"/>
                  </a:lnTo>
                  <a:lnTo>
                    <a:pt x="1118" y="7819"/>
                  </a:lnTo>
                  <a:lnTo>
                    <a:pt x="1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575" name="Google Shape;1575;p123"/>
          <p:cNvGrpSpPr/>
          <p:nvPr/>
        </p:nvGrpSpPr>
        <p:grpSpPr>
          <a:xfrm>
            <a:off x="3721699" y="2876803"/>
            <a:ext cx="458747" cy="458684"/>
            <a:chOff x="266768" y="1721375"/>
            <a:chExt cx="397907" cy="397887"/>
          </a:xfrm>
        </p:grpSpPr>
        <p:sp>
          <p:nvSpPr>
            <p:cNvPr id="1576" name="Google Shape;1576;p123"/>
            <p:cNvSpPr/>
            <p:nvPr/>
          </p:nvSpPr>
          <p:spPr>
            <a:xfrm>
              <a:off x="454843" y="1791037"/>
              <a:ext cx="136218" cy="328222"/>
            </a:xfrm>
            <a:custGeom>
              <a:avLst/>
              <a:gdLst/>
              <a:ahLst/>
              <a:cxnLst/>
              <a:rect l="l" t="t" r="r" b="b"/>
              <a:pathLst>
                <a:path w="6527" h="15727" extrusionOk="0">
                  <a:moveTo>
                    <a:pt x="4957" y="1"/>
                  </a:moveTo>
                  <a:cubicBezTo>
                    <a:pt x="4645" y="1"/>
                    <a:pt x="4336" y="24"/>
                    <a:pt x="4028" y="69"/>
                  </a:cubicBezTo>
                  <a:cubicBezTo>
                    <a:pt x="2588" y="280"/>
                    <a:pt x="1700" y="890"/>
                    <a:pt x="1675" y="2250"/>
                  </a:cubicBezTo>
                  <a:lnTo>
                    <a:pt x="1675" y="5040"/>
                  </a:lnTo>
                  <a:cubicBezTo>
                    <a:pt x="1675" y="5348"/>
                    <a:pt x="1426" y="5599"/>
                    <a:pt x="1118" y="5599"/>
                  </a:cubicBezTo>
                  <a:lnTo>
                    <a:pt x="0" y="5599"/>
                  </a:lnTo>
                  <a:lnTo>
                    <a:pt x="0" y="6715"/>
                  </a:lnTo>
                  <a:lnTo>
                    <a:pt x="1118" y="6715"/>
                  </a:lnTo>
                  <a:cubicBezTo>
                    <a:pt x="1426" y="6715"/>
                    <a:pt x="1675" y="6965"/>
                    <a:pt x="1675" y="7274"/>
                  </a:cubicBezTo>
                  <a:lnTo>
                    <a:pt x="1675" y="15727"/>
                  </a:lnTo>
                  <a:lnTo>
                    <a:pt x="3352" y="15727"/>
                  </a:lnTo>
                  <a:lnTo>
                    <a:pt x="3352" y="7274"/>
                  </a:lnTo>
                  <a:cubicBezTo>
                    <a:pt x="3352" y="6965"/>
                    <a:pt x="3602" y="6715"/>
                    <a:pt x="3910" y="6715"/>
                  </a:cubicBezTo>
                  <a:lnTo>
                    <a:pt x="5709" y="6715"/>
                  </a:lnTo>
                  <a:lnTo>
                    <a:pt x="5987" y="5599"/>
                  </a:lnTo>
                  <a:lnTo>
                    <a:pt x="3910" y="5599"/>
                  </a:lnTo>
                  <a:cubicBezTo>
                    <a:pt x="3602" y="5599"/>
                    <a:pt x="3352" y="5348"/>
                    <a:pt x="3352" y="5040"/>
                  </a:cubicBezTo>
                  <a:lnTo>
                    <a:pt x="3352" y="3253"/>
                  </a:lnTo>
                  <a:cubicBezTo>
                    <a:pt x="3352" y="2316"/>
                    <a:pt x="3942" y="1677"/>
                    <a:pt x="4968" y="1504"/>
                  </a:cubicBezTo>
                  <a:cubicBezTo>
                    <a:pt x="5157" y="1473"/>
                    <a:pt x="5339" y="1460"/>
                    <a:pt x="5511" y="1460"/>
                  </a:cubicBezTo>
                  <a:cubicBezTo>
                    <a:pt x="5810" y="1460"/>
                    <a:pt x="6082" y="1498"/>
                    <a:pt x="6324" y="1546"/>
                  </a:cubicBezTo>
                  <a:lnTo>
                    <a:pt x="6526" y="182"/>
                  </a:lnTo>
                  <a:cubicBezTo>
                    <a:pt x="5988" y="62"/>
                    <a:pt x="5468" y="1"/>
                    <a:pt x="495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77" name="Google Shape;1577;p123"/>
            <p:cNvSpPr/>
            <p:nvPr/>
          </p:nvSpPr>
          <p:spPr>
            <a:xfrm>
              <a:off x="266768" y="1721375"/>
              <a:ext cx="397907" cy="397887"/>
            </a:xfrm>
            <a:custGeom>
              <a:avLst/>
              <a:gdLst/>
              <a:ahLst/>
              <a:cxnLst/>
              <a:rect l="l" t="t" r="r" b="b"/>
              <a:pathLst>
                <a:path w="19066" h="19065" extrusionOk="0">
                  <a:moveTo>
                    <a:pt x="2794" y="0"/>
                  </a:moveTo>
                  <a:cubicBezTo>
                    <a:pt x="1255" y="0"/>
                    <a:pt x="1" y="1253"/>
                    <a:pt x="1" y="2793"/>
                  </a:cubicBezTo>
                  <a:lnTo>
                    <a:pt x="1" y="16271"/>
                  </a:lnTo>
                  <a:cubicBezTo>
                    <a:pt x="1" y="17812"/>
                    <a:pt x="1255" y="19065"/>
                    <a:pt x="2794" y="19065"/>
                  </a:cubicBezTo>
                  <a:lnTo>
                    <a:pt x="9571" y="19065"/>
                  </a:lnTo>
                  <a:lnTo>
                    <a:pt x="9571" y="11171"/>
                  </a:lnTo>
                  <a:lnTo>
                    <a:pt x="8453" y="11171"/>
                  </a:lnTo>
                  <a:cubicBezTo>
                    <a:pt x="8145" y="11171"/>
                    <a:pt x="7896" y="10920"/>
                    <a:pt x="7896" y="10612"/>
                  </a:cubicBezTo>
                  <a:lnTo>
                    <a:pt x="7896" y="8378"/>
                  </a:lnTo>
                  <a:cubicBezTo>
                    <a:pt x="7896" y="8070"/>
                    <a:pt x="8145" y="7819"/>
                    <a:pt x="8453" y="7819"/>
                  </a:cubicBezTo>
                  <a:lnTo>
                    <a:pt x="9571" y="7819"/>
                  </a:lnTo>
                  <a:lnTo>
                    <a:pt x="9571" y="5836"/>
                  </a:lnTo>
                  <a:cubicBezTo>
                    <a:pt x="9571" y="3710"/>
                    <a:pt x="10741" y="2615"/>
                    <a:pt x="12878" y="2302"/>
                  </a:cubicBezTo>
                  <a:cubicBezTo>
                    <a:pt x="13231" y="2249"/>
                    <a:pt x="13591" y="2223"/>
                    <a:pt x="13956" y="2223"/>
                  </a:cubicBezTo>
                  <a:cubicBezTo>
                    <a:pt x="14725" y="2223"/>
                    <a:pt x="15517" y="2339"/>
                    <a:pt x="16318" y="2567"/>
                  </a:cubicBezTo>
                  <a:cubicBezTo>
                    <a:pt x="16589" y="2643"/>
                    <a:pt x="16759" y="2908"/>
                    <a:pt x="16718" y="3186"/>
                  </a:cubicBezTo>
                  <a:lnTo>
                    <a:pt x="16352" y="5650"/>
                  </a:lnTo>
                  <a:cubicBezTo>
                    <a:pt x="16329" y="5806"/>
                    <a:pt x="16240" y="5944"/>
                    <a:pt x="16111" y="6031"/>
                  </a:cubicBezTo>
                  <a:cubicBezTo>
                    <a:pt x="16006" y="6102"/>
                    <a:pt x="15912" y="6127"/>
                    <a:pt x="15818" y="6127"/>
                  </a:cubicBezTo>
                  <a:cubicBezTo>
                    <a:pt x="15717" y="6127"/>
                    <a:pt x="15614" y="6098"/>
                    <a:pt x="15494" y="6068"/>
                  </a:cubicBezTo>
                  <a:cubicBezTo>
                    <a:pt x="15202" y="5995"/>
                    <a:pt x="14879" y="5914"/>
                    <a:pt x="14527" y="5914"/>
                  </a:cubicBezTo>
                  <a:cubicBezTo>
                    <a:pt x="14409" y="5914"/>
                    <a:pt x="14289" y="5923"/>
                    <a:pt x="14165" y="5944"/>
                  </a:cubicBezTo>
                  <a:cubicBezTo>
                    <a:pt x="13534" y="6050"/>
                    <a:pt x="13481" y="6333"/>
                    <a:pt x="13481" y="6590"/>
                  </a:cubicBezTo>
                  <a:lnTo>
                    <a:pt x="13481" y="7819"/>
                  </a:lnTo>
                  <a:lnTo>
                    <a:pt x="15715" y="7819"/>
                  </a:lnTo>
                  <a:cubicBezTo>
                    <a:pt x="15887" y="7819"/>
                    <a:pt x="16048" y="7899"/>
                    <a:pt x="16154" y="8035"/>
                  </a:cubicBezTo>
                  <a:cubicBezTo>
                    <a:pt x="16260" y="8169"/>
                    <a:pt x="16297" y="8346"/>
                    <a:pt x="16256" y="8513"/>
                  </a:cubicBezTo>
                  <a:lnTo>
                    <a:pt x="15697" y="10747"/>
                  </a:lnTo>
                  <a:cubicBezTo>
                    <a:pt x="15635" y="10996"/>
                    <a:pt x="15412" y="11170"/>
                    <a:pt x="15156" y="11170"/>
                  </a:cubicBezTo>
                  <a:lnTo>
                    <a:pt x="13481" y="11170"/>
                  </a:lnTo>
                  <a:lnTo>
                    <a:pt x="13481" y="19065"/>
                  </a:lnTo>
                  <a:lnTo>
                    <a:pt x="16272" y="19065"/>
                  </a:lnTo>
                  <a:cubicBezTo>
                    <a:pt x="17813" y="19065"/>
                    <a:pt x="19066" y="17810"/>
                    <a:pt x="19066" y="16271"/>
                  </a:cubicBezTo>
                  <a:lnTo>
                    <a:pt x="19066" y="2793"/>
                  </a:lnTo>
                  <a:cubicBezTo>
                    <a:pt x="19066" y="1253"/>
                    <a:pt x="17813" y="0"/>
                    <a:pt x="16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578" name="Google Shape;1578;p123"/>
          <p:cNvGrpSpPr/>
          <p:nvPr/>
        </p:nvGrpSpPr>
        <p:grpSpPr>
          <a:xfrm>
            <a:off x="4350135" y="2876803"/>
            <a:ext cx="458699" cy="458684"/>
            <a:chOff x="864491" y="1723250"/>
            <a:chExt cx="397866" cy="397887"/>
          </a:xfrm>
        </p:grpSpPr>
        <p:sp>
          <p:nvSpPr>
            <p:cNvPr id="1579" name="Google Shape;1579;p123"/>
            <p:cNvSpPr/>
            <p:nvPr/>
          </p:nvSpPr>
          <p:spPr>
            <a:xfrm>
              <a:off x="935197" y="179397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80" name="Google Shape;1580;p123"/>
            <p:cNvSpPr/>
            <p:nvPr/>
          </p:nvSpPr>
          <p:spPr>
            <a:xfrm>
              <a:off x="1005109" y="186391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81" name="Google Shape;1581;p123"/>
            <p:cNvSpPr/>
            <p:nvPr/>
          </p:nvSpPr>
          <p:spPr>
            <a:xfrm>
              <a:off x="864491" y="172325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Minimalist Business Slides XL by Slidesgo">
  <a:themeElements>
    <a:clrScheme name="Simple Light">
      <a:dk1>
        <a:srgbClr val="000000"/>
      </a:dk1>
      <a:lt1>
        <a:srgbClr val="F5F2EE"/>
      </a:lt1>
      <a:dk2>
        <a:srgbClr val="000000"/>
      </a:dk2>
      <a:lt2>
        <a:srgbClr val="EEEEEE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2932</TotalTime>
  <Words>818</Words>
  <Application>Microsoft Office PowerPoint</Application>
  <PresentationFormat>On-screen Show (16:9)</PresentationFormat>
  <Paragraphs>98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Open Sans</vt:lpstr>
      <vt:lpstr>Vidaloka</vt:lpstr>
      <vt:lpstr>Montserrat</vt:lpstr>
      <vt:lpstr>Cambria Math</vt:lpstr>
      <vt:lpstr>Minimalist Business Slides XL by Slidesgo</vt:lpstr>
      <vt:lpstr>BINFO1 M2  Repte Fonaments de computadors</vt:lpstr>
      <vt:lpstr>Esquema</vt:lpstr>
      <vt:lpstr>Esquema</vt:lpstr>
      <vt:lpstr>Sistema de reg</vt:lpstr>
      <vt:lpstr>Sistema de reg</vt:lpstr>
      <vt:lpstr>Components</vt:lpstr>
      <vt:lpstr>Rellotge intern </vt:lpstr>
      <vt:lpstr>Rellotge</vt:lpstr>
      <vt:lpstr>Sistema de reg</vt:lpstr>
      <vt:lpstr>Sistema de reg programat</vt:lpstr>
      <vt:lpstr>Lògica de control</vt:lpstr>
      <vt:lpstr>Lògica de control</vt:lpstr>
      <vt:lpstr>Sistema de control de temperatura i humitat</vt:lpstr>
      <vt:lpstr>Sistema de control de temperatura i humitat</vt:lpstr>
      <vt:lpstr>Sistema de control de temperatura i humitat</vt:lpstr>
      <vt:lpstr>Sistema de control de temperatura i humitat</vt:lpstr>
      <vt:lpstr>Sistema de control de temperatura i humitat</vt:lpstr>
      <vt:lpstr>Sistema de control de temperatura i humitat</vt:lpstr>
      <vt:lpstr>Sistema de control de temperatura i humitat</vt:lpstr>
      <vt:lpstr>Sistema de control de temperatura i humitat</vt:lpstr>
      <vt:lpstr>Sistema d’avisos</vt:lpstr>
      <vt:lpstr>Sistema d’avisos</vt:lpstr>
      <vt:lpstr>Sistema d’avisos (SIM)</vt:lpstr>
      <vt:lpstr>Gràcies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BINFO1 M2  Repte Fonaments de computadors</dc:title>
  <dc:creator>Andormix</dc:creator>
  <cp:lastModifiedBy>Arthas Menethil</cp:lastModifiedBy>
  <cp:revision>43</cp:revision>
  <dcterms:modified xsi:type="dcterms:W3CDTF">2023-01-22T20:37:05Z</dcterms:modified>
</cp:coreProperties>
</file>