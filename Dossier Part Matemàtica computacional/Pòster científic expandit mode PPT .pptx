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3"/>
  </p:notesMasterIdLst>
  <p:sldIdLst>
    <p:sldId id="346" r:id="rId2"/>
    <p:sldId id="391" r:id="rId3"/>
    <p:sldId id="400" r:id="rId4"/>
    <p:sldId id="389" r:id="rId5"/>
    <p:sldId id="390" r:id="rId6"/>
    <p:sldId id="408" r:id="rId7"/>
    <p:sldId id="399" r:id="rId8"/>
    <p:sldId id="401" r:id="rId9"/>
    <p:sldId id="418" r:id="rId10"/>
    <p:sldId id="388" r:id="rId11"/>
    <p:sldId id="387" r:id="rId12"/>
    <p:sldId id="419" r:id="rId13"/>
    <p:sldId id="403" r:id="rId14"/>
    <p:sldId id="405" r:id="rId15"/>
    <p:sldId id="406" r:id="rId16"/>
    <p:sldId id="409" r:id="rId17"/>
    <p:sldId id="407" r:id="rId18"/>
    <p:sldId id="410" r:id="rId19"/>
    <p:sldId id="413" r:id="rId20"/>
    <p:sldId id="348" r:id="rId21"/>
    <p:sldId id="416" r:id="rId22"/>
    <p:sldId id="429" r:id="rId23"/>
    <p:sldId id="427" r:id="rId24"/>
    <p:sldId id="430" r:id="rId25"/>
    <p:sldId id="431" r:id="rId26"/>
    <p:sldId id="432" r:id="rId27"/>
    <p:sldId id="433" r:id="rId28"/>
    <p:sldId id="434" r:id="rId29"/>
    <p:sldId id="435" r:id="rId30"/>
    <p:sldId id="411" r:id="rId31"/>
    <p:sldId id="320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  <p:embeddedFont>
      <p:font typeface="Vidaloka" panose="020B0604020202020204" charset="0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thas Menethil" initials="AM" lastIdx="1" clrIdx="0">
    <p:extLst>
      <p:ext uri="{19B8F6BF-5375-455C-9EA6-DF929625EA0E}">
        <p15:presenceInfo xmlns:p15="http://schemas.microsoft.com/office/powerpoint/2012/main" userId="4f0ba2a323a7ba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D1D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4363CB-7A51-478F-B3E0-03CDD63C1755}">
  <a:tblStyle styleId="{284363CB-7A51-478F-B3E0-03CDD63C17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0584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995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341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07aaa41f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07aaa41f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6527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07aaa41f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07aaa41f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8287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334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5643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7929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0204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874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2693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107aaa41fe9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107aaa41fe9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1912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5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8518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5893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936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625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120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6685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0584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4461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3550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725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18916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836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60745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94570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24108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81224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81224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cf7a3c503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cf7a3c503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3" r:id="rId5"/>
    <p:sldLayoutId id="2147483668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eo.ad/climatologi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228600" y="1378526"/>
            <a:ext cx="7875475" cy="14998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BR" sz="5400" dirty="0"/>
              <a:t>BINFO1 M2 </a:t>
            </a:r>
            <a:br>
              <a:rPr lang="pt-BR" sz="5400" dirty="0"/>
            </a:br>
            <a:r>
              <a:rPr lang="pt-BR" sz="3200" dirty="0"/>
              <a:t>Repte Fonaments de computadors</a:t>
            </a:r>
            <a:endParaRPr lang="pt-BR" sz="5400"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40000" y="2982247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Alumne: Eric Torrontera Ruiz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Google Shape;483;p59">
            <a:extLst>
              <a:ext uri="{FF2B5EF4-FFF2-40B4-BE49-F238E27FC236}">
                <a16:creationId xmlns:a16="http://schemas.microsoft.com/office/drawing/2014/main" id="{C59761A6-8A0F-3EFC-2B7C-4BDA854D7EF2}"/>
              </a:ext>
            </a:extLst>
          </p:cNvPr>
          <p:cNvSpPr txBox="1">
            <a:spLocks/>
          </p:cNvSpPr>
          <p:nvPr/>
        </p:nvSpPr>
        <p:spPr>
          <a:xfrm>
            <a:off x="1040005" y="3349393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ca-ES" dirty="0">
                <a:solidFill>
                  <a:schemeClr val="dk1"/>
                </a:solidFill>
              </a:rPr>
              <a:t>Professorat: </a:t>
            </a:r>
            <a:r>
              <a:rPr lang="en-US" dirty="0"/>
              <a:t>Yolanda Colom, Lorena Jordana, Miquel Viladrich </a:t>
            </a:r>
          </a:p>
        </p:txBody>
      </p:sp>
    </p:spTree>
    <p:extLst>
      <p:ext uri="{BB962C8B-B14F-4D97-AF65-F5344CB8AC3E}">
        <p14:creationId xmlns:p14="http://schemas.microsoft.com/office/powerpoint/2010/main" val="363746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Disseny del problema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8EE793F8-4C87-A108-8A61-58B7A8A33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777" y="1729324"/>
            <a:ext cx="4254334" cy="28350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Google Shape;546;p65">
            <a:extLst>
              <a:ext uri="{FF2B5EF4-FFF2-40B4-BE49-F238E27FC236}">
                <a16:creationId xmlns:a16="http://schemas.microsoft.com/office/drawing/2014/main" id="{D0F356AA-A144-74CD-80DB-7416EBF37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040" y="1163185"/>
            <a:ext cx="806106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Per a fer el cas d'un hipotètic comprador que vol contractar els nostres serveis he dissenyat una finca fictícia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05712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-630150" y="61491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Espais de la finca</a:t>
            </a:r>
          </a:p>
        </p:txBody>
      </p:sp>
      <p:sp>
        <p:nvSpPr>
          <p:cNvPr id="5" name="Google Shape;546;p65">
            <a:extLst>
              <a:ext uri="{FF2B5EF4-FFF2-40B4-BE49-F238E27FC236}">
                <a16:creationId xmlns:a16="http://schemas.microsoft.com/office/drawing/2014/main" id="{D0F356AA-A144-74CD-80DB-7416EBF37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040" y="1211676"/>
            <a:ext cx="806106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Delimitem la superfície de cada espai.</a:t>
            </a:r>
            <a:endParaRPr lang="ca-ES" dirty="0"/>
          </a:p>
        </p:txBody>
      </p:sp>
      <p:pic>
        <p:nvPicPr>
          <p:cNvPr id="2" name="Imagen 43">
            <a:extLst>
              <a:ext uri="{FF2B5EF4-FFF2-40B4-BE49-F238E27FC236}">
                <a16:creationId xmlns:a16="http://schemas.microsoft.com/office/drawing/2014/main" id="{278E29DD-4F38-7EC8-5EAE-C5B57E573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02" y="1677983"/>
            <a:ext cx="4103863" cy="28506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445862-5694-880D-E043-EF2588C4B9C8}"/>
                  </a:ext>
                </a:extLst>
              </p:cNvPr>
              <p:cNvSpPr txBox="1"/>
              <p:nvPr/>
            </p:nvSpPr>
            <p:spPr>
              <a:xfrm>
                <a:off x="5320227" y="1982588"/>
                <a:ext cx="382377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1=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𝑍𝑜𝑛𝑎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𝑎𝑟𝑏𝑟𝑒𝑠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𝑓𝑟𝑢𝑖𝑡𝑒𝑟𝑠</m:t>
                      </m:r>
                      <m:r>
                        <a:rPr lang="en-U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=9744.7</m:t>
                      </m:r>
                      <m:sSup>
                        <m:sSupPr>
                          <m:ctrlPr>
                            <a:rPr lang="en-US" sz="1200" b="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ca-ES" sz="12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 =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𝑍𝑜𝑛𝑎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𝑟𝑒𝑐𝑜𝑙𝑙𝑖𝑑𝑎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𝑑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’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𝑎𝑖𝑔𝑢𝑎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𝑑𝑒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𝑝𝑙𝑢𝑗𝑎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27.56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 =</m:t>
                      </m:r>
                      <m:r>
                        <a:rPr lang="en-US" sz="1200" b="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𝐻𝑜𝑟𝑡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=8.171.77</m:t>
                      </m:r>
                      <m:sSup>
                        <m:sSupPr>
                          <m:ctrlP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</m:t>
                      </m:r>
                    </m:oMath>
                  </m:oMathPara>
                </a14:m>
                <a:endParaRPr lang="ca-ES" sz="12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  = 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𝐽𝑎𝑟𝑑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í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𝑒𝑥𝑡𝑒𝑟𝑖𝑜𝑟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= 12.938.20</m:t>
                      </m:r>
                      <m:sSup>
                        <m:sSupPr>
                          <m:ctrlP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5 = 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𝐶𝑎𝑠𝑎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+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𝑃𝑎𝑟𝑡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𝐽𝐸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= 1416 </m:t>
                      </m:r>
                      <m:sSup>
                        <m:sSupPr>
                          <m:ctrlP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sz="12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𝐴𝑇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= 33.998.23</m:t>
                      </m:r>
                      <m:sSup>
                        <m:sSupPr>
                          <m:ctrlP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</m:t>
                      </m:r>
                    </m:oMath>
                  </m:oMathPara>
                </a14:m>
                <a:endParaRPr lang="ca-ES" sz="12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445862-5694-880D-E043-EF2588C4B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227" y="1982588"/>
                <a:ext cx="3823773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ED7443A-2CCA-35A5-0F97-02DDF5E4BA70}"/>
              </a:ext>
            </a:extLst>
          </p:cNvPr>
          <p:cNvSpPr txBox="1"/>
          <p:nvPr/>
        </p:nvSpPr>
        <p:spPr>
          <a:xfrm>
            <a:off x="5205927" y="3419127"/>
            <a:ext cx="35951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400" b="1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Problema d’optimització (Casa)</a:t>
            </a:r>
          </a:p>
          <a:p>
            <a:endParaRPr lang="ca-ES" sz="14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r>
              <a:rPr lang="ca-ES" sz="14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En la Z5 e</a:t>
            </a:r>
            <a:r>
              <a:rPr lang="ca-ES" sz="1400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s vol construir una casa rectangular amb la màxima àrea possible: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8ED77-ECEF-57F3-14B3-2EBBE345B0F7}"/>
              </a:ext>
            </a:extLst>
          </p:cNvPr>
          <p:cNvSpPr txBox="1"/>
          <p:nvPr/>
        </p:nvSpPr>
        <p:spPr>
          <a:xfrm>
            <a:off x="5320227" y="1677983"/>
            <a:ext cx="5002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400" b="1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Mesures</a:t>
            </a:r>
          </a:p>
        </p:txBody>
      </p:sp>
    </p:spTree>
    <p:extLst>
      <p:ext uri="{BB962C8B-B14F-4D97-AF65-F5344CB8AC3E}">
        <p14:creationId xmlns:p14="http://schemas.microsoft.com/office/powerpoint/2010/main" val="323412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7FBCD-C3DA-CA36-2D93-0CEFE338BB06}"/>
              </a:ext>
            </a:extLst>
          </p:cNvPr>
          <p:cNvCxnSpPr>
            <a:cxnSpLocks/>
          </p:cNvCxnSpPr>
          <p:nvPr/>
        </p:nvCxnSpPr>
        <p:spPr>
          <a:xfrm flipV="1">
            <a:off x="4014415" y="3019642"/>
            <a:ext cx="2195945" cy="1068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8F1DE0-7A98-C262-E4A1-B4EC4CF803BB}"/>
              </a:ext>
            </a:extLst>
          </p:cNvPr>
          <p:cNvCxnSpPr>
            <a:cxnSpLocks/>
          </p:cNvCxnSpPr>
          <p:nvPr/>
        </p:nvCxnSpPr>
        <p:spPr>
          <a:xfrm>
            <a:off x="3993633" y="4094983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CE6A2F-9F49-EF80-10E8-AB7D943DF6E3}"/>
              </a:ext>
            </a:extLst>
          </p:cNvPr>
          <p:cNvCxnSpPr>
            <a:cxnSpLocks/>
          </p:cNvCxnSpPr>
          <p:nvPr/>
        </p:nvCxnSpPr>
        <p:spPr>
          <a:xfrm>
            <a:off x="6187480" y="3019642"/>
            <a:ext cx="958063" cy="107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74FD0D-A6E0-5B51-B3D9-E8328E5309E4}"/>
              </a:ext>
            </a:extLst>
          </p:cNvPr>
          <p:cNvCxnSpPr>
            <a:cxnSpLocks/>
          </p:cNvCxnSpPr>
          <p:nvPr/>
        </p:nvCxnSpPr>
        <p:spPr>
          <a:xfrm flipV="1">
            <a:off x="5112387" y="3542250"/>
            <a:ext cx="0" cy="5388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54B145-6413-037F-596A-DB1BFE11D120}"/>
              </a:ext>
            </a:extLst>
          </p:cNvPr>
          <p:cNvCxnSpPr>
            <a:cxnSpLocks/>
          </p:cNvCxnSpPr>
          <p:nvPr/>
        </p:nvCxnSpPr>
        <p:spPr>
          <a:xfrm>
            <a:off x="5112387" y="3553849"/>
            <a:ext cx="15506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2B6BA4-9216-189B-A8D1-F62AE24C71E2}"/>
              </a:ext>
            </a:extLst>
          </p:cNvPr>
          <p:cNvCxnSpPr>
            <a:cxnSpLocks/>
          </p:cNvCxnSpPr>
          <p:nvPr/>
        </p:nvCxnSpPr>
        <p:spPr>
          <a:xfrm flipV="1">
            <a:off x="6663048" y="3553849"/>
            <a:ext cx="0" cy="5272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Google Shape;495;p61">
                <a:extLst>
                  <a:ext uri="{FF2B5EF4-FFF2-40B4-BE49-F238E27FC236}">
                    <a16:creationId xmlns:a16="http://schemas.microsoft.com/office/drawing/2014/main" id="{154D8F63-2402-EBDF-8C88-FF73AE5388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8276" y="2474087"/>
                <a:ext cx="4816004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𝐺𝐹</m:t>
                            </m:r>
                          </m:e>
                        </m:acc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1.07 −3.9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+(6.15−5.17)</m:t>
                        </m:r>
                      </m:e>
                    </m:rad>
                  </m:oMath>
                </a14:m>
                <a:r>
                  <a:rPr lang="en-US" dirty="0"/>
                  <a:t> = 127.67m (base)</a:t>
                </a:r>
              </a:p>
            </p:txBody>
          </p:sp>
        </mc:Choice>
        <mc:Fallback xmlns="">
          <p:sp>
            <p:nvSpPr>
              <p:cNvPr id="30" name="Google Shape;495;p61">
                <a:extLst>
                  <a:ext uri="{FF2B5EF4-FFF2-40B4-BE49-F238E27FC236}">
                    <a16:creationId xmlns:a16="http://schemas.microsoft.com/office/drawing/2014/main" id="{154D8F63-2402-EBDF-8C88-FF73AE538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76" y="2474087"/>
                <a:ext cx="4816004" cy="357000"/>
              </a:xfrm>
              <a:prstGeom prst="rect">
                <a:avLst/>
              </a:prstGeom>
              <a:blipFill>
                <a:blip r:embed="rId3"/>
                <a:stretch>
                  <a:fillRect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AEFFE2-850F-E9E4-383D-20480BEC96C0}"/>
              </a:ext>
            </a:extLst>
          </p:cNvPr>
          <p:cNvCxnSpPr>
            <a:cxnSpLocks/>
          </p:cNvCxnSpPr>
          <p:nvPr/>
        </p:nvCxnSpPr>
        <p:spPr>
          <a:xfrm>
            <a:off x="4063733" y="4168716"/>
            <a:ext cx="10486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D714F1-D27B-6202-07AA-236367220927}"/>
              </a:ext>
            </a:extLst>
          </p:cNvPr>
          <p:cNvCxnSpPr>
            <a:cxnSpLocks/>
          </p:cNvCxnSpPr>
          <p:nvPr/>
        </p:nvCxnSpPr>
        <p:spPr>
          <a:xfrm>
            <a:off x="6754547" y="4168716"/>
            <a:ext cx="47409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495;p61">
            <a:extLst>
              <a:ext uri="{FF2B5EF4-FFF2-40B4-BE49-F238E27FC236}">
                <a16:creationId xmlns:a16="http://schemas.microsoft.com/office/drawing/2014/main" id="{64041AE8-AF5B-A04B-616E-799B3132B44B}"/>
              </a:ext>
            </a:extLst>
          </p:cNvPr>
          <p:cNvSpPr txBox="1">
            <a:spLocks/>
          </p:cNvSpPr>
          <p:nvPr/>
        </p:nvSpPr>
        <p:spPr>
          <a:xfrm>
            <a:off x="5676751" y="4094983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x</a:t>
            </a:r>
          </a:p>
        </p:txBody>
      </p:sp>
      <p:sp>
        <p:nvSpPr>
          <p:cNvPr id="41" name="Google Shape;495;p61">
            <a:extLst>
              <a:ext uri="{FF2B5EF4-FFF2-40B4-BE49-F238E27FC236}">
                <a16:creationId xmlns:a16="http://schemas.microsoft.com/office/drawing/2014/main" id="{E90BA97F-54E6-9F25-0ABE-23C60CBA4CE6}"/>
              </a:ext>
            </a:extLst>
          </p:cNvPr>
          <p:cNvSpPr txBox="1">
            <a:spLocks/>
          </p:cNvSpPr>
          <p:nvPr/>
        </p:nvSpPr>
        <p:spPr>
          <a:xfrm>
            <a:off x="4367633" y="4098693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z</a:t>
            </a:r>
          </a:p>
        </p:txBody>
      </p:sp>
      <p:sp>
        <p:nvSpPr>
          <p:cNvPr id="42" name="Google Shape;495;p61">
            <a:extLst>
              <a:ext uri="{FF2B5EF4-FFF2-40B4-BE49-F238E27FC236}">
                <a16:creationId xmlns:a16="http://schemas.microsoft.com/office/drawing/2014/main" id="{539C0435-4CE5-CA64-1B8B-663C725800B2}"/>
              </a:ext>
            </a:extLst>
          </p:cNvPr>
          <p:cNvSpPr txBox="1">
            <a:spLocks/>
          </p:cNvSpPr>
          <p:nvPr/>
        </p:nvSpPr>
        <p:spPr>
          <a:xfrm>
            <a:off x="5768196" y="4171856"/>
            <a:ext cx="2435345" cy="356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(127.67 – x – z)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193D31-408C-37F5-BDE6-3FFE2032DA5C}"/>
              </a:ext>
            </a:extLst>
          </p:cNvPr>
          <p:cNvCxnSpPr>
            <a:cxnSpLocks/>
          </p:cNvCxnSpPr>
          <p:nvPr/>
        </p:nvCxnSpPr>
        <p:spPr>
          <a:xfrm>
            <a:off x="5136552" y="4175643"/>
            <a:ext cx="15506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Google Shape;495;p61">
                <a:extLst>
                  <a:ext uri="{FF2B5EF4-FFF2-40B4-BE49-F238E27FC236}">
                    <a16:creationId xmlns:a16="http://schemas.microsoft.com/office/drawing/2014/main" id="{C24283A8-C681-9DAA-D89A-ED15440DE8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2827" y="1551602"/>
                <a:ext cx="2632377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1416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Google Shape;495;p61">
                <a:extLst>
                  <a:ext uri="{FF2B5EF4-FFF2-40B4-BE49-F238E27FC236}">
                    <a16:creationId xmlns:a16="http://schemas.microsoft.com/office/drawing/2014/main" id="{C24283A8-C681-9DAA-D89A-ED15440DE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827" y="1551602"/>
                <a:ext cx="2632377" cy="35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E3B793D-2119-26DA-1088-489CE64A6218}"/>
              </a:ext>
            </a:extLst>
          </p:cNvPr>
          <p:cNvCxnSpPr>
            <a:cxnSpLocks/>
          </p:cNvCxnSpPr>
          <p:nvPr/>
        </p:nvCxnSpPr>
        <p:spPr>
          <a:xfrm flipV="1">
            <a:off x="5237018" y="602682"/>
            <a:ext cx="0" cy="153791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495;p61">
            <a:extLst>
              <a:ext uri="{FF2B5EF4-FFF2-40B4-BE49-F238E27FC236}">
                <a16:creationId xmlns:a16="http://schemas.microsoft.com/office/drawing/2014/main" id="{C4470500-4997-469F-6163-1F864F023356}"/>
              </a:ext>
            </a:extLst>
          </p:cNvPr>
          <p:cNvSpPr txBox="1">
            <a:spLocks/>
          </p:cNvSpPr>
          <p:nvPr/>
        </p:nvSpPr>
        <p:spPr>
          <a:xfrm>
            <a:off x="5082717" y="943524"/>
            <a:ext cx="196695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h = 22.18m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DCBE900-AFAF-50C4-3E47-B30602B4183E}"/>
                  </a:ext>
                </a:extLst>
              </p:cNvPr>
              <p:cNvSpPr txBox="1"/>
              <p:nvPr/>
            </p:nvSpPr>
            <p:spPr>
              <a:xfrm>
                <a:off x="5559265" y="1363823"/>
                <a:ext cx="808683" cy="4076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DCBE900-AFAF-50C4-3E47-B30602B41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265" y="1363823"/>
                <a:ext cx="808683" cy="407612"/>
              </a:xfrm>
              <a:prstGeom prst="rect">
                <a:avLst/>
              </a:prstGeom>
              <a:blipFill>
                <a:blip r:embed="rId5"/>
                <a:stretch>
                  <a:fillRect l="-3759" t="-1493" r="-300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Google Shape;495;p61">
            <a:extLst>
              <a:ext uri="{FF2B5EF4-FFF2-40B4-BE49-F238E27FC236}">
                <a16:creationId xmlns:a16="http://schemas.microsoft.com/office/drawing/2014/main" id="{1BDFBE06-C5A5-5031-EE45-56425A8D3CBF}"/>
              </a:ext>
            </a:extLst>
          </p:cNvPr>
          <p:cNvSpPr txBox="1">
            <a:spLocks/>
          </p:cNvSpPr>
          <p:nvPr/>
        </p:nvSpPr>
        <p:spPr>
          <a:xfrm>
            <a:off x="407159" y="2068477"/>
            <a:ext cx="1453436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F (1.07, 6.15)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5E68AF5-F44F-F07C-1F91-F5BEC439E46A}"/>
              </a:ext>
            </a:extLst>
          </p:cNvPr>
          <p:cNvCxnSpPr>
            <a:cxnSpLocks/>
          </p:cNvCxnSpPr>
          <p:nvPr/>
        </p:nvCxnSpPr>
        <p:spPr>
          <a:xfrm flipV="1">
            <a:off x="1133877" y="868158"/>
            <a:ext cx="2195945" cy="1068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E9253FB-6A0F-FDAB-F2DA-5D24F9426741}"/>
              </a:ext>
            </a:extLst>
          </p:cNvPr>
          <p:cNvCxnSpPr>
            <a:cxnSpLocks/>
          </p:cNvCxnSpPr>
          <p:nvPr/>
        </p:nvCxnSpPr>
        <p:spPr>
          <a:xfrm>
            <a:off x="1113095" y="1943499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8A69777-D11E-0706-C04E-0D240C76BA05}"/>
              </a:ext>
            </a:extLst>
          </p:cNvPr>
          <p:cNvCxnSpPr>
            <a:cxnSpLocks/>
          </p:cNvCxnSpPr>
          <p:nvPr/>
        </p:nvCxnSpPr>
        <p:spPr>
          <a:xfrm>
            <a:off x="3306942" y="868158"/>
            <a:ext cx="958063" cy="107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Google Shape;495;p61">
            <a:extLst>
              <a:ext uri="{FF2B5EF4-FFF2-40B4-BE49-F238E27FC236}">
                <a16:creationId xmlns:a16="http://schemas.microsoft.com/office/drawing/2014/main" id="{DC54A301-5783-2FC4-FB7F-A9E1B8ADEB44}"/>
              </a:ext>
            </a:extLst>
          </p:cNvPr>
          <p:cNvSpPr txBox="1">
            <a:spLocks/>
          </p:cNvSpPr>
          <p:nvPr/>
        </p:nvSpPr>
        <p:spPr>
          <a:xfrm>
            <a:off x="2733224" y="518087"/>
            <a:ext cx="119319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I (3.14, 6)</a:t>
            </a:r>
          </a:p>
        </p:txBody>
      </p:sp>
      <p:sp>
        <p:nvSpPr>
          <p:cNvPr id="97" name="Google Shape;495;p61">
            <a:extLst>
              <a:ext uri="{FF2B5EF4-FFF2-40B4-BE49-F238E27FC236}">
                <a16:creationId xmlns:a16="http://schemas.microsoft.com/office/drawing/2014/main" id="{A6267FAC-7A16-B35F-3795-4A8C7ADBC569}"/>
              </a:ext>
            </a:extLst>
          </p:cNvPr>
          <p:cNvSpPr txBox="1">
            <a:spLocks/>
          </p:cNvSpPr>
          <p:nvPr/>
        </p:nvSpPr>
        <p:spPr>
          <a:xfrm>
            <a:off x="3674979" y="1981583"/>
            <a:ext cx="1408753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G (3.9, 5.17)</a:t>
            </a:r>
          </a:p>
        </p:txBody>
      </p:sp>
      <p:sp>
        <p:nvSpPr>
          <p:cNvPr id="104" name="Google Shape;495;p61">
            <a:extLst>
              <a:ext uri="{FF2B5EF4-FFF2-40B4-BE49-F238E27FC236}">
                <a16:creationId xmlns:a16="http://schemas.microsoft.com/office/drawing/2014/main" id="{655A1F4B-157D-F2E3-6F4F-388784D1DF94}"/>
              </a:ext>
            </a:extLst>
          </p:cNvPr>
          <p:cNvSpPr txBox="1">
            <a:spLocks/>
          </p:cNvSpPr>
          <p:nvPr/>
        </p:nvSpPr>
        <p:spPr>
          <a:xfrm>
            <a:off x="1487095" y="1947209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06" name="Google Shape;495;p61">
            <a:extLst>
              <a:ext uri="{FF2B5EF4-FFF2-40B4-BE49-F238E27FC236}">
                <a16:creationId xmlns:a16="http://schemas.microsoft.com/office/drawing/2014/main" id="{DA1E029D-6283-0A61-28EF-F1B62C396E2C}"/>
              </a:ext>
            </a:extLst>
          </p:cNvPr>
          <p:cNvSpPr txBox="1">
            <a:spLocks/>
          </p:cNvSpPr>
          <p:nvPr/>
        </p:nvSpPr>
        <p:spPr>
          <a:xfrm>
            <a:off x="4653733" y="3643854"/>
            <a:ext cx="2435345" cy="356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A = x y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CDBDABB-E009-9077-E0EA-AB18EE207382}"/>
              </a:ext>
            </a:extLst>
          </p:cNvPr>
          <p:cNvCxnSpPr>
            <a:cxnSpLocks/>
          </p:cNvCxnSpPr>
          <p:nvPr/>
        </p:nvCxnSpPr>
        <p:spPr>
          <a:xfrm flipV="1">
            <a:off x="2094333" y="1120140"/>
            <a:ext cx="6508647" cy="340871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39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7FBCD-C3DA-CA36-2D93-0CEFE338BB06}"/>
              </a:ext>
            </a:extLst>
          </p:cNvPr>
          <p:cNvCxnSpPr>
            <a:cxnSpLocks/>
          </p:cNvCxnSpPr>
          <p:nvPr/>
        </p:nvCxnSpPr>
        <p:spPr>
          <a:xfrm flipV="1">
            <a:off x="1238310" y="537627"/>
            <a:ext cx="2195945" cy="1068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8F1DE0-7A98-C262-E4A1-B4EC4CF803BB}"/>
              </a:ext>
            </a:extLst>
          </p:cNvPr>
          <p:cNvCxnSpPr>
            <a:cxnSpLocks/>
          </p:cNvCxnSpPr>
          <p:nvPr/>
        </p:nvCxnSpPr>
        <p:spPr>
          <a:xfrm>
            <a:off x="1217528" y="1612968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CE6A2F-9F49-EF80-10E8-AB7D943DF6E3}"/>
              </a:ext>
            </a:extLst>
          </p:cNvPr>
          <p:cNvCxnSpPr>
            <a:cxnSpLocks/>
          </p:cNvCxnSpPr>
          <p:nvPr/>
        </p:nvCxnSpPr>
        <p:spPr>
          <a:xfrm>
            <a:off x="3411375" y="537627"/>
            <a:ext cx="958063" cy="107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74FD0D-A6E0-5B51-B3D9-E8328E5309E4}"/>
              </a:ext>
            </a:extLst>
          </p:cNvPr>
          <p:cNvCxnSpPr>
            <a:cxnSpLocks/>
          </p:cNvCxnSpPr>
          <p:nvPr/>
        </p:nvCxnSpPr>
        <p:spPr>
          <a:xfrm flipV="1">
            <a:off x="2336282" y="1060235"/>
            <a:ext cx="0" cy="5388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54B145-6413-037F-596A-DB1BFE11D120}"/>
              </a:ext>
            </a:extLst>
          </p:cNvPr>
          <p:cNvCxnSpPr>
            <a:cxnSpLocks/>
          </p:cNvCxnSpPr>
          <p:nvPr/>
        </p:nvCxnSpPr>
        <p:spPr>
          <a:xfrm>
            <a:off x="2336282" y="1071834"/>
            <a:ext cx="15506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2B6BA4-9216-189B-A8D1-F62AE24C71E2}"/>
              </a:ext>
            </a:extLst>
          </p:cNvPr>
          <p:cNvCxnSpPr>
            <a:cxnSpLocks/>
          </p:cNvCxnSpPr>
          <p:nvPr/>
        </p:nvCxnSpPr>
        <p:spPr>
          <a:xfrm flipV="1">
            <a:off x="3886943" y="1071834"/>
            <a:ext cx="0" cy="5272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AEFFE2-850F-E9E4-383D-20480BEC96C0}"/>
              </a:ext>
            </a:extLst>
          </p:cNvPr>
          <p:cNvCxnSpPr>
            <a:cxnSpLocks/>
          </p:cNvCxnSpPr>
          <p:nvPr/>
        </p:nvCxnSpPr>
        <p:spPr>
          <a:xfrm>
            <a:off x="1287628" y="1686701"/>
            <a:ext cx="10486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D714F1-D27B-6202-07AA-236367220927}"/>
              </a:ext>
            </a:extLst>
          </p:cNvPr>
          <p:cNvCxnSpPr>
            <a:cxnSpLocks/>
          </p:cNvCxnSpPr>
          <p:nvPr/>
        </p:nvCxnSpPr>
        <p:spPr>
          <a:xfrm>
            <a:off x="3978442" y="1686701"/>
            <a:ext cx="47409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495;p61">
            <a:extLst>
              <a:ext uri="{FF2B5EF4-FFF2-40B4-BE49-F238E27FC236}">
                <a16:creationId xmlns:a16="http://schemas.microsoft.com/office/drawing/2014/main" id="{64041AE8-AF5B-A04B-616E-799B3132B44B}"/>
              </a:ext>
            </a:extLst>
          </p:cNvPr>
          <p:cNvSpPr txBox="1">
            <a:spLocks/>
          </p:cNvSpPr>
          <p:nvPr/>
        </p:nvSpPr>
        <p:spPr>
          <a:xfrm>
            <a:off x="2900646" y="1612968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x</a:t>
            </a:r>
          </a:p>
        </p:txBody>
      </p:sp>
      <p:sp>
        <p:nvSpPr>
          <p:cNvPr id="41" name="Google Shape;495;p61">
            <a:extLst>
              <a:ext uri="{FF2B5EF4-FFF2-40B4-BE49-F238E27FC236}">
                <a16:creationId xmlns:a16="http://schemas.microsoft.com/office/drawing/2014/main" id="{E90BA97F-54E6-9F25-0ABE-23C60CBA4CE6}"/>
              </a:ext>
            </a:extLst>
          </p:cNvPr>
          <p:cNvSpPr txBox="1">
            <a:spLocks/>
          </p:cNvSpPr>
          <p:nvPr/>
        </p:nvSpPr>
        <p:spPr>
          <a:xfrm>
            <a:off x="1591528" y="1616678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z</a:t>
            </a:r>
          </a:p>
        </p:txBody>
      </p:sp>
      <p:sp>
        <p:nvSpPr>
          <p:cNvPr id="42" name="Google Shape;495;p61">
            <a:extLst>
              <a:ext uri="{FF2B5EF4-FFF2-40B4-BE49-F238E27FC236}">
                <a16:creationId xmlns:a16="http://schemas.microsoft.com/office/drawing/2014/main" id="{539C0435-4CE5-CA64-1B8B-663C725800B2}"/>
              </a:ext>
            </a:extLst>
          </p:cNvPr>
          <p:cNvSpPr txBox="1">
            <a:spLocks/>
          </p:cNvSpPr>
          <p:nvPr/>
        </p:nvSpPr>
        <p:spPr>
          <a:xfrm>
            <a:off x="3111383" y="1710225"/>
            <a:ext cx="2435345" cy="356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(127.67 – x – z)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193D31-408C-37F5-BDE6-3FFE2032DA5C}"/>
              </a:ext>
            </a:extLst>
          </p:cNvPr>
          <p:cNvCxnSpPr>
            <a:cxnSpLocks/>
          </p:cNvCxnSpPr>
          <p:nvPr/>
        </p:nvCxnSpPr>
        <p:spPr>
          <a:xfrm>
            <a:off x="2360447" y="1693628"/>
            <a:ext cx="15506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oogle Shape;495;p61">
            <a:extLst>
              <a:ext uri="{FF2B5EF4-FFF2-40B4-BE49-F238E27FC236}">
                <a16:creationId xmlns:a16="http://schemas.microsoft.com/office/drawing/2014/main" id="{DA1E029D-6283-0A61-28EF-F1B62C396E2C}"/>
              </a:ext>
            </a:extLst>
          </p:cNvPr>
          <p:cNvSpPr txBox="1">
            <a:spLocks/>
          </p:cNvSpPr>
          <p:nvPr/>
        </p:nvSpPr>
        <p:spPr>
          <a:xfrm>
            <a:off x="1934093" y="1182237"/>
            <a:ext cx="2435345" cy="356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A = x 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65C2B7-464A-928F-2E41-F0211D91584E}"/>
              </a:ext>
            </a:extLst>
          </p:cNvPr>
          <p:cNvSpPr txBox="1"/>
          <p:nvPr/>
        </p:nvSpPr>
        <p:spPr>
          <a:xfrm>
            <a:off x="679194" y="2229543"/>
            <a:ext cx="504723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Area Total = Area rectangle + Area T1 + Area T2 + Area T3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561DBD-A71D-71F9-F075-4F75C68BEEFD}"/>
                  </a:ext>
                </a:extLst>
              </p:cNvPr>
              <p:cNvSpPr txBox="1"/>
              <p:nvPr/>
            </p:nvSpPr>
            <p:spPr>
              <a:xfrm>
                <a:off x="594360" y="2729212"/>
                <a:ext cx="3831883" cy="416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127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67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561DBD-A71D-71F9-F075-4F75C68BE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729212"/>
                <a:ext cx="3831883" cy="416717"/>
              </a:xfrm>
              <a:prstGeom prst="rect">
                <a:avLst/>
              </a:prstGeom>
              <a:blipFill>
                <a:blip r:embed="rId3"/>
                <a:stretch>
                  <a:fillRect l="-47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FA75D-CEA3-E5D7-069D-06B1B264A8A1}"/>
                  </a:ext>
                </a:extLst>
              </p:cNvPr>
              <p:cNvSpPr txBox="1"/>
              <p:nvPr/>
            </p:nvSpPr>
            <p:spPr>
              <a:xfrm>
                <a:off x="617220" y="3343602"/>
                <a:ext cx="223029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127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67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832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FA75D-CEA3-E5D7-069D-06B1B264A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" y="3343602"/>
                <a:ext cx="2230291" cy="215444"/>
              </a:xfrm>
              <a:prstGeom prst="rect">
                <a:avLst/>
              </a:prstGeom>
              <a:blipFill>
                <a:blip r:embed="rId4"/>
                <a:stretch>
                  <a:fillRect l="-1093" r="-820" b="-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DA4767-39AC-7343-69ED-B0E7CDD9ECC4}"/>
                  </a:ext>
                </a:extLst>
              </p:cNvPr>
              <p:cNvSpPr txBox="1"/>
              <p:nvPr/>
            </p:nvSpPr>
            <p:spPr>
              <a:xfrm>
                <a:off x="679194" y="3787258"/>
                <a:ext cx="1536190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2832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127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DA4767-39AC-7343-69ED-B0E7CDD9E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94" y="3787258"/>
                <a:ext cx="1536190" cy="404726"/>
              </a:xfrm>
              <a:prstGeom prst="rect">
                <a:avLst/>
              </a:prstGeom>
              <a:blipFill>
                <a:blip r:embed="rId5"/>
                <a:stretch>
                  <a:fillRect l="-1984" r="-397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AF62E2-5BED-9093-35D5-D474DB395FA2}"/>
                  </a:ext>
                </a:extLst>
              </p:cNvPr>
              <p:cNvSpPr txBox="1"/>
              <p:nvPr/>
            </p:nvSpPr>
            <p:spPr>
              <a:xfrm>
                <a:off x="6696091" y="2013426"/>
                <a:ext cx="1776512" cy="432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2832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AF62E2-5BED-9093-35D5-D474DB395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091" y="2013426"/>
                <a:ext cx="1776512" cy="4322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9DE113-0997-9585-222A-F0B0BAA1670F}"/>
              </a:ext>
            </a:extLst>
          </p:cNvPr>
          <p:cNvCxnSpPr/>
          <p:nvPr/>
        </p:nvCxnSpPr>
        <p:spPr>
          <a:xfrm flipV="1">
            <a:off x="2790019" y="1016853"/>
            <a:ext cx="5189998" cy="35890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C42DF-06C3-1C5A-CB79-B1C01E8F56B1}"/>
                  </a:ext>
                </a:extLst>
              </p:cNvPr>
              <p:cNvSpPr txBox="1"/>
              <p:nvPr/>
            </p:nvSpPr>
            <p:spPr>
              <a:xfrm>
                <a:off x="5933413" y="2697841"/>
                <a:ext cx="1632498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832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127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67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C42DF-06C3-1C5A-CB79-B1C01E8F5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13" y="2697841"/>
                <a:ext cx="1632498" cy="404726"/>
              </a:xfrm>
              <a:prstGeom prst="rect">
                <a:avLst/>
              </a:prstGeom>
              <a:blipFill>
                <a:blip r:embed="rId7"/>
                <a:stretch>
                  <a:fillRect l="-2239" t="-1515" r="-373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95B7C4-A375-50BA-173E-8701C75D0A07}"/>
              </a:ext>
            </a:extLst>
          </p:cNvPr>
          <p:cNvCxnSpPr>
            <a:cxnSpLocks/>
          </p:cNvCxnSpPr>
          <p:nvPr/>
        </p:nvCxnSpPr>
        <p:spPr>
          <a:xfrm>
            <a:off x="5145430" y="4317954"/>
            <a:ext cx="15506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CDDF63-2EEF-4308-BC85-C9C1B6783D8A}"/>
              </a:ext>
            </a:extLst>
          </p:cNvPr>
          <p:cNvCxnSpPr>
            <a:cxnSpLocks/>
          </p:cNvCxnSpPr>
          <p:nvPr/>
        </p:nvCxnSpPr>
        <p:spPr>
          <a:xfrm>
            <a:off x="5158082" y="3787258"/>
            <a:ext cx="15506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03B1CD-91F8-45EE-A4DE-933970C778B9}"/>
              </a:ext>
            </a:extLst>
          </p:cNvPr>
          <p:cNvCxnSpPr>
            <a:cxnSpLocks/>
          </p:cNvCxnSpPr>
          <p:nvPr/>
        </p:nvCxnSpPr>
        <p:spPr>
          <a:xfrm flipV="1">
            <a:off x="5158082" y="3787258"/>
            <a:ext cx="0" cy="5388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713CCB-6F44-ACBA-4422-43BB6389B446}"/>
              </a:ext>
            </a:extLst>
          </p:cNvPr>
          <p:cNvCxnSpPr>
            <a:cxnSpLocks/>
          </p:cNvCxnSpPr>
          <p:nvPr/>
        </p:nvCxnSpPr>
        <p:spPr>
          <a:xfrm flipV="1">
            <a:off x="6696091" y="3787258"/>
            <a:ext cx="0" cy="5388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495;p61">
            <a:extLst>
              <a:ext uri="{FF2B5EF4-FFF2-40B4-BE49-F238E27FC236}">
                <a16:creationId xmlns:a16="http://schemas.microsoft.com/office/drawing/2014/main" id="{D71D97D2-5C5D-2E67-085E-1FAA5D1276BD}"/>
              </a:ext>
            </a:extLst>
          </p:cNvPr>
          <p:cNvSpPr txBox="1">
            <a:spLocks/>
          </p:cNvSpPr>
          <p:nvPr/>
        </p:nvSpPr>
        <p:spPr>
          <a:xfrm>
            <a:off x="5308375" y="4339265"/>
            <a:ext cx="1224769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X = 63.84m</a:t>
            </a:r>
          </a:p>
        </p:txBody>
      </p:sp>
      <p:sp>
        <p:nvSpPr>
          <p:cNvPr id="20" name="Google Shape;495;p61">
            <a:extLst>
              <a:ext uri="{FF2B5EF4-FFF2-40B4-BE49-F238E27FC236}">
                <a16:creationId xmlns:a16="http://schemas.microsoft.com/office/drawing/2014/main" id="{CDC9EE4E-F38F-E2DC-6177-16A478A93B4E}"/>
              </a:ext>
            </a:extLst>
          </p:cNvPr>
          <p:cNvSpPr txBox="1">
            <a:spLocks/>
          </p:cNvSpPr>
          <p:nvPr/>
        </p:nvSpPr>
        <p:spPr>
          <a:xfrm>
            <a:off x="6749662" y="3882989"/>
            <a:ext cx="1224769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Y = 11.09m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C123E7-3165-9E3D-7C74-8CE71702AEF6}"/>
                  </a:ext>
                </a:extLst>
              </p:cNvPr>
              <p:cNvSpPr txBox="1"/>
              <p:nvPr/>
            </p:nvSpPr>
            <p:spPr>
              <a:xfrm>
                <a:off x="5278810" y="3251269"/>
                <a:ext cx="188389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832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= 0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C123E7-3165-9E3D-7C74-8CE71702A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810" y="3251269"/>
                <a:ext cx="1883890" cy="307777"/>
              </a:xfrm>
              <a:prstGeom prst="rect">
                <a:avLst/>
              </a:prstGeom>
              <a:blipFill>
                <a:blip r:embed="rId8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5A46B3-FB37-3E56-2E80-EA868767B936}"/>
              </a:ext>
            </a:extLst>
          </p:cNvPr>
          <p:cNvCxnSpPr/>
          <p:nvPr/>
        </p:nvCxnSpPr>
        <p:spPr>
          <a:xfrm flipH="1" flipV="1">
            <a:off x="2587307" y="4015324"/>
            <a:ext cx="2355411" cy="61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3A4717-E526-4AEF-0F9E-7AE9B92810DF}"/>
              </a:ext>
            </a:extLst>
          </p:cNvPr>
          <p:cNvCxnSpPr>
            <a:cxnSpLocks/>
          </p:cNvCxnSpPr>
          <p:nvPr/>
        </p:nvCxnSpPr>
        <p:spPr>
          <a:xfrm flipV="1">
            <a:off x="2701636" y="3636818"/>
            <a:ext cx="4461064" cy="150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495;p61">
            <a:extLst>
              <a:ext uri="{FF2B5EF4-FFF2-40B4-BE49-F238E27FC236}">
                <a16:creationId xmlns:a16="http://schemas.microsoft.com/office/drawing/2014/main" id="{86C7D1C8-C9F9-8396-EB1A-EFCC64854714}"/>
              </a:ext>
            </a:extLst>
          </p:cNvPr>
          <p:cNvSpPr txBox="1">
            <a:spLocks/>
          </p:cNvSpPr>
          <p:nvPr/>
        </p:nvSpPr>
        <p:spPr>
          <a:xfrm>
            <a:off x="4727355" y="3874106"/>
            <a:ext cx="2435345" cy="356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A = 708 mc</a:t>
            </a:r>
          </a:p>
        </p:txBody>
      </p:sp>
    </p:spTree>
    <p:extLst>
      <p:ext uri="{BB962C8B-B14F-4D97-AF65-F5344CB8AC3E}">
        <p14:creationId xmlns:p14="http://schemas.microsoft.com/office/powerpoint/2010/main" val="313835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D99306-0D01-AA6D-0B43-D6D491386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56" y="471407"/>
            <a:ext cx="7698088" cy="42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3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-630150" y="61491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Espais de la finca</a:t>
            </a:r>
          </a:p>
        </p:txBody>
      </p:sp>
      <p:sp>
        <p:nvSpPr>
          <p:cNvPr id="5" name="Google Shape;546;p65">
            <a:extLst>
              <a:ext uri="{FF2B5EF4-FFF2-40B4-BE49-F238E27FC236}">
                <a16:creationId xmlns:a16="http://schemas.microsoft.com/office/drawing/2014/main" id="{D0F356AA-A144-74CD-80DB-7416EBF37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040" y="1211676"/>
            <a:ext cx="806106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Delimitem la superfície de cada espai.</a:t>
            </a:r>
            <a:endParaRPr lang="ca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445862-5694-880D-E043-EF2588C4B9C8}"/>
                  </a:ext>
                </a:extLst>
              </p:cNvPr>
              <p:cNvSpPr txBox="1"/>
              <p:nvPr/>
            </p:nvSpPr>
            <p:spPr>
              <a:xfrm>
                <a:off x="5320227" y="1593852"/>
                <a:ext cx="382377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1=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𝑍𝑜𝑛𝑎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𝑎𝑟𝑏𝑟𝑒𝑠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𝑓𝑟𝑢𝑖𝑡𝑒𝑟𝑠</m:t>
                      </m:r>
                      <m:r>
                        <a:rPr lang="en-U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=9744.7</m:t>
                      </m:r>
                      <m:sSup>
                        <m:sSupPr>
                          <m:ctrlPr>
                            <a:rPr lang="en-US" sz="1200" b="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ca-ES" sz="12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 =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𝑍𝑜𝑛𝑎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𝑟𝑒𝑐𝑜𝑙𝑙𝑖𝑑𝑎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𝑑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’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𝑎𝑖𝑔𝑢𝑎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𝑑𝑒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𝑝𝑙𝑢𝑗𝑎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27.56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ca-E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𝑍</m:t>
                    </m:r>
                    <m:r>
                      <a:rPr lang="ca-E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3 =</m:t>
                    </m:r>
                    <m:r>
                      <a:rPr lang="ca-E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𝐻𝑜𝑟𝑡</m:t>
                    </m:r>
                    <m:r>
                      <a:rPr lang="ca-ES" sz="12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=8.171.77</m:t>
                    </m:r>
                    <m:sSup>
                      <m:sSupPr>
                        <m:ctrlPr>
                          <a:rPr lang="ca-ES" sz="12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ca-ES" sz="12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p>
                        <m:r>
                          <a:rPr lang="ca-ES" sz="1200" b="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ca-ES" sz="12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</m:oMath>
                </a14:m>
                <a:r>
                  <a:rPr lang="ca-ES" sz="1200" b="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(de tanca)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  = 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𝐽𝑎𝑟𝑑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í 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𝑒𝑥𝑡𝑒𝑟𝑖𝑜𝑟</m:t>
                      </m:r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= 12.938.20</m:t>
                      </m:r>
                      <m:sSup>
                        <m:sSupPr>
                          <m:ctrlP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ca-E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5 = 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𝐶𝑎𝑠𝑎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+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𝑃𝑎𝑟𝑡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𝐽𝐸</m:t>
                      </m:r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= 1416 </m:t>
                      </m:r>
                      <m:sSup>
                        <m:sSupPr>
                          <m:ctrlP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sz="1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ca-ES" sz="1200" b="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2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445862-5694-880D-E043-EF2588C4B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227" y="1593852"/>
                <a:ext cx="3823773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D7443A-2CCA-35A5-0F97-02DDF5E4BA70}"/>
                  </a:ext>
                </a:extLst>
              </p:cNvPr>
              <p:cNvSpPr txBox="1"/>
              <p:nvPr/>
            </p:nvSpPr>
            <p:spPr>
              <a:xfrm>
                <a:off x="5267858" y="2794181"/>
                <a:ext cx="377140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ca-ES" sz="1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Problema d’optimització (Casa)</a:t>
                </a:r>
              </a:p>
              <a:p>
                <a:endParaRPr lang="ca-E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ca-ES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Àrea </a:t>
                </a:r>
                <a14:m>
                  <m:oMath xmlns:m="http://schemas.openxmlformats.org/officeDocument/2006/math">
                    <m:r>
                      <a:rPr lang="ca-E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𝑇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𝑜𝑡</m:t>
                    </m:r>
                    <m:r>
                      <a:rPr lang="ca-E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ca-E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𝐽𝐸</m:t>
                    </m:r>
                    <m:r>
                      <a:rPr lang="ca-E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=708 + 12.938.20</m:t>
                    </m:r>
                    <m:sSup>
                      <m:sSupPr>
                        <m:ctrlPr>
                          <a:rPr lang="ca-E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ca-E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p>
                        <m:r>
                          <a:rPr lang="ca-E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=13.646</m:t>
                    </m:r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ca-E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ca-E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D7443A-2CCA-35A5-0F97-02DDF5E4B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858" y="2794181"/>
                <a:ext cx="3771404" cy="707886"/>
              </a:xfrm>
              <a:prstGeom prst="rect">
                <a:avLst/>
              </a:prstGeom>
              <a:blipFill>
                <a:blip r:embed="rId5"/>
                <a:stretch>
                  <a:fillRect l="-485" t="-1724" b="-6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33B740E-CF7F-2028-EB55-21B5C96C8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2167" y="3752452"/>
            <a:ext cx="2734113" cy="906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495;p61">
                <a:extLst>
                  <a:ext uri="{FF2B5EF4-FFF2-40B4-BE49-F238E27FC236}">
                    <a16:creationId xmlns:a16="http://schemas.microsoft.com/office/drawing/2014/main" id="{9DCEAF8A-66EB-0C39-0D2A-593DC3179E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32113" y="4205700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0.26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Google Shape;495;p61">
                <a:extLst>
                  <a:ext uri="{FF2B5EF4-FFF2-40B4-BE49-F238E27FC236}">
                    <a16:creationId xmlns:a16="http://schemas.microsoft.com/office/drawing/2014/main" id="{9DCEAF8A-66EB-0C39-0D2A-593DC3179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113" y="4205700"/>
                <a:ext cx="1224769" cy="357000"/>
              </a:xfrm>
              <a:prstGeom prst="rect">
                <a:avLst/>
              </a:prstGeom>
              <a:blipFill>
                <a:blip r:embed="rId7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A7A6AD3-E9E6-BA63-9B40-A81B4F9A05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71" y="1855241"/>
            <a:ext cx="4361356" cy="2379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542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0" y="585780"/>
            <a:ext cx="38915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Jardí Interior</a:t>
            </a:r>
          </a:p>
        </p:txBody>
      </p:sp>
      <p:sp>
        <p:nvSpPr>
          <p:cNvPr id="5" name="Google Shape;546;p65">
            <a:extLst>
              <a:ext uri="{FF2B5EF4-FFF2-40B4-BE49-F238E27FC236}">
                <a16:creationId xmlns:a16="http://schemas.microsoft.com/office/drawing/2014/main" id="{D0F356AA-A144-74CD-80DB-7416EBF37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040" y="1211676"/>
            <a:ext cx="7817220" cy="59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Un quart de la casa serà un jardí interior i un quart de la teulada tindrà plaques </a:t>
            </a:r>
            <a:r>
              <a:rPr lang="ca-E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fotovoltaiques</a:t>
            </a:r>
            <a:r>
              <a:rPr lang="ca-E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715DD5-898C-C4B4-D398-5077F6F17169}"/>
              </a:ext>
            </a:extLst>
          </p:cNvPr>
          <p:cNvCxnSpPr>
            <a:cxnSpLocks/>
          </p:cNvCxnSpPr>
          <p:nvPr/>
        </p:nvCxnSpPr>
        <p:spPr>
          <a:xfrm>
            <a:off x="988831" y="3377065"/>
            <a:ext cx="243199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C5121E-D9D3-6148-D6BD-8F4BAB3E3AD3}"/>
              </a:ext>
            </a:extLst>
          </p:cNvPr>
          <p:cNvCxnSpPr>
            <a:cxnSpLocks/>
          </p:cNvCxnSpPr>
          <p:nvPr/>
        </p:nvCxnSpPr>
        <p:spPr>
          <a:xfrm>
            <a:off x="988831" y="2051303"/>
            <a:ext cx="243199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DA59A1-22FC-7E41-DF86-DDB50F410421}"/>
              </a:ext>
            </a:extLst>
          </p:cNvPr>
          <p:cNvCxnSpPr>
            <a:cxnSpLocks/>
          </p:cNvCxnSpPr>
          <p:nvPr/>
        </p:nvCxnSpPr>
        <p:spPr>
          <a:xfrm flipV="1">
            <a:off x="3408172" y="2051303"/>
            <a:ext cx="0" cy="13257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495;p61">
                <a:extLst>
                  <a:ext uri="{FF2B5EF4-FFF2-40B4-BE49-F238E27FC236}">
                    <a16:creationId xmlns:a16="http://schemas.microsoft.com/office/drawing/2014/main" id="{397E6715-F3C1-A90C-9E9C-42361DFABD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2442" y="4188567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63.84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495;p61">
                <a:extLst>
                  <a:ext uri="{FF2B5EF4-FFF2-40B4-BE49-F238E27FC236}">
                    <a16:creationId xmlns:a16="http://schemas.microsoft.com/office/drawing/2014/main" id="{397E6715-F3C1-A90C-9E9C-42361DFAB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442" y="4188567"/>
                <a:ext cx="1224769" cy="35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495;p61">
                <a:extLst>
                  <a:ext uri="{FF2B5EF4-FFF2-40B4-BE49-F238E27FC236}">
                    <a16:creationId xmlns:a16="http://schemas.microsoft.com/office/drawing/2014/main" id="{8DDAA11F-D6AE-7191-3B7D-1EE24E7062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7231" y="2437164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11.09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Google Shape;495;p61">
                <a:extLst>
                  <a:ext uri="{FF2B5EF4-FFF2-40B4-BE49-F238E27FC236}">
                    <a16:creationId xmlns:a16="http://schemas.microsoft.com/office/drawing/2014/main" id="{8DDAA11F-D6AE-7191-3B7D-1EE24E70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231" y="2437164"/>
                <a:ext cx="1224769" cy="357000"/>
              </a:xfrm>
              <a:prstGeom prst="rect">
                <a:avLst/>
              </a:prstGeom>
              <a:blipFill>
                <a:blip r:embed="rId4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2DA960-4239-F526-A99F-77AAC3588D7D}"/>
              </a:ext>
            </a:extLst>
          </p:cNvPr>
          <p:cNvCxnSpPr>
            <a:cxnSpLocks/>
          </p:cNvCxnSpPr>
          <p:nvPr/>
        </p:nvCxnSpPr>
        <p:spPr>
          <a:xfrm flipV="1">
            <a:off x="1015492" y="2051303"/>
            <a:ext cx="0" cy="13257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6E0BE7-63DA-9CEE-F741-8E3E0ADC8341}"/>
              </a:ext>
            </a:extLst>
          </p:cNvPr>
          <p:cNvCxnSpPr>
            <a:cxnSpLocks/>
          </p:cNvCxnSpPr>
          <p:nvPr/>
        </p:nvCxnSpPr>
        <p:spPr>
          <a:xfrm flipV="1">
            <a:off x="2836252" y="2051303"/>
            <a:ext cx="0" cy="13257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90DE81-C8D8-3FEB-3F62-25653961CA76}"/>
              </a:ext>
            </a:extLst>
          </p:cNvPr>
          <p:cNvCxnSpPr/>
          <p:nvPr/>
        </p:nvCxnSpPr>
        <p:spPr>
          <a:xfrm>
            <a:off x="988831" y="4195617"/>
            <a:ext cx="2405332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FAF6B6-9C1C-1354-349B-17C6AA0782B6}"/>
              </a:ext>
            </a:extLst>
          </p:cNvPr>
          <p:cNvCxnSpPr>
            <a:cxnSpLocks/>
          </p:cNvCxnSpPr>
          <p:nvPr/>
        </p:nvCxnSpPr>
        <p:spPr>
          <a:xfrm>
            <a:off x="1015492" y="3616497"/>
            <a:ext cx="183642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C4C67D-AC96-D5DD-D2DE-35E0F22CF2D6}"/>
              </a:ext>
            </a:extLst>
          </p:cNvPr>
          <p:cNvCxnSpPr>
            <a:cxnSpLocks/>
          </p:cNvCxnSpPr>
          <p:nvPr/>
        </p:nvCxnSpPr>
        <p:spPr>
          <a:xfrm>
            <a:off x="2870971" y="3616497"/>
            <a:ext cx="54985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495;p61">
                <a:extLst>
                  <a:ext uri="{FF2B5EF4-FFF2-40B4-BE49-F238E27FC236}">
                    <a16:creationId xmlns:a16="http://schemas.microsoft.com/office/drawing/2014/main" id="{6A47684C-EA90-914B-BF64-32AD6C50BD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33512" y="3727557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=15.16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Google Shape;495;p61">
                <a:extLst>
                  <a:ext uri="{FF2B5EF4-FFF2-40B4-BE49-F238E27FC236}">
                    <a16:creationId xmlns:a16="http://schemas.microsoft.com/office/drawing/2014/main" id="{6A47684C-EA90-914B-BF64-32AD6C50B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512" y="3727557"/>
                <a:ext cx="1224769" cy="357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Google Shape;495;p61">
                <a:extLst>
                  <a:ext uri="{FF2B5EF4-FFF2-40B4-BE49-F238E27FC236}">
                    <a16:creationId xmlns:a16="http://schemas.microsoft.com/office/drawing/2014/main" id="{524DCDBF-9375-28D5-287B-8B481586B1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8743" y="3727557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=47.88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Google Shape;495;p61">
                <a:extLst>
                  <a:ext uri="{FF2B5EF4-FFF2-40B4-BE49-F238E27FC236}">
                    <a16:creationId xmlns:a16="http://schemas.microsoft.com/office/drawing/2014/main" id="{524DCDBF-9375-28D5-287B-8B481586B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743" y="3727557"/>
                <a:ext cx="1224769" cy="35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Google Shape;495;p61">
                <a:extLst>
                  <a:ext uri="{FF2B5EF4-FFF2-40B4-BE49-F238E27FC236}">
                    <a16:creationId xmlns:a16="http://schemas.microsoft.com/office/drawing/2014/main" id="{42BDFF48-9985-C9E2-3A57-5E8846E9D5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9013" y="2558514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531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Google Shape;495;p61">
                <a:extLst>
                  <a:ext uri="{FF2B5EF4-FFF2-40B4-BE49-F238E27FC236}">
                    <a16:creationId xmlns:a16="http://schemas.microsoft.com/office/drawing/2014/main" id="{42BDFF48-9985-C9E2-3A57-5E8846E9D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013" y="2558514"/>
                <a:ext cx="1224769" cy="357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Google Shape;495;p61">
                <a:extLst>
                  <a:ext uri="{FF2B5EF4-FFF2-40B4-BE49-F238E27FC236}">
                    <a16:creationId xmlns:a16="http://schemas.microsoft.com/office/drawing/2014/main" id="{744188B6-B34E-C501-78A3-62D013C77B04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2533317" y="2502788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177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𝑚𝑐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6" name="Google Shape;495;p61">
                <a:extLst>
                  <a:ext uri="{FF2B5EF4-FFF2-40B4-BE49-F238E27FC236}">
                    <a16:creationId xmlns:a16="http://schemas.microsoft.com/office/drawing/2014/main" id="{744188B6-B34E-C501-78A3-62D013C77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533317" y="2502788"/>
                <a:ext cx="1224769" cy="357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9681649D-3DC6-D40E-E23D-013C5F73D04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6980"/>
          <a:stretch/>
        </p:blipFill>
        <p:spPr>
          <a:xfrm>
            <a:off x="4572001" y="2051302"/>
            <a:ext cx="4171522" cy="2036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62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0" y="585780"/>
            <a:ext cx="469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Teulada i orientació</a:t>
            </a:r>
          </a:p>
        </p:txBody>
      </p:sp>
      <p:sp>
        <p:nvSpPr>
          <p:cNvPr id="5" name="Google Shape;546;p65">
            <a:extLst>
              <a:ext uri="{FF2B5EF4-FFF2-40B4-BE49-F238E27FC236}">
                <a16:creationId xmlns:a16="http://schemas.microsoft.com/office/drawing/2014/main" id="{D0F356AA-A144-74CD-80DB-7416EBF37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040" y="1211676"/>
            <a:ext cx="4616820" cy="59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La teulada tindrà la següent mida: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715DD5-898C-C4B4-D398-5077F6F17169}"/>
              </a:ext>
            </a:extLst>
          </p:cNvPr>
          <p:cNvCxnSpPr>
            <a:cxnSpLocks/>
          </p:cNvCxnSpPr>
          <p:nvPr/>
        </p:nvCxnSpPr>
        <p:spPr>
          <a:xfrm>
            <a:off x="4664839" y="3019138"/>
            <a:ext cx="243199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C5121E-D9D3-6148-D6BD-8F4BAB3E3AD3}"/>
              </a:ext>
            </a:extLst>
          </p:cNvPr>
          <p:cNvCxnSpPr>
            <a:cxnSpLocks/>
          </p:cNvCxnSpPr>
          <p:nvPr/>
        </p:nvCxnSpPr>
        <p:spPr>
          <a:xfrm>
            <a:off x="4664839" y="1693376"/>
            <a:ext cx="243199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DA59A1-22FC-7E41-DF86-DDB50F410421}"/>
              </a:ext>
            </a:extLst>
          </p:cNvPr>
          <p:cNvCxnSpPr>
            <a:cxnSpLocks/>
          </p:cNvCxnSpPr>
          <p:nvPr/>
        </p:nvCxnSpPr>
        <p:spPr>
          <a:xfrm flipV="1">
            <a:off x="7084180" y="1693376"/>
            <a:ext cx="0" cy="13257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495;p61">
                <a:extLst>
                  <a:ext uri="{FF2B5EF4-FFF2-40B4-BE49-F238E27FC236}">
                    <a16:creationId xmlns:a16="http://schemas.microsoft.com/office/drawing/2014/main" id="{397E6715-F3C1-A90C-9E9C-42361DFABD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3151" y="3837689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63.84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495;p61">
                <a:extLst>
                  <a:ext uri="{FF2B5EF4-FFF2-40B4-BE49-F238E27FC236}">
                    <a16:creationId xmlns:a16="http://schemas.microsoft.com/office/drawing/2014/main" id="{397E6715-F3C1-A90C-9E9C-42361DFAB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151" y="3837689"/>
                <a:ext cx="1224769" cy="35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495;p61">
                <a:extLst>
                  <a:ext uri="{FF2B5EF4-FFF2-40B4-BE49-F238E27FC236}">
                    <a16:creationId xmlns:a16="http://schemas.microsoft.com/office/drawing/2014/main" id="{8DDAA11F-D6AE-7191-3B7D-1EE24E7062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23798" y="1693376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11.09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Google Shape;495;p61">
                <a:extLst>
                  <a:ext uri="{FF2B5EF4-FFF2-40B4-BE49-F238E27FC236}">
                    <a16:creationId xmlns:a16="http://schemas.microsoft.com/office/drawing/2014/main" id="{8DDAA11F-D6AE-7191-3B7D-1EE24E70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798" y="1693376"/>
                <a:ext cx="1224769" cy="357000"/>
              </a:xfrm>
              <a:prstGeom prst="rect">
                <a:avLst/>
              </a:prstGeom>
              <a:blipFill>
                <a:blip r:embed="rId4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2DA960-4239-F526-A99F-77AAC3588D7D}"/>
              </a:ext>
            </a:extLst>
          </p:cNvPr>
          <p:cNvCxnSpPr>
            <a:cxnSpLocks/>
          </p:cNvCxnSpPr>
          <p:nvPr/>
        </p:nvCxnSpPr>
        <p:spPr>
          <a:xfrm flipV="1">
            <a:off x="4691500" y="1693376"/>
            <a:ext cx="0" cy="13257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6E0BE7-63DA-9CEE-F741-8E3E0ADC8341}"/>
              </a:ext>
            </a:extLst>
          </p:cNvPr>
          <p:cNvCxnSpPr>
            <a:cxnSpLocks/>
          </p:cNvCxnSpPr>
          <p:nvPr/>
        </p:nvCxnSpPr>
        <p:spPr>
          <a:xfrm flipV="1">
            <a:off x="6512260" y="1693376"/>
            <a:ext cx="0" cy="13257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90DE81-C8D8-3FEB-3F62-25653961CA76}"/>
              </a:ext>
            </a:extLst>
          </p:cNvPr>
          <p:cNvCxnSpPr/>
          <p:nvPr/>
        </p:nvCxnSpPr>
        <p:spPr>
          <a:xfrm>
            <a:off x="4664839" y="3837690"/>
            <a:ext cx="2405332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FAF6B6-9C1C-1354-349B-17C6AA0782B6}"/>
              </a:ext>
            </a:extLst>
          </p:cNvPr>
          <p:cNvCxnSpPr>
            <a:cxnSpLocks/>
          </p:cNvCxnSpPr>
          <p:nvPr/>
        </p:nvCxnSpPr>
        <p:spPr>
          <a:xfrm>
            <a:off x="4691500" y="3258570"/>
            <a:ext cx="183642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C4C67D-AC96-D5DD-D2DE-35E0F22CF2D6}"/>
              </a:ext>
            </a:extLst>
          </p:cNvPr>
          <p:cNvCxnSpPr>
            <a:cxnSpLocks/>
          </p:cNvCxnSpPr>
          <p:nvPr/>
        </p:nvCxnSpPr>
        <p:spPr>
          <a:xfrm>
            <a:off x="6546979" y="3258570"/>
            <a:ext cx="54985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495;p61">
                <a:extLst>
                  <a:ext uri="{FF2B5EF4-FFF2-40B4-BE49-F238E27FC236}">
                    <a16:creationId xmlns:a16="http://schemas.microsoft.com/office/drawing/2014/main" id="{6A47684C-EA90-914B-BF64-32AD6C50BD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9520" y="3369630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=15.16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Google Shape;495;p61">
                <a:extLst>
                  <a:ext uri="{FF2B5EF4-FFF2-40B4-BE49-F238E27FC236}">
                    <a16:creationId xmlns:a16="http://schemas.microsoft.com/office/drawing/2014/main" id="{6A47684C-EA90-914B-BF64-32AD6C50B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520" y="3369630"/>
                <a:ext cx="1224769" cy="357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Google Shape;495;p61">
                <a:extLst>
                  <a:ext uri="{FF2B5EF4-FFF2-40B4-BE49-F238E27FC236}">
                    <a16:creationId xmlns:a16="http://schemas.microsoft.com/office/drawing/2014/main" id="{524DCDBF-9375-28D5-287B-8B481586B1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4751" y="3369630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=47.88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Google Shape;495;p61">
                <a:extLst>
                  <a:ext uri="{FF2B5EF4-FFF2-40B4-BE49-F238E27FC236}">
                    <a16:creationId xmlns:a16="http://schemas.microsoft.com/office/drawing/2014/main" id="{524DCDBF-9375-28D5-287B-8B481586B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751" y="3369630"/>
                <a:ext cx="1224769" cy="35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Google Shape;495;p61">
                <a:extLst>
                  <a:ext uri="{FF2B5EF4-FFF2-40B4-BE49-F238E27FC236}">
                    <a16:creationId xmlns:a16="http://schemas.microsoft.com/office/drawing/2014/main" id="{42BDFF48-9985-C9E2-3A57-5E8846E9D5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09138" y="2502745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65.5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Google Shape;495;p61">
                <a:extLst>
                  <a:ext uri="{FF2B5EF4-FFF2-40B4-BE49-F238E27FC236}">
                    <a16:creationId xmlns:a16="http://schemas.microsoft.com/office/drawing/2014/main" id="{42BDFF48-9985-C9E2-3A57-5E8846E9D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138" y="2502745"/>
                <a:ext cx="1224769" cy="357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Google Shape;495;p61">
                <a:extLst>
                  <a:ext uri="{FF2B5EF4-FFF2-40B4-BE49-F238E27FC236}">
                    <a16:creationId xmlns:a16="http://schemas.microsoft.com/office/drawing/2014/main" id="{744188B6-B34E-C501-78A3-62D013C77B04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6209325" y="2144861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177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𝑚𝑐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6" name="Google Shape;495;p61">
                <a:extLst>
                  <a:ext uri="{FF2B5EF4-FFF2-40B4-BE49-F238E27FC236}">
                    <a16:creationId xmlns:a16="http://schemas.microsoft.com/office/drawing/2014/main" id="{744188B6-B34E-C501-78A3-62D013C77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209325" y="2144861"/>
                <a:ext cx="1224769" cy="357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39717F-0D73-65DE-3555-C50D636F2881}"/>
              </a:ext>
            </a:extLst>
          </p:cNvPr>
          <p:cNvCxnSpPr>
            <a:cxnSpLocks/>
          </p:cNvCxnSpPr>
          <p:nvPr/>
        </p:nvCxnSpPr>
        <p:spPr>
          <a:xfrm>
            <a:off x="4691500" y="2362866"/>
            <a:ext cx="18017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860E09-7F2C-BC30-74B8-892CBD9495A2}"/>
              </a:ext>
            </a:extLst>
          </p:cNvPr>
          <p:cNvCxnSpPr>
            <a:cxnSpLocks/>
          </p:cNvCxnSpPr>
          <p:nvPr/>
        </p:nvCxnSpPr>
        <p:spPr>
          <a:xfrm>
            <a:off x="4544132" y="1681757"/>
            <a:ext cx="0" cy="65627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495;p61">
                <a:extLst>
                  <a:ext uri="{FF2B5EF4-FFF2-40B4-BE49-F238E27FC236}">
                    <a16:creationId xmlns:a16="http://schemas.microsoft.com/office/drawing/2014/main" id="{8FA7ECC6-95C2-493B-202E-4B7C680C82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9363" y="1808201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5.545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Google Shape;495;p61">
                <a:extLst>
                  <a:ext uri="{FF2B5EF4-FFF2-40B4-BE49-F238E27FC236}">
                    <a16:creationId xmlns:a16="http://schemas.microsoft.com/office/drawing/2014/main" id="{8FA7ECC6-95C2-493B-202E-4B7C680C8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363" y="1808201"/>
                <a:ext cx="1224769" cy="357000"/>
              </a:xfrm>
              <a:prstGeom prst="rect">
                <a:avLst/>
              </a:prstGeom>
              <a:blipFill>
                <a:blip r:embed="rId9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554;p66">
            <a:extLst>
              <a:ext uri="{FF2B5EF4-FFF2-40B4-BE49-F238E27FC236}">
                <a16:creationId xmlns:a16="http://schemas.microsoft.com/office/drawing/2014/main" id="{4F2DC58A-7CB0-8120-4978-541FF7595D58}"/>
              </a:ext>
            </a:extLst>
          </p:cNvPr>
          <p:cNvSpPr txBox="1">
            <a:spLocks/>
          </p:cNvSpPr>
          <p:nvPr/>
        </p:nvSpPr>
        <p:spPr>
          <a:xfrm>
            <a:off x="3112389" y="2292785"/>
            <a:ext cx="8193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a-ES" dirty="0"/>
              <a:t>N</a:t>
            </a:r>
          </a:p>
        </p:txBody>
      </p:sp>
      <p:sp>
        <p:nvSpPr>
          <p:cNvPr id="17" name="Google Shape;554;p66">
            <a:extLst>
              <a:ext uri="{FF2B5EF4-FFF2-40B4-BE49-F238E27FC236}">
                <a16:creationId xmlns:a16="http://schemas.microsoft.com/office/drawing/2014/main" id="{90A55306-453B-E677-4A15-3F5522CB9981}"/>
              </a:ext>
            </a:extLst>
          </p:cNvPr>
          <p:cNvSpPr txBox="1">
            <a:spLocks/>
          </p:cNvSpPr>
          <p:nvPr/>
        </p:nvSpPr>
        <p:spPr>
          <a:xfrm>
            <a:off x="7656100" y="2313139"/>
            <a:ext cx="8193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a-ES" dirty="0"/>
              <a:t>S</a:t>
            </a:r>
          </a:p>
        </p:txBody>
      </p:sp>
      <p:sp>
        <p:nvSpPr>
          <p:cNvPr id="18" name="Google Shape;554;p66">
            <a:extLst>
              <a:ext uri="{FF2B5EF4-FFF2-40B4-BE49-F238E27FC236}">
                <a16:creationId xmlns:a16="http://schemas.microsoft.com/office/drawing/2014/main" id="{7C2032A4-FB8C-D419-C17F-49374B846C4B}"/>
              </a:ext>
            </a:extLst>
          </p:cNvPr>
          <p:cNvSpPr txBox="1">
            <a:spLocks/>
          </p:cNvSpPr>
          <p:nvPr/>
        </p:nvSpPr>
        <p:spPr>
          <a:xfrm>
            <a:off x="5048042" y="552208"/>
            <a:ext cx="8193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a-ES" dirty="0"/>
              <a:t>E</a:t>
            </a:r>
          </a:p>
        </p:txBody>
      </p:sp>
      <p:sp>
        <p:nvSpPr>
          <p:cNvPr id="19" name="Google Shape;554;p66">
            <a:extLst>
              <a:ext uri="{FF2B5EF4-FFF2-40B4-BE49-F238E27FC236}">
                <a16:creationId xmlns:a16="http://schemas.microsoft.com/office/drawing/2014/main" id="{1C4DB6A0-0F3C-6EFE-59CB-420E12524D74}"/>
              </a:ext>
            </a:extLst>
          </p:cNvPr>
          <p:cNvSpPr txBox="1">
            <a:spLocks/>
          </p:cNvSpPr>
          <p:nvPr/>
        </p:nvSpPr>
        <p:spPr>
          <a:xfrm>
            <a:off x="6002351" y="4271370"/>
            <a:ext cx="8193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a-ES" dirty="0"/>
              <a:t>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54B22-E530-99FC-F8DF-1D509EEE0722}"/>
              </a:ext>
            </a:extLst>
          </p:cNvPr>
          <p:cNvSpPr/>
          <p:nvPr/>
        </p:nvSpPr>
        <p:spPr>
          <a:xfrm>
            <a:off x="1338314" y="2398706"/>
            <a:ext cx="932276" cy="17986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546;p65">
            <a:extLst>
              <a:ext uri="{FF2B5EF4-FFF2-40B4-BE49-F238E27FC236}">
                <a16:creationId xmlns:a16="http://schemas.microsoft.com/office/drawing/2014/main" id="{AF052F4A-AC3E-46CB-CD0E-718D6D179F96}"/>
              </a:ext>
            </a:extLst>
          </p:cNvPr>
          <p:cNvSpPr txBox="1">
            <a:spLocks/>
          </p:cNvSpPr>
          <p:nvPr/>
        </p:nvSpPr>
        <p:spPr>
          <a:xfrm>
            <a:off x="804272" y="1928158"/>
            <a:ext cx="3317330" cy="59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Font typeface="Montserrat"/>
              <a:buNone/>
            </a:pPr>
            <a:r>
              <a:rPr lang="ca-ES" dirty="0">
                <a:solidFill>
                  <a:srgbClr val="333333"/>
                </a:solidFill>
                <a:latin typeface="Open Sans" panose="020B0606030504020204" pitchFamily="34" charset="0"/>
              </a:rPr>
              <a:t>P</a:t>
            </a:r>
            <a:r>
              <a:rPr lang="ca-E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laques fotovoltaiques</a:t>
            </a:r>
            <a:endParaRPr lang="ca-E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57F7D2-3A45-32F4-FB07-BD6A92B8C1CE}"/>
              </a:ext>
            </a:extLst>
          </p:cNvPr>
          <p:cNvCxnSpPr>
            <a:cxnSpLocks/>
          </p:cNvCxnSpPr>
          <p:nvPr/>
        </p:nvCxnSpPr>
        <p:spPr>
          <a:xfrm>
            <a:off x="1338314" y="4393950"/>
            <a:ext cx="932276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68569F-3DEE-9DB6-CE82-1CC2C80CFABC}"/>
              </a:ext>
            </a:extLst>
          </p:cNvPr>
          <p:cNvCxnSpPr>
            <a:cxnSpLocks/>
          </p:cNvCxnSpPr>
          <p:nvPr/>
        </p:nvCxnSpPr>
        <p:spPr>
          <a:xfrm>
            <a:off x="7195892" y="1656867"/>
            <a:ext cx="0" cy="136227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D80478-562C-D4E1-AF7C-554C044F41CE}"/>
              </a:ext>
            </a:extLst>
          </p:cNvPr>
          <p:cNvCxnSpPr>
            <a:cxnSpLocks/>
          </p:cNvCxnSpPr>
          <p:nvPr/>
        </p:nvCxnSpPr>
        <p:spPr>
          <a:xfrm>
            <a:off x="2462937" y="2398706"/>
            <a:ext cx="0" cy="179598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Google Shape;495;p61">
                <a:extLst>
                  <a:ext uri="{FF2B5EF4-FFF2-40B4-BE49-F238E27FC236}">
                    <a16:creationId xmlns:a16="http://schemas.microsoft.com/office/drawing/2014/main" id="{630B2B14-2CB8-3EB6-7D0E-4AA9DBCD84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8314" y="4379220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=950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Google Shape;495;p61">
                <a:extLst>
                  <a:ext uri="{FF2B5EF4-FFF2-40B4-BE49-F238E27FC236}">
                    <a16:creationId xmlns:a16="http://schemas.microsoft.com/office/drawing/2014/main" id="{630B2B14-2CB8-3EB6-7D0E-4AA9DBCD8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314" y="4379220"/>
                <a:ext cx="1224769" cy="357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Google Shape;495;p61">
                <a:extLst>
                  <a:ext uri="{FF2B5EF4-FFF2-40B4-BE49-F238E27FC236}">
                    <a16:creationId xmlns:a16="http://schemas.microsoft.com/office/drawing/2014/main" id="{8037C84D-9BB7-6D0A-0575-4230C67C89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49374" y="3163712"/>
                <a:ext cx="14823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1950 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Google Shape;495;p61">
                <a:extLst>
                  <a:ext uri="{FF2B5EF4-FFF2-40B4-BE49-F238E27FC236}">
                    <a16:creationId xmlns:a16="http://schemas.microsoft.com/office/drawing/2014/main" id="{8037C84D-9BB7-6D0A-0575-4230C67C8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374" y="3163712"/>
                <a:ext cx="1482369" cy="357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Google Shape;495;p61">
                <a:extLst>
                  <a:ext uri="{FF2B5EF4-FFF2-40B4-BE49-F238E27FC236}">
                    <a16:creationId xmlns:a16="http://schemas.microsoft.com/office/drawing/2014/main" id="{35288BE8-58FC-329E-6FE9-29357E3D8D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10362" y="4307068"/>
                <a:ext cx="3157038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𝑠𝑒𝑝𝑎𝑟𝑎𝑐𝑖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ó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𝑒𝑛𝑡𝑟𝑒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𝑝𝑙𝑎𝑞𝑢𝑒𝑠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Google Shape;495;p61">
                <a:extLst>
                  <a:ext uri="{FF2B5EF4-FFF2-40B4-BE49-F238E27FC236}">
                    <a16:creationId xmlns:a16="http://schemas.microsoft.com/office/drawing/2014/main" id="{35288BE8-58FC-329E-6FE9-29357E3D8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362" y="4307068"/>
                <a:ext cx="3157038" cy="357000"/>
              </a:xfrm>
              <a:prstGeom prst="rect">
                <a:avLst/>
              </a:prstGeom>
              <a:blipFill>
                <a:blip r:embed="rId12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66E14DA1-49B2-A459-474B-0941839571B2}"/>
              </a:ext>
            </a:extLst>
          </p:cNvPr>
          <p:cNvSpPr/>
          <p:nvPr/>
        </p:nvSpPr>
        <p:spPr>
          <a:xfrm>
            <a:off x="4805739" y="2481082"/>
            <a:ext cx="455660" cy="392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A78C3-F3B7-B7BC-8F17-C8B90C77EBA5}"/>
              </a:ext>
            </a:extLst>
          </p:cNvPr>
          <p:cNvSpPr/>
          <p:nvPr/>
        </p:nvSpPr>
        <p:spPr>
          <a:xfrm>
            <a:off x="4790562" y="1804436"/>
            <a:ext cx="437202" cy="392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oogle Shape;495;p61">
                <a:extLst>
                  <a:ext uri="{FF2B5EF4-FFF2-40B4-BE49-F238E27FC236}">
                    <a16:creationId xmlns:a16="http://schemas.microsoft.com/office/drawing/2014/main" id="{BA3A46AA-9CAF-44AA-A415-11DBB2E770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96778" y="1809308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Google Shape;495;p61">
                <a:extLst>
                  <a:ext uri="{FF2B5EF4-FFF2-40B4-BE49-F238E27FC236}">
                    <a16:creationId xmlns:a16="http://schemas.microsoft.com/office/drawing/2014/main" id="{BA3A46AA-9CAF-44AA-A415-11DBB2E77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778" y="1809308"/>
                <a:ext cx="1224769" cy="357000"/>
              </a:xfrm>
              <a:prstGeom prst="rect">
                <a:avLst/>
              </a:prstGeom>
              <a:blipFill>
                <a:blip r:embed="rId13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Google Shape;495;p61">
                <a:extLst>
                  <a:ext uri="{FF2B5EF4-FFF2-40B4-BE49-F238E27FC236}">
                    <a16:creationId xmlns:a16="http://schemas.microsoft.com/office/drawing/2014/main" id="{632A7749-EFBB-13C8-2A02-53ACD697FD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5148" y="2494273"/>
                <a:ext cx="1027452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Google Shape;495;p61">
                <a:extLst>
                  <a:ext uri="{FF2B5EF4-FFF2-40B4-BE49-F238E27FC236}">
                    <a16:creationId xmlns:a16="http://schemas.microsoft.com/office/drawing/2014/main" id="{632A7749-EFBB-13C8-2A02-53ACD697F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148" y="2494273"/>
                <a:ext cx="1027452" cy="357000"/>
              </a:xfrm>
              <a:prstGeom prst="rect">
                <a:avLst/>
              </a:prstGeom>
              <a:blipFill>
                <a:blip r:embed="rId14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oogle Shape;6695;p141">
            <a:extLst>
              <a:ext uri="{FF2B5EF4-FFF2-40B4-BE49-F238E27FC236}">
                <a16:creationId xmlns:a16="http://schemas.microsoft.com/office/drawing/2014/main" id="{76315C26-2780-6308-BF9F-34FBD5F0A60B}"/>
              </a:ext>
            </a:extLst>
          </p:cNvPr>
          <p:cNvGrpSpPr/>
          <p:nvPr/>
        </p:nvGrpSpPr>
        <p:grpSpPr>
          <a:xfrm>
            <a:off x="6093203" y="668922"/>
            <a:ext cx="340204" cy="339271"/>
            <a:chOff x="3270450" y="3213625"/>
            <a:chExt cx="483175" cy="48185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6" name="Google Shape;6696;p141">
              <a:extLst>
                <a:ext uri="{FF2B5EF4-FFF2-40B4-BE49-F238E27FC236}">
                  <a16:creationId xmlns:a16="http://schemas.microsoft.com/office/drawing/2014/main" id="{C051257F-C99D-B137-748B-8B3B5653AC9E}"/>
                </a:ext>
              </a:extLst>
            </p:cNvPr>
            <p:cNvSpPr/>
            <p:nvPr/>
          </p:nvSpPr>
          <p:spPr>
            <a:xfrm>
              <a:off x="3392550" y="3335025"/>
              <a:ext cx="239050" cy="239050"/>
            </a:xfrm>
            <a:custGeom>
              <a:avLst/>
              <a:gdLst/>
              <a:ahLst/>
              <a:cxnLst/>
              <a:rect l="l" t="t" r="r" b="b"/>
              <a:pathLst>
                <a:path w="9562" h="9562" extrusionOk="0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47" name="Google Shape;6697;p141">
              <a:extLst>
                <a:ext uri="{FF2B5EF4-FFF2-40B4-BE49-F238E27FC236}">
                  <a16:creationId xmlns:a16="http://schemas.microsoft.com/office/drawing/2014/main" id="{F7B67250-DED0-F37A-4C69-121F908D0692}"/>
                </a:ext>
              </a:extLst>
            </p:cNvPr>
            <p:cNvSpPr/>
            <p:nvPr/>
          </p:nvSpPr>
          <p:spPr>
            <a:xfrm>
              <a:off x="3270450" y="3213625"/>
              <a:ext cx="483175" cy="481850"/>
            </a:xfrm>
            <a:custGeom>
              <a:avLst/>
              <a:gdLst/>
              <a:ahLst/>
              <a:cxnLst/>
              <a:rect l="l" t="t" r="r" b="b"/>
              <a:pathLst>
                <a:path w="19327" h="19274" extrusionOk="0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Google Shape;495;p61">
                <a:extLst>
                  <a:ext uri="{FF2B5EF4-FFF2-40B4-BE49-F238E27FC236}">
                    <a16:creationId xmlns:a16="http://schemas.microsoft.com/office/drawing/2014/main" id="{3132C887-94E4-49D6-4959-48CB1E1D2D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3267" y="3153684"/>
                <a:ext cx="14823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92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Google Shape;495;p61">
                <a:extLst>
                  <a:ext uri="{FF2B5EF4-FFF2-40B4-BE49-F238E27FC236}">
                    <a16:creationId xmlns:a16="http://schemas.microsoft.com/office/drawing/2014/main" id="{3132C887-94E4-49D6-4959-48CB1E1D2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67" y="3153684"/>
                <a:ext cx="1482369" cy="357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90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Rendiment de les plaques solars</a:t>
            </a:r>
            <a:endParaRPr dirty="0"/>
          </a:p>
        </p:txBody>
      </p:sp>
      <p:sp>
        <p:nvSpPr>
          <p:cNvPr id="2" name="Google Shape;623;p73">
            <a:extLst>
              <a:ext uri="{FF2B5EF4-FFF2-40B4-BE49-F238E27FC236}">
                <a16:creationId xmlns:a16="http://schemas.microsoft.com/office/drawing/2014/main" id="{FD239587-72CA-BE7D-B3E0-1D502C5BC76C}"/>
              </a:ext>
            </a:extLst>
          </p:cNvPr>
          <p:cNvSpPr txBox="1">
            <a:spLocks/>
          </p:cNvSpPr>
          <p:nvPr/>
        </p:nvSpPr>
        <p:spPr>
          <a:xfrm>
            <a:off x="480060" y="1261322"/>
            <a:ext cx="866394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a-ES" b="1" dirty="0"/>
              <a:t>En funció de la temperatura </a:t>
            </a:r>
            <a:r>
              <a:rPr lang="ca-ES" dirty="0"/>
              <a:t>ambient, la irradiació i les especificacions de la placa solar tindrem un percentatge de </a:t>
            </a:r>
            <a:r>
              <a:rPr lang="ca-ES" b="1" dirty="0"/>
              <a:t>rendiment diferent</a:t>
            </a:r>
            <a:r>
              <a:rPr lang="ca-ES" dirty="0"/>
              <a:t>.</a:t>
            </a:r>
          </a:p>
        </p:txBody>
      </p:sp>
      <p:sp>
        <p:nvSpPr>
          <p:cNvPr id="6" name="Google Shape;623;p73">
            <a:extLst>
              <a:ext uri="{FF2B5EF4-FFF2-40B4-BE49-F238E27FC236}">
                <a16:creationId xmlns:a16="http://schemas.microsoft.com/office/drawing/2014/main" id="{84E280FD-5F92-E3B8-4180-4C4632B7AA86}"/>
              </a:ext>
            </a:extLst>
          </p:cNvPr>
          <p:cNvSpPr txBox="1">
            <a:spLocks/>
          </p:cNvSpPr>
          <p:nvPr/>
        </p:nvSpPr>
        <p:spPr>
          <a:xfrm>
            <a:off x="769619" y="1961243"/>
            <a:ext cx="7528561" cy="2737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a-ES" b="1" dirty="0"/>
              <a:t>Temperatura mitjana d’Andorra </a:t>
            </a:r>
            <a:r>
              <a:rPr lang="ca-ES" dirty="0"/>
              <a:t>en les diferents estacions de l’any (2013 - 2023): </a:t>
            </a:r>
            <a:r>
              <a:rPr lang="ca-ES" b="1" dirty="0"/>
              <a:t>10,47ºC</a:t>
            </a:r>
          </a:p>
          <a:p>
            <a:endParaRPr lang="ca-ES" dirty="0"/>
          </a:p>
          <a:p>
            <a:r>
              <a:rPr lang="ca-ES" dirty="0"/>
              <a:t>Pàgina web: </a:t>
            </a:r>
            <a:r>
              <a:rPr lang="ca-ES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3"/>
              </a:rPr>
              <a:t>https://www.meteo.ad/climatologia</a:t>
            </a:r>
            <a:r>
              <a:rPr lang="ca-E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a-ES" dirty="0"/>
              <a:t>(Arxiu Excel: Temp_mit.xlsx)</a:t>
            </a:r>
          </a:p>
          <a:p>
            <a:endParaRPr lang="ca-ES" dirty="0"/>
          </a:p>
          <a:p>
            <a:r>
              <a:rPr lang="ca-ES" dirty="0"/>
              <a:t>Segons les especificacions de la nostra placa solar </a:t>
            </a:r>
          </a:p>
          <a:p>
            <a:r>
              <a:rPr lang="ca-ES" dirty="0"/>
              <a:t>tindrem un rendiment funció de la temperatura ambient</a:t>
            </a:r>
          </a:p>
          <a:p>
            <a:r>
              <a:rPr lang="ca-ES" dirty="0"/>
              <a:t>i la irradiació  </a:t>
            </a:r>
          </a:p>
          <a:p>
            <a:endParaRPr lang="ca-ES" dirty="0"/>
          </a:p>
          <a:p>
            <a:r>
              <a:rPr lang="ca-ES" dirty="0"/>
              <a:t>Amb el software </a:t>
            </a:r>
            <a:r>
              <a:rPr lang="ca-ES" dirty="0" err="1"/>
              <a:t>Pvsyst</a:t>
            </a:r>
            <a:r>
              <a:rPr lang="ca-ES" dirty="0"/>
              <a:t> i la base de dades </a:t>
            </a:r>
            <a:r>
              <a:rPr lang="ca-ES" dirty="0" err="1"/>
              <a:t>Meteonorm</a:t>
            </a:r>
            <a:r>
              <a:rPr lang="ca-ES" dirty="0"/>
              <a:t> 8.1</a:t>
            </a:r>
          </a:p>
          <a:p>
            <a:r>
              <a:rPr lang="ca-ES" dirty="0"/>
              <a:t> hem trobat que la irradiació mitjana diària a Andorra és </a:t>
            </a:r>
          </a:p>
          <a:p>
            <a:r>
              <a:rPr lang="ca-ES" dirty="0"/>
              <a:t>de 169.0 W/m^2/dia El més comú és que una placa solar </a:t>
            </a:r>
          </a:p>
          <a:p>
            <a:r>
              <a:rPr lang="ca-ES" dirty="0"/>
              <a:t>produeixi entre 250W i 300W d'energia per hora de sol</a:t>
            </a:r>
          </a:p>
          <a:p>
            <a:endParaRPr lang="ca-E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DC3585-F425-0E06-427F-04BEF9B4C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019" y="2980079"/>
            <a:ext cx="2510161" cy="153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2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Rendiment de les plaques solars</a:t>
            </a:r>
          </a:p>
        </p:txBody>
      </p:sp>
      <p:graphicFrame>
        <p:nvGraphicFramePr>
          <p:cNvPr id="1058" name="Google Shape;1058;p94"/>
          <p:cNvGraphicFramePr/>
          <p:nvPr>
            <p:extLst>
              <p:ext uri="{D42A27DB-BD31-4B8C-83A1-F6EECF244321}">
                <p14:modId xmlns:p14="http://schemas.microsoft.com/office/powerpoint/2010/main" val="805048326"/>
              </p:ext>
            </p:extLst>
          </p:nvPr>
        </p:nvGraphicFramePr>
        <p:xfrm>
          <a:off x="713225" y="2079602"/>
          <a:ext cx="7704000" cy="1402020"/>
        </p:xfrm>
        <a:graphic>
          <a:graphicData uri="http://schemas.openxmlformats.org/drawingml/2006/table">
            <a:tbl>
              <a:tblPr>
                <a:noFill/>
                <a:tableStyleId>{284363CB-7A51-478F-B3E0-03CDD63C1755}</a:tableStyleId>
              </a:tblPr>
              <a:tblGrid>
                <a:gridCol w="164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 dirty="0">
                          <a:solidFill>
                            <a:schemeClr val="accent1"/>
                          </a:solidFill>
                          <a:latin typeface="Vidaloka"/>
                          <a:sym typeface="Vidaloka"/>
                        </a:rPr>
                        <a:t>Primavera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accent1"/>
                          </a:solidFill>
                          <a:latin typeface="Vidaloka"/>
                          <a:sym typeface="Vidaloka"/>
                        </a:rPr>
                        <a:t>Estiu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Tardor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Hivern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-ES" sz="2200" b="1" noProof="0" dirty="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Hores de sol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-ES" sz="2200" b="1" noProof="0" dirty="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(mitjana)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13h 54m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13h 51m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10h 02m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10h 04m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C526079-01C9-4D71-B000-B3A6B52FBB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60" t="52928" b="30621"/>
          <a:stretch/>
        </p:blipFill>
        <p:spPr>
          <a:xfrm>
            <a:off x="1606622" y="3794971"/>
            <a:ext cx="5917205" cy="6136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623;p73">
                <a:extLst>
                  <a:ext uri="{FF2B5EF4-FFF2-40B4-BE49-F238E27FC236}">
                    <a16:creationId xmlns:a16="http://schemas.microsoft.com/office/drawing/2014/main" id="{4A0E72E9-3422-27FE-BA35-B8349503A2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60" y="1261322"/>
                <a:ext cx="8663940" cy="902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𝑔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ca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ca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=12+</m:t>
                      </m:r>
                      <m:func>
                        <m:func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a-E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ca-E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ca-E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  <m:r>
                                    <a:rPr lang="ca-E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ca-E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ca-E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t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correspon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amb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l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’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equinocci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de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primavera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(21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de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mar</m:t>
                      </m:r>
                      <m:r>
                        <a:rPr lang="ca-E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ç).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Google Shape;623;p73">
                <a:extLst>
                  <a:ext uri="{FF2B5EF4-FFF2-40B4-BE49-F238E27FC236}">
                    <a16:creationId xmlns:a16="http://schemas.microsoft.com/office/drawing/2014/main" id="{4A0E72E9-3422-27FE-BA35-B8349503A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" y="1261322"/>
                <a:ext cx="8663940" cy="902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627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Humitat relativa</a:t>
            </a:r>
            <a:endParaRPr dirty="0"/>
          </a:p>
        </p:txBody>
      </p:sp>
      <p:sp>
        <p:nvSpPr>
          <p:cNvPr id="739" name="Google Shape;739;p84"/>
          <p:cNvSpPr txBox="1"/>
          <p:nvPr/>
        </p:nvSpPr>
        <p:spPr>
          <a:xfrm>
            <a:off x="2176995" y="1257889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75% HR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0" name="Google Shape;740;p84"/>
              <p:cNvSpPr txBox="1"/>
              <p:nvPr/>
            </p:nvSpPr>
            <p:spPr>
              <a:xfrm>
                <a:off x="1596595" y="3693043"/>
                <a:ext cx="2442978" cy="1005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1 </m:t>
                      </m:r>
                      <m:sSup>
                        <m:sSupPr>
                          <m:ctrlP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𝑚</m:t>
                          </m:r>
                        </m:e>
                        <m:sup>
                          <m: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3</m:t>
                          </m:r>
                        </m:sup>
                      </m:sSup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30º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𝐶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é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𝑐𝑎𝑝𝑎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ç </m:t>
                      </m:r>
                    </m:oMath>
                  </m:oMathPara>
                </a14:m>
                <a:endParaRPr lang="en-US" i="1" dirty="0">
                  <a:solidFill>
                    <a:schemeClr val="dk2"/>
                  </a:solidFill>
                  <a:latin typeface="Cambria Math" panose="02040503050406030204" pitchFamily="18" charset="0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𝑑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’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𝑒𝑚𝑚𝑎𝑔𝑎𝑡𝑧𝑒𝑚𝑎𝑟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30.4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𝑔</m:t>
                      </m:r>
                    </m:oMath>
                  </m:oMathPara>
                </a14:m>
                <a:endParaRPr lang="en-US" i="1" dirty="0">
                  <a:solidFill>
                    <a:schemeClr val="dk2"/>
                  </a:solidFill>
                  <a:latin typeface="Cambria Math" panose="02040503050406030204" pitchFamily="18" charset="0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𝑑𝑒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𝑣𝑎𝑝𝑜𝑟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𝑑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𝑎𝑖𝑔𝑢𝑎</m:t>
                      </m:r>
                    </m:oMath>
                  </m:oMathPara>
                </a14:m>
                <a:endParaRPr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mc:Choice>
        <mc:Fallback xmlns="">
          <p:sp>
            <p:nvSpPr>
              <p:cNvPr id="740" name="Google Shape;740;p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95" y="3693043"/>
                <a:ext cx="2442978" cy="1005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7" name="Google Shape;747;p84"/>
          <p:cNvSpPr/>
          <p:nvPr/>
        </p:nvSpPr>
        <p:spPr>
          <a:xfrm>
            <a:off x="713225" y="1257889"/>
            <a:ext cx="942045" cy="942045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0" name="Google Shape;750;p84"/>
          <p:cNvSpPr/>
          <p:nvPr/>
        </p:nvSpPr>
        <p:spPr>
          <a:xfrm>
            <a:off x="714657" y="3317918"/>
            <a:ext cx="942045" cy="942045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5BF6C6-6797-679A-B4F2-FA5A328380D1}"/>
              </a:ext>
            </a:extLst>
          </p:cNvPr>
          <p:cNvSpPr/>
          <p:nvPr/>
        </p:nvSpPr>
        <p:spPr>
          <a:xfrm>
            <a:off x="899032" y="1454236"/>
            <a:ext cx="585306" cy="5500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0347B-4B40-B5D5-3E0F-861C5773B28C}"/>
              </a:ext>
            </a:extLst>
          </p:cNvPr>
          <p:cNvSpPr txBox="1"/>
          <p:nvPr/>
        </p:nvSpPr>
        <p:spPr>
          <a:xfrm>
            <a:off x="950273" y="155338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13g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740;p84">
                <a:extLst>
                  <a:ext uri="{FF2B5EF4-FFF2-40B4-BE49-F238E27FC236}">
                    <a16:creationId xmlns:a16="http://schemas.microsoft.com/office/drawing/2014/main" id="{8FFF3922-B303-B366-4D79-82ACB2F2A953}"/>
                  </a:ext>
                </a:extLst>
              </p:cNvPr>
              <p:cNvSpPr txBox="1"/>
              <p:nvPr/>
            </p:nvSpPr>
            <p:spPr>
              <a:xfrm>
                <a:off x="1722380" y="1838442"/>
                <a:ext cx="2442978" cy="94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1 </m:t>
                      </m:r>
                      <m:sSup>
                        <m:sSupPr>
                          <m:ctrlP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𝑚</m:t>
                          </m:r>
                        </m:e>
                        <m:sup>
                          <m: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3</m:t>
                          </m:r>
                        </m:sup>
                      </m:sSup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20º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𝐶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é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𝑐𝑎𝑝𝑎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ç </m:t>
                      </m:r>
                    </m:oMath>
                  </m:oMathPara>
                </a14:m>
                <a:endParaRPr lang="en-US" i="1" dirty="0">
                  <a:solidFill>
                    <a:schemeClr val="dk2"/>
                  </a:solidFill>
                  <a:latin typeface="Cambria Math" panose="02040503050406030204" pitchFamily="18" charset="0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𝑑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’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𝑒𝑚𝑚𝑎𝑔𝑎𝑡𝑧𝑒𝑚𝑎𝑟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17,3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𝑔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solidFill>
                    <a:schemeClr val="dk2"/>
                  </a:solidFill>
                  <a:latin typeface="Cambria Math" panose="02040503050406030204" pitchFamily="18" charset="0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𝑑𝑒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𝑣𝑎𝑝𝑜𝑟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𝑑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𝑎𝑖𝑔𝑢𝑎</m:t>
                      </m:r>
                    </m:oMath>
                  </m:oMathPara>
                </a14:m>
                <a:endParaRPr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mc:Choice>
        <mc:Fallback xmlns="">
          <p:sp>
            <p:nvSpPr>
              <p:cNvPr id="5" name="Google Shape;740;p84">
                <a:extLst>
                  <a:ext uri="{FF2B5EF4-FFF2-40B4-BE49-F238E27FC236}">
                    <a16:creationId xmlns:a16="http://schemas.microsoft.com/office/drawing/2014/main" id="{8FFF3922-B303-B366-4D79-82ACB2F2A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380" y="1838442"/>
                <a:ext cx="2442978" cy="942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01FE5F75-5733-77A4-2ABB-9EC24E0A8275}"/>
              </a:ext>
            </a:extLst>
          </p:cNvPr>
          <p:cNvSpPr/>
          <p:nvPr/>
        </p:nvSpPr>
        <p:spPr>
          <a:xfrm>
            <a:off x="841784" y="3469098"/>
            <a:ext cx="687789" cy="6533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FF9DA-EA28-06E4-DD47-1272A947ADA4}"/>
              </a:ext>
            </a:extLst>
          </p:cNvPr>
          <p:cNvSpPr txBox="1"/>
          <p:nvPr/>
        </p:nvSpPr>
        <p:spPr>
          <a:xfrm>
            <a:off x="944266" y="365590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13g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740;p84">
                <a:extLst>
                  <a:ext uri="{FF2B5EF4-FFF2-40B4-BE49-F238E27FC236}">
                    <a16:creationId xmlns:a16="http://schemas.microsoft.com/office/drawing/2014/main" id="{3B14EAA8-6B20-D261-CAB7-E3884AB371EB}"/>
                  </a:ext>
                </a:extLst>
              </p:cNvPr>
              <p:cNvSpPr txBox="1"/>
              <p:nvPr/>
            </p:nvSpPr>
            <p:spPr>
              <a:xfrm>
                <a:off x="5525858" y="3586777"/>
                <a:ext cx="2442978" cy="1005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1 </m:t>
                      </m:r>
                      <m:sSup>
                        <m:sSupPr>
                          <m:ctrlP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𝑚</m:t>
                          </m:r>
                        </m:e>
                        <m:sup>
                          <m:r>
                            <a:rPr lang="en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3</m:t>
                          </m:r>
                        </m:sup>
                      </m:sSup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12º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𝐶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é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𝑐𝑎𝑝𝑎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ç </m:t>
                      </m:r>
                    </m:oMath>
                  </m:oMathPara>
                </a14:m>
                <a:endParaRPr lang="en-US" i="1" dirty="0">
                  <a:solidFill>
                    <a:schemeClr val="dk2"/>
                  </a:solidFill>
                  <a:latin typeface="Cambria Math" panose="02040503050406030204" pitchFamily="18" charset="0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𝑑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’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𝑒𝑚𝑚𝑎𝑔𝑎𝑡𝑧𝑒𝑚𝑎𝑟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10,7</m:t>
                      </m:r>
                      <m:r>
                        <a:rPr lang="en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𝑔</m:t>
                      </m:r>
                    </m:oMath>
                  </m:oMathPara>
                </a14:m>
                <a:endParaRPr lang="en-US" i="1" dirty="0">
                  <a:solidFill>
                    <a:schemeClr val="dk2"/>
                  </a:solidFill>
                  <a:latin typeface="Cambria Math" panose="02040503050406030204" pitchFamily="18" charset="0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𝑑𝑒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𝑣𝑎𝑝𝑜𝑟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𝑑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𝑎𝑖𝑔𝑢𝑎</m:t>
                      </m:r>
                    </m:oMath>
                  </m:oMathPara>
                </a14:m>
                <a:endParaRPr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mc:Choice>
        <mc:Fallback xmlns="">
          <p:sp>
            <p:nvSpPr>
              <p:cNvPr id="10" name="Google Shape;740;p84">
                <a:extLst>
                  <a:ext uri="{FF2B5EF4-FFF2-40B4-BE49-F238E27FC236}">
                    <a16:creationId xmlns:a16="http://schemas.microsoft.com/office/drawing/2014/main" id="{3B14EAA8-6B20-D261-CAB7-E3884AB37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858" y="3586777"/>
                <a:ext cx="2442978" cy="10054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741;p84">
                <a:extLst>
                  <a:ext uri="{FF2B5EF4-FFF2-40B4-BE49-F238E27FC236}">
                    <a16:creationId xmlns:a16="http://schemas.microsoft.com/office/drawing/2014/main" id="{04795E75-A655-C6A9-352F-EB8723E8DF41}"/>
                  </a:ext>
                </a:extLst>
              </p:cNvPr>
              <p:cNvSpPr txBox="1"/>
              <p:nvPr/>
            </p:nvSpPr>
            <p:spPr>
              <a:xfrm>
                <a:off x="5546136" y="3126159"/>
                <a:ext cx="2597743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idaloka"/>
                        <a:sym typeface="Vidaloka"/>
                      </a:rPr>
                      <m:t>𝜵</m:t>
                    </m:r>
                    <m:r>
                      <a:rPr lang="en-US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idaloka"/>
                        <a:sym typeface="Vidaloka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idaloka"/>
                        <a:sym typeface="Vidaloka"/>
                      </a:rPr>
                      <m:t>→</m:t>
                    </m:r>
                  </m:oMath>
                </a14:m>
                <a:r>
                  <a:rPr lang="en" sz="2400" dirty="0">
                    <a:solidFill>
                      <a:schemeClr val="dk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 100% HR </a:t>
                </a:r>
                <a:endParaRPr sz="2400" dirty="0">
                  <a:solidFill>
                    <a:schemeClr val="dk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mc:Choice>
        <mc:Fallback xmlns="">
          <p:sp>
            <p:nvSpPr>
              <p:cNvPr id="11" name="Google Shape;741;p84">
                <a:extLst>
                  <a:ext uri="{FF2B5EF4-FFF2-40B4-BE49-F238E27FC236}">
                    <a16:creationId xmlns:a16="http://schemas.microsoft.com/office/drawing/2014/main" id="{04795E75-A655-C6A9-352F-EB8723E8D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136" y="3126159"/>
                <a:ext cx="2597743" cy="492600"/>
              </a:xfrm>
              <a:prstGeom prst="rect">
                <a:avLst/>
              </a:prstGeom>
              <a:blipFill>
                <a:blip r:embed="rId6"/>
                <a:stretch>
                  <a:fillRect l="-704" b="-30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750;p84">
            <a:extLst>
              <a:ext uri="{FF2B5EF4-FFF2-40B4-BE49-F238E27FC236}">
                <a16:creationId xmlns:a16="http://schemas.microsoft.com/office/drawing/2014/main" id="{417501DA-9F39-1D34-8AF2-6722A1CE3AAF}"/>
              </a:ext>
            </a:extLst>
          </p:cNvPr>
          <p:cNvSpPr/>
          <p:nvPr/>
        </p:nvSpPr>
        <p:spPr>
          <a:xfrm>
            <a:off x="4488938" y="3280776"/>
            <a:ext cx="942045" cy="942045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F2F8B0-6BFC-7061-FBE5-25B337697DFB}"/>
              </a:ext>
            </a:extLst>
          </p:cNvPr>
          <p:cNvSpPr/>
          <p:nvPr/>
        </p:nvSpPr>
        <p:spPr>
          <a:xfrm>
            <a:off x="4488939" y="3280776"/>
            <a:ext cx="942044" cy="942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C3CD9-69A4-2508-99D0-18F425C43F96}"/>
              </a:ext>
            </a:extLst>
          </p:cNvPr>
          <p:cNvSpPr txBox="1"/>
          <p:nvPr/>
        </p:nvSpPr>
        <p:spPr>
          <a:xfrm>
            <a:off x="4649373" y="3597909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10,7g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00BAB7-F01E-6C14-533B-E0C98E4272A3}"/>
                  </a:ext>
                </a:extLst>
              </p:cNvPr>
              <p:cNvSpPr txBox="1"/>
              <p:nvPr/>
            </p:nvSpPr>
            <p:spPr>
              <a:xfrm>
                <a:off x="5430983" y="4438320"/>
                <a:ext cx="20488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2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3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𝑔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sSup>
                        <m:sSupPr>
                          <m:ctrlPr>
                            <a:rPr lang="ar-AE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pPr>
                        <m:e>
                          <m:r>
                            <a:rPr lang="ar-AE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𝑑</m:t>
                          </m:r>
                        </m:e>
                        <m:sup>
                          <m:r>
                            <a:rPr lang="ar-AE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′</m:t>
                          </m:r>
                        </m:sup>
                      </m:sSup>
                      <m:r>
                        <a:rPr lang="ar-AE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𝑎𝑖𝑔𝑢𝑎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𝑙𝑖𝑞𝑢𝑖𝑑𝑎</m:t>
                      </m:r>
                    </m:oMath>
                  </m:oMathPara>
                </a14:m>
                <a:endParaRPr lang="ar-A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00BAB7-F01E-6C14-533B-E0C98E427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3" y="4438320"/>
                <a:ext cx="2048886" cy="307777"/>
              </a:xfrm>
              <a:prstGeom prst="rect">
                <a:avLst/>
              </a:prstGeom>
              <a:blipFill>
                <a:blip r:embed="rId7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9209;p146">
            <a:extLst>
              <a:ext uri="{FF2B5EF4-FFF2-40B4-BE49-F238E27FC236}">
                <a16:creationId xmlns:a16="http://schemas.microsoft.com/office/drawing/2014/main" id="{50E52A8F-E036-613C-7E8B-9F0407DC3D3E}"/>
              </a:ext>
            </a:extLst>
          </p:cNvPr>
          <p:cNvSpPr/>
          <p:nvPr/>
        </p:nvSpPr>
        <p:spPr>
          <a:xfrm>
            <a:off x="5253938" y="4330318"/>
            <a:ext cx="292198" cy="368157"/>
          </a:xfrm>
          <a:custGeom>
            <a:avLst/>
            <a:gdLst/>
            <a:ahLst/>
            <a:cxnLst/>
            <a:rect l="l" t="t" r="r" b="b"/>
            <a:pathLst>
              <a:path w="7909" h="9965" extrusionOk="0">
                <a:moveTo>
                  <a:pt x="3927" y="1"/>
                </a:moveTo>
                <a:cubicBezTo>
                  <a:pt x="3797" y="1"/>
                  <a:pt x="3671" y="56"/>
                  <a:pt x="3624" y="166"/>
                </a:cubicBezTo>
                <a:lnTo>
                  <a:pt x="1103" y="5302"/>
                </a:lnTo>
                <a:cubicBezTo>
                  <a:pt x="1" y="7412"/>
                  <a:pt x="1607" y="9964"/>
                  <a:pt x="3970" y="9964"/>
                </a:cubicBezTo>
                <a:cubicBezTo>
                  <a:pt x="6333" y="9964"/>
                  <a:pt x="7908" y="7412"/>
                  <a:pt x="6837" y="5302"/>
                </a:cubicBezTo>
                <a:lnTo>
                  <a:pt x="4254" y="166"/>
                </a:lnTo>
                <a:cubicBezTo>
                  <a:pt x="4191" y="56"/>
                  <a:pt x="4057" y="1"/>
                  <a:pt x="392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741;p84">
                <a:extLst>
                  <a:ext uri="{FF2B5EF4-FFF2-40B4-BE49-F238E27FC236}">
                    <a16:creationId xmlns:a16="http://schemas.microsoft.com/office/drawing/2014/main" id="{1CAABDB3-DA26-5882-33E5-65DB2DEF89D5}"/>
                  </a:ext>
                </a:extLst>
              </p:cNvPr>
              <p:cNvSpPr txBox="1"/>
              <p:nvPr/>
            </p:nvSpPr>
            <p:spPr>
              <a:xfrm>
                <a:off x="1771855" y="3126159"/>
                <a:ext cx="2962835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idaloka"/>
                        <a:sym typeface="Vidaloka"/>
                      </a:rPr>
                      <m:t>∆</m:t>
                    </m:r>
                    <m:r>
                      <a:rPr lang="en-US" sz="2400" b="1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idaloka"/>
                        <a:sym typeface="Vidaloka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idaloka"/>
                        <a:sym typeface="Vidaloka"/>
                      </a:rPr>
                      <m:t>→</m:t>
                    </m:r>
                  </m:oMath>
                </a14:m>
                <a:r>
                  <a:rPr lang="en" sz="2400" dirty="0">
                    <a:solidFill>
                      <a:schemeClr val="dk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42.8% HR</a:t>
                </a:r>
                <a:endParaRPr sz="2400" dirty="0">
                  <a:solidFill>
                    <a:schemeClr val="dk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mc:Choice>
        <mc:Fallback xmlns="">
          <p:sp>
            <p:nvSpPr>
              <p:cNvPr id="19" name="Google Shape;741;p84">
                <a:extLst>
                  <a:ext uri="{FF2B5EF4-FFF2-40B4-BE49-F238E27FC236}">
                    <a16:creationId xmlns:a16="http://schemas.microsoft.com/office/drawing/2014/main" id="{1CAABDB3-DA26-5882-33E5-65DB2DEF8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855" y="3126159"/>
                <a:ext cx="2962835" cy="492600"/>
              </a:xfrm>
              <a:prstGeom prst="rect">
                <a:avLst/>
              </a:prstGeom>
              <a:blipFill>
                <a:blip r:embed="rId8"/>
                <a:stretch>
                  <a:fillRect l="-617" b="-30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167770-2AB6-1A05-D9F9-C7084FBA27F1}"/>
                  </a:ext>
                </a:extLst>
              </p:cNvPr>
              <p:cNvSpPr txBox="1"/>
              <p:nvPr/>
            </p:nvSpPr>
            <p:spPr>
              <a:xfrm>
                <a:off x="4319154" y="1824677"/>
                <a:ext cx="4016356" cy="454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𝑄𝑢𝑎𝑛𝑡𝑖𝑡𝑎𝑡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𝑎𝑖𝑔𝑢𝑎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𝑎𝑖𝑟𝑒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𝑄𝑢𝑎𝑛𝑡𝑖𝑡𝑎𝑡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𝑎𝑖𝑔𝑢𝑎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𝑐𝑜𝑛𝑡𝑖𝑛𝑑𝑟𝑒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𝑎𝑖𝑟𝑒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167770-2AB6-1A05-D9F9-C7084FBA2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154" y="1824677"/>
                <a:ext cx="4016356" cy="454996"/>
              </a:xfrm>
              <a:prstGeom prst="rect">
                <a:avLst/>
              </a:prstGeom>
              <a:blipFill>
                <a:blip r:embed="rId9"/>
                <a:stretch>
                  <a:fillRect l="-456" t="-1333" r="-304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89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0" y="585780"/>
            <a:ext cx="5585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Estany (Casquet esfèric)</a:t>
            </a:r>
          </a:p>
        </p:txBody>
      </p:sp>
      <p:sp>
        <p:nvSpPr>
          <p:cNvPr id="5" name="Google Shape;546;p65">
            <a:extLst>
              <a:ext uri="{FF2B5EF4-FFF2-40B4-BE49-F238E27FC236}">
                <a16:creationId xmlns:a16="http://schemas.microsoft.com/office/drawing/2014/main" id="{D0F356AA-A144-74CD-80DB-7416EBF37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040" y="1211676"/>
            <a:ext cx="7527660" cy="59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Amb l’objectiu d’aprofitar l’aigua de la pluja es vol fer un estany en forma de casquet esfèric en la zona Z2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BE527C-7CD5-5B97-0A24-8A2D06A35BBC}"/>
              </a:ext>
            </a:extLst>
          </p:cNvPr>
          <p:cNvCxnSpPr>
            <a:cxnSpLocks/>
          </p:cNvCxnSpPr>
          <p:nvPr/>
        </p:nvCxnSpPr>
        <p:spPr>
          <a:xfrm flipV="1">
            <a:off x="5029199" y="1931940"/>
            <a:ext cx="1693143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23261-1F99-4FD4-67CC-59A90091AD97}"/>
              </a:ext>
            </a:extLst>
          </p:cNvPr>
          <p:cNvCxnSpPr>
            <a:cxnSpLocks/>
          </p:cNvCxnSpPr>
          <p:nvPr/>
        </p:nvCxnSpPr>
        <p:spPr>
          <a:xfrm>
            <a:off x="5008417" y="3254931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8B98E-BAF9-42C7-4BAE-53535987CABE}"/>
              </a:ext>
            </a:extLst>
          </p:cNvPr>
          <p:cNvCxnSpPr>
            <a:cxnSpLocks/>
          </p:cNvCxnSpPr>
          <p:nvPr/>
        </p:nvCxnSpPr>
        <p:spPr>
          <a:xfrm>
            <a:off x="6684242" y="1931940"/>
            <a:ext cx="1469158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495;p61">
            <a:extLst>
              <a:ext uri="{FF2B5EF4-FFF2-40B4-BE49-F238E27FC236}">
                <a16:creationId xmlns:a16="http://schemas.microsoft.com/office/drawing/2014/main" id="{83804AD2-F972-7F52-4321-EBCF8E7B2D78}"/>
              </a:ext>
            </a:extLst>
          </p:cNvPr>
          <p:cNvSpPr txBox="1">
            <a:spLocks/>
          </p:cNvSpPr>
          <p:nvPr/>
        </p:nvSpPr>
        <p:spPr>
          <a:xfrm>
            <a:off x="5458617" y="3574824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7465BE-5D7A-725F-0C47-817C4376A29D}"/>
              </a:ext>
            </a:extLst>
          </p:cNvPr>
          <p:cNvSpPr/>
          <p:nvPr/>
        </p:nvSpPr>
        <p:spPr>
          <a:xfrm>
            <a:off x="6067022" y="2179590"/>
            <a:ext cx="1211580" cy="1068413"/>
          </a:xfrm>
          <a:prstGeom prst="ellipse">
            <a:avLst/>
          </a:prstGeom>
          <a:solidFill>
            <a:srgbClr val="9DD1D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Imagen 43">
            <a:extLst>
              <a:ext uri="{FF2B5EF4-FFF2-40B4-BE49-F238E27FC236}">
                <a16:creationId xmlns:a16="http://schemas.microsoft.com/office/drawing/2014/main" id="{B064F7F2-9E8A-DF4D-B23F-2D36E4B57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17" r="47601" b="70356"/>
          <a:stretch/>
        </p:blipFill>
        <p:spPr>
          <a:xfrm>
            <a:off x="1320334" y="2092237"/>
            <a:ext cx="3075058" cy="24654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Imagen 50">
            <a:extLst>
              <a:ext uri="{FF2B5EF4-FFF2-40B4-BE49-F238E27FC236}">
                <a16:creationId xmlns:a16="http://schemas.microsoft.com/office/drawing/2014/main" id="{A0F1C05B-7027-3C0A-87A4-41083A630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383" y="3665694"/>
            <a:ext cx="2071718" cy="9455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973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-822792" y="585919"/>
            <a:ext cx="5585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Incentre i radi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BE527C-7CD5-5B97-0A24-8A2D06A35BBC}"/>
              </a:ext>
            </a:extLst>
          </p:cNvPr>
          <p:cNvCxnSpPr>
            <a:cxnSpLocks/>
          </p:cNvCxnSpPr>
          <p:nvPr/>
        </p:nvCxnSpPr>
        <p:spPr>
          <a:xfrm flipV="1">
            <a:off x="1147119" y="1763131"/>
            <a:ext cx="1693143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23261-1F99-4FD4-67CC-59A90091AD97}"/>
              </a:ext>
            </a:extLst>
          </p:cNvPr>
          <p:cNvCxnSpPr>
            <a:cxnSpLocks/>
          </p:cNvCxnSpPr>
          <p:nvPr/>
        </p:nvCxnSpPr>
        <p:spPr>
          <a:xfrm>
            <a:off x="1126337" y="3086122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8B98E-BAF9-42C7-4BAE-53535987CABE}"/>
              </a:ext>
            </a:extLst>
          </p:cNvPr>
          <p:cNvCxnSpPr>
            <a:cxnSpLocks/>
          </p:cNvCxnSpPr>
          <p:nvPr/>
        </p:nvCxnSpPr>
        <p:spPr>
          <a:xfrm>
            <a:off x="2802162" y="1763131"/>
            <a:ext cx="1469158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17465BE-5D7A-725F-0C47-817C4376A29D}"/>
              </a:ext>
            </a:extLst>
          </p:cNvPr>
          <p:cNvSpPr/>
          <p:nvPr/>
        </p:nvSpPr>
        <p:spPr>
          <a:xfrm>
            <a:off x="2184942" y="2010781"/>
            <a:ext cx="1211580" cy="1068413"/>
          </a:xfrm>
          <a:prstGeom prst="ellipse">
            <a:avLst/>
          </a:prstGeom>
          <a:solidFill>
            <a:srgbClr val="9DD1D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92403C-07F3-495B-075C-BC564B071822}"/>
              </a:ext>
            </a:extLst>
          </p:cNvPr>
          <p:cNvCxnSpPr>
            <a:cxnSpLocks/>
          </p:cNvCxnSpPr>
          <p:nvPr/>
        </p:nvCxnSpPr>
        <p:spPr>
          <a:xfrm>
            <a:off x="2737517" y="1859745"/>
            <a:ext cx="81602" cy="85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9E95B1-CA29-0A59-D1D8-DB7D2CA7E3AC}"/>
              </a:ext>
            </a:extLst>
          </p:cNvPr>
          <p:cNvCxnSpPr/>
          <p:nvPr/>
        </p:nvCxnSpPr>
        <p:spPr>
          <a:xfrm flipV="1">
            <a:off x="2819119" y="1873080"/>
            <a:ext cx="87943" cy="7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2014F1E-16C0-A96B-7571-16059C5DD00B}"/>
              </a:ext>
            </a:extLst>
          </p:cNvPr>
          <p:cNvCxnSpPr>
            <a:cxnSpLocks/>
          </p:cNvCxnSpPr>
          <p:nvPr/>
        </p:nvCxnSpPr>
        <p:spPr>
          <a:xfrm>
            <a:off x="2140347" y="2290060"/>
            <a:ext cx="2130973" cy="78913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DF345A-10BD-2A4D-BCFC-187D6FEC93B5}"/>
              </a:ext>
            </a:extLst>
          </p:cNvPr>
          <p:cNvCxnSpPr>
            <a:cxnSpLocks/>
            <a:stCxn id="17" idx="4"/>
          </p:cNvCxnSpPr>
          <p:nvPr/>
        </p:nvCxnSpPr>
        <p:spPr>
          <a:xfrm flipV="1">
            <a:off x="2790732" y="1794366"/>
            <a:ext cx="24967" cy="128482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C27B771-6077-53AE-F00B-C7D7C3257E39}"/>
              </a:ext>
            </a:extLst>
          </p:cNvPr>
          <p:cNvSpPr/>
          <p:nvPr/>
        </p:nvSpPr>
        <p:spPr>
          <a:xfrm>
            <a:off x="2746869" y="2477238"/>
            <a:ext cx="114175" cy="1120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7C31C72-059C-E4C6-8FA0-C21585ACD914}"/>
              </a:ext>
            </a:extLst>
          </p:cNvPr>
          <p:cNvCxnSpPr>
            <a:cxnSpLocks/>
          </p:cNvCxnSpPr>
          <p:nvPr/>
        </p:nvCxnSpPr>
        <p:spPr>
          <a:xfrm flipV="1">
            <a:off x="1126337" y="2350981"/>
            <a:ext cx="2339890" cy="70890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495;p61">
            <a:extLst>
              <a:ext uri="{FF2B5EF4-FFF2-40B4-BE49-F238E27FC236}">
                <a16:creationId xmlns:a16="http://schemas.microsoft.com/office/drawing/2014/main" id="{56EF8065-FF30-F2A5-FC2D-FDD09D2B3CE7}"/>
              </a:ext>
            </a:extLst>
          </p:cNvPr>
          <p:cNvSpPr txBox="1">
            <a:spLocks/>
          </p:cNvSpPr>
          <p:nvPr/>
        </p:nvSpPr>
        <p:spPr>
          <a:xfrm>
            <a:off x="290352" y="3200968"/>
            <a:ext cx="161676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C(-2.44, 7.14)</a:t>
            </a:r>
          </a:p>
        </p:txBody>
      </p:sp>
      <p:sp>
        <p:nvSpPr>
          <p:cNvPr id="10" name="Google Shape;495;p61">
            <a:extLst>
              <a:ext uri="{FF2B5EF4-FFF2-40B4-BE49-F238E27FC236}">
                <a16:creationId xmlns:a16="http://schemas.microsoft.com/office/drawing/2014/main" id="{93878329-ABF7-58F2-1402-0873C3BB77F0}"/>
              </a:ext>
            </a:extLst>
          </p:cNvPr>
          <p:cNvSpPr txBox="1">
            <a:spLocks/>
          </p:cNvSpPr>
          <p:nvPr/>
        </p:nvSpPr>
        <p:spPr>
          <a:xfrm>
            <a:off x="1969938" y="1297530"/>
            <a:ext cx="161676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D(-1.5, 8.36)</a:t>
            </a:r>
          </a:p>
        </p:txBody>
      </p:sp>
      <p:sp>
        <p:nvSpPr>
          <p:cNvPr id="16" name="Google Shape;495;p61">
            <a:extLst>
              <a:ext uri="{FF2B5EF4-FFF2-40B4-BE49-F238E27FC236}">
                <a16:creationId xmlns:a16="http://schemas.microsoft.com/office/drawing/2014/main" id="{69E7352D-8F40-4296-B92B-E06E554528C3}"/>
              </a:ext>
            </a:extLst>
          </p:cNvPr>
          <p:cNvSpPr txBox="1">
            <a:spLocks/>
          </p:cNvSpPr>
          <p:nvPr/>
        </p:nvSpPr>
        <p:spPr>
          <a:xfrm>
            <a:off x="3496740" y="3231529"/>
            <a:ext cx="161676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D(-0.78, 7.22)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0FC23A-56AC-72ED-0440-B029FE122C6E}"/>
              </a:ext>
            </a:extLst>
          </p:cNvPr>
          <p:cNvCxnSpPr>
            <a:cxnSpLocks/>
          </p:cNvCxnSpPr>
          <p:nvPr/>
        </p:nvCxnSpPr>
        <p:spPr>
          <a:xfrm flipV="1">
            <a:off x="5188462" y="3145148"/>
            <a:ext cx="1693143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4E8A0B6-4168-B179-6897-B451875A6B1F}"/>
              </a:ext>
            </a:extLst>
          </p:cNvPr>
          <p:cNvCxnSpPr>
            <a:cxnSpLocks/>
          </p:cNvCxnSpPr>
          <p:nvPr/>
        </p:nvCxnSpPr>
        <p:spPr>
          <a:xfrm>
            <a:off x="5167680" y="4468139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9537BAF-45DE-F6EB-F093-E9E7C98B02E7}"/>
              </a:ext>
            </a:extLst>
          </p:cNvPr>
          <p:cNvCxnSpPr>
            <a:cxnSpLocks/>
          </p:cNvCxnSpPr>
          <p:nvPr/>
        </p:nvCxnSpPr>
        <p:spPr>
          <a:xfrm>
            <a:off x="6843505" y="3145148"/>
            <a:ext cx="1469158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AA75469E-861B-3DCA-8DBE-99143269AC01}"/>
              </a:ext>
            </a:extLst>
          </p:cNvPr>
          <p:cNvSpPr/>
          <p:nvPr/>
        </p:nvSpPr>
        <p:spPr>
          <a:xfrm>
            <a:off x="6226285" y="3392798"/>
            <a:ext cx="1211580" cy="1068413"/>
          </a:xfrm>
          <a:prstGeom prst="ellipse">
            <a:avLst/>
          </a:prstGeom>
          <a:solidFill>
            <a:srgbClr val="9DD1D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870FA7-57B4-4FF7-7538-0F4CACA088DD}"/>
              </a:ext>
            </a:extLst>
          </p:cNvPr>
          <p:cNvCxnSpPr>
            <a:cxnSpLocks/>
          </p:cNvCxnSpPr>
          <p:nvPr/>
        </p:nvCxnSpPr>
        <p:spPr>
          <a:xfrm>
            <a:off x="6778860" y="3241762"/>
            <a:ext cx="81602" cy="85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4EF7EAE-BBE9-362A-C0A9-60E9D71953C1}"/>
              </a:ext>
            </a:extLst>
          </p:cNvPr>
          <p:cNvCxnSpPr/>
          <p:nvPr/>
        </p:nvCxnSpPr>
        <p:spPr>
          <a:xfrm flipV="1">
            <a:off x="6860462" y="3255097"/>
            <a:ext cx="87943" cy="7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40789E5-9543-04A5-A1B7-812699F6E997}"/>
              </a:ext>
            </a:extLst>
          </p:cNvPr>
          <p:cNvCxnSpPr>
            <a:cxnSpLocks/>
          </p:cNvCxnSpPr>
          <p:nvPr/>
        </p:nvCxnSpPr>
        <p:spPr>
          <a:xfrm>
            <a:off x="6181690" y="3672077"/>
            <a:ext cx="2130973" cy="78913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59FFC3-6119-78CB-3CC5-825E9C964A26}"/>
              </a:ext>
            </a:extLst>
          </p:cNvPr>
          <p:cNvCxnSpPr>
            <a:cxnSpLocks/>
            <a:stCxn id="54" idx="4"/>
          </p:cNvCxnSpPr>
          <p:nvPr/>
        </p:nvCxnSpPr>
        <p:spPr>
          <a:xfrm flipV="1">
            <a:off x="6832075" y="3176383"/>
            <a:ext cx="24967" cy="128482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653D8D98-DB9F-0681-96DA-CD8220A3CE1E}"/>
              </a:ext>
            </a:extLst>
          </p:cNvPr>
          <p:cNvSpPr/>
          <p:nvPr/>
        </p:nvSpPr>
        <p:spPr>
          <a:xfrm>
            <a:off x="6788212" y="3859255"/>
            <a:ext cx="114175" cy="1120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9E4B4F9-96BB-3A52-AC12-DC4036BB3F79}"/>
              </a:ext>
            </a:extLst>
          </p:cNvPr>
          <p:cNvCxnSpPr>
            <a:cxnSpLocks/>
          </p:cNvCxnSpPr>
          <p:nvPr/>
        </p:nvCxnSpPr>
        <p:spPr>
          <a:xfrm flipV="1">
            <a:off x="5167656" y="3720630"/>
            <a:ext cx="2310554" cy="75757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6774167-D2BC-71AC-2721-8FCA3E4AA914}"/>
              </a:ext>
            </a:extLst>
          </p:cNvPr>
          <p:cNvCxnSpPr>
            <a:cxnSpLocks/>
          </p:cNvCxnSpPr>
          <p:nvPr/>
        </p:nvCxnSpPr>
        <p:spPr>
          <a:xfrm flipV="1">
            <a:off x="5192511" y="3959615"/>
            <a:ext cx="1581289" cy="5085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FA7A0F4-1694-B948-2E34-07762D8E399A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6845300" y="3176383"/>
            <a:ext cx="11742" cy="6828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793FD4-3171-7A71-2B8D-EB4F0E965CCC}"/>
              </a:ext>
            </a:extLst>
          </p:cNvPr>
          <p:cNvCxnSpPr>
            <a:cxnSpLocks/>
          </p:cNvCxnSpPr>
          <p:nvPr/>
        </p:nvCxnSpPr>
        <p:spPr>
          <a:xfrm flipH="1" flipV="1">
            <a:off x="6916799" y="3937546"/>
            <a:ext cx="1363119" cy="5205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Google Shape;495;p61">
            <a:extLst>
              <a:ext uri="{FF2B5EF4-FFF2-40B4-BE49-F238E27FC236}">
                <a16:creationId xmlns:a16="http://schemas.microsoft.com/office/drawing/2014/main" id="{6BE310DF-D881-5712-B176-3DACB38B7689}"/>
              </a:ext>
            </a:extLst>
          </p:cNvPr>
          <p:cNvSpPr txBox="1">
            <a:spLocks/>
          </p:cNvSpPr>
          <p:nvPr/>
        </p:nvSpPr>
        <p:spPr>
          <a:xfrm>
            <a:off x="6773800" y="4074928"/>
            <a:ext cx="43113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r</a:t>
            </a:r>
          </a:p>
        </p:txBody>
      </p:sp>
      <p:sp>
        <p:nvSpPr>
          <p:cNvPr id="514" name="Google Shape;495;p61">
            <a:extLst>
              <a:ext uri="{FF2B5EF4-FFF2-40B4-BE49-F238E27FC236}">
                <a16:creationId xmlns:a16="http://schemas.microsoft.com/office/drawing/2014/main" id="{7FE48040-2CCF-7CAA-E985-78819AF75A74}"/>
              </a:ext>
            </a:extLst>
          </p:cNvPr>
          <p:cNvSpPr txBox="1">
            <a:spLocks/>
          </p:cNvSpPr>
          <p:nvPr/>
        </p:nvSpPr>
        <p:spPr>
          <a:xfrm>
            <a:off x="6247525" y="3709644"/>
            <a:ext cx="43113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r</a:t>
            </a:r>
          </a:p>
        </p:txBody>
      </p:sp>
      <p:sp>
        <p:nvSpPr>
          <p:cNvPr id="515" name="Google Shape;495;p61">
            <a:extLst>
              <a:ext uri="{FF2B5EF4-FFF2-40B4-BE49-F238E27FC236}">
                <a16:creationId xmlns:a16="http://schemas.microsoft.com/office/drawing/2014/main" id="{769C80FC-2865-8E2C-AEB7-B4C2DC68B93C}"/>
              </a:ext>
            </a:extLst>
          </p:cNvPr>
          <p:cNvSpPr txBox="1">
            <a:spLocks/>
          </p:cNvSpPr>
          <p:nvPr/>
        </p:nvSpPr>
        <p:spPr>
          <a:xfrm>
            <a:off x="6916799" y="3510194"/>
            <a:ext cx="43113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6" name="Google Shape;495;p61">
                <a:extLst>
                  <a:ext uri="{FF2B5EF4-FFF2-40B4-BE49-F238E27FC236}">
                    <a16:creationId xmlns:a16="http://schemas.microsoft.com/office/drawing/2014/main" id="{9CFB379E-574D-2505-0243-9F40F57101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51565" y="959670"/>
                <a:ext cx="2976467" cy="204656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𝑦𝑟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𝑧𝑟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1.54+1.25+1.66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=2.225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dirty="0"/>
                  <a:t>r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a-ES" i="1">
                            <a:latin typeface="Cambria Math" panose="02040503050406030204" pitchFamily="18" charset="0"/>
                          </a:rPr>
                          <m:t>0.9786 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2.225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=0.43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6" name="Google Shape;495;p61">
                <a:extLst>
                  <a:ext uri="{FF2B5EF4-FFF2-40B4-BE49-F238E27FC236}">
                    <a16:creationId xmlns:a16="http://schemas.microsoft.com/office/drawing/2014/main" id="{9CFB379E-574D-2505-0243-9F40F5710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565" y="959670"/>
                <a:ext cx="2976467" cy="2046564"/>
              </a:xfrm>
              <a:prstGeom prst="rect">
                <a:avLst/>
              </a:prstGeom>
              <a:blipFill>
                <a:blip r:embed="rId3"/>
                <a:stretch>
                  <a:fillRect t="-4762" b="-2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7" name="Google Shape;546;p65">
            <a:extLst>
              <a:ext uri="{FF2B5EF4-FFF2-40B4-BE49-F238E27FC236}">
                <a16:creationId xmlns:a16="http://schemas.microsoft.com/office/drawing/2014/main" id="{FD991538-15F1-914E-2F55-D67ACF0348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33552" y="3673019"/>
            <a:ext cx="2714360" cy="59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Coneixem els seus costats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(distància entre dos punts)</a:t>
            </a:r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9139E15E-9723-AC8A-9704-A1E2B2592AD2}"/>
              </a:ext>
            </a:extLst>
          </p:cNvPr>
          <p:cNvCxnSpPr>
            <a:cxnSpLocks/>
          </p:cNvCxnSpPr>
          <p:nvPr/>
        </p:nvCxnSpPr>
        <p:spPr>
          <a:xfrm flipV="1">
            <a:off x="1147119" y="1759215"/>
            <a:ext cx="1693143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617BEC41-6440-6818-807A-BE68D8CBC31F}"/>
              </a:ext>
            </a:extLst>
          </p:cNvPr>
          <p:cNvCxnSpPr>
            <a:cxnSpLocks/>
          </p:cNvCxnSpPr>
          <p:nvPr/>
        </p:nvCxnSpPr>
        <p:spPr>
          <a:xfrm>
            <a:off x="1126337" y="3082206"/>
            <a:ext cx="31449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C034A027-9F94-0B74-2C03-504E35EF022B}"/>
              </a:ext>
            </a:extLst>
          </p:cNvPr>
          <p:cNvCxnSpPr>
            <a:cxnSpLocks/>
          </p:cNvCxnSpPr>
          <p:nvPr/>
        </p:nvCxnSpPr>
        <p:spPr>
          <a:xfrm>
            <a:off x="2802162" y="1759215"/>
            <a:ext cx="1469158" cy="131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1" name="Google Shape;495;p61">
            <a:extLst>
              <a:ext uri="{FF2B5EF4-FFF2-40B4-BE49-F238E27FC236}">
                <a16:creationId xmlns:a16="http://schemas.microsoft.com/office/drawing/2014/main" id="{765A05AC-5FCF-1F2F-B273-1C6F710632A1}"/>
              </a:ext>
            </a:extLst>
          </p:cNvPr>
          <p:cNvSpPr txBox="1">
            <a:spLocks/>
          </p:cNvSpPr>
          <p:nvPr/>
        </p:nvSpPr>
        <p:spPr>
          <a:xfrm>
            <a:off x="1500337" y="3085916"/>
            <a:ext cx="47026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3" name="Google Shape;495;p61">
                <a:extLst>
                  <a:ext uri="{FF2B5EF4-FFF2-40B4-BE49-F238E27FC236}">
                    <a16:creationId xmlns:a16="http://schemas.microsoft.com/office/drawing/2014/main" id="{7C3779A4-5107-E4BD-2A87-57CA893FE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173" y="1915202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1.54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23" name="Google Shape;495;p61">
                <a:extLst>
                  <a:ext uri="{FF2B5EF4-FFF2-40B4-BE49-F238E27FC236}">
                    <a16:creationId xmlns:a16="http://schemas.microsoft.com/office/drawing/2014/main" id="{7C3779A4-5107-E4BD-2A87-57CA893FE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73" y="1915202"/>
                <a:ext cx="1224769" cy="357000"/>
              </a:xfrm>
              <a:prstGeom prst="rect">
                <a:avLst/>
              </a:prstGeom>
              <a:blipFill>
                <a:blip r:embed="rId4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4" name="Google Shape;495;p61">
                <a:extLst>
                  <a:ext uri="{FF2B5EF4-FFF2-40B4-BE49-F238E27FC236}">
                    <a16:creationId xmlns:a16="http://schemas.microsoft.com/office/drawing/2014/main" id="{832AAE2C-FA32-F981-6430-5E91AF97E3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522" y="1967769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b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1.35 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24" name="Google Shape;495;p61">
                <a:extLst>
                  <a:ext uri="{FF2B5EF4-FFF2-40B4-BE49-F238E27FC236}">
                    <a16:creationId xmlns:a16="http://schemas.microsoft.com/office/drawing/2014/main" id="{832AAE2C-FA32-F981-6430-5E91AF97E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522" y="1967769"/>
                <a:ext cx="1224769" cy="357000"/>
              </a:xfrm>
              <a:prstGeom prst="rect">
                <a:avLst/>
              </a:prstGeom>
              <a:blipFill>
                <a:blip r:embed="rId5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5" name="Google Shape;495;p61">
                <a:extLst>
                  <a:ext uri="{FF2B5EF4-FFF2-40B4-BE49-F238E27FC236}">
                    <a16:creationId xmlns:a16="http://schemas.microsoft.com/office/drawing/2014/main" id="{EABAA457-BEBB-A25D-575E-EDE777EDD8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86443" y="3175133"/>
                <a:ext cx="1224769" cy="357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1.66 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25" name="Google Shape;495;p61">
                <a:extLst>
                  <a:ext uri="{FF2B5EF4-FFF2-40B4-BE49-F238E27FC236}">
                    <a16:creationId xmlns:a16="http://schemas.microsoft.com/office/drawing/2014/main" id="{EABAA457-BEBB-A25D-575E-EDE777ED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443" y="3175133"/>
                <a:ext cx="1224769" cy="357000"/>
              </a:xfrm>
              <a:prstGeom prst="rect">
                <a:avLst/>
              </a:prstGeom>
              <a:blipFill>
                <a:blip r:embed="rId6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861BF448-8A1E-F137-B17C-916307BA917D}"/>
              </a:ext>
            </a:extLst>
          </p:cNvPr>
          <p:cNvCxnSpPr>
            <a:cxnSpLocks/>
          </p:cNvCxnSpPr>
          <p:nvPr/>
        </p:nvCxnSpPr>
        <p:spPr>
          <a:xfrm>
            <a:off x="2737517" y="1855829"/>
            <a:ext cx="81602" cy="85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0E067D07-2711-BF58-DBFD-B6120273DEE8}"/>
              </a:ext>
            </a:extLst>
          </p:cNvPr>
          <p:cNvCxnSpPr/>
          <p:nvPr/>
        </p:nvCxnSpPr>
        <p:spPr>
          <a:xfrm flipV="1">
            <a:off x="2819119" y="1869164"/>
            <a:ext cx="87943" cy="7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45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ECEBFD-8F93-9851-C44E-6F03D92E98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117" b="63368"/>
          <a:stretch/>
        </p:blipFill>
        <p:spPr>
          <a:xfrm>
            <a:off x="4024187" y="1284905"/>
            <a:ext cx="4658591" cy="2860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546;p65">
                <a:extLst>
                  <a:ext uri="{FF2B5EF4-FFF2-40B4-BE49-F238E27FC236}">
                    <a16:creationId xmlns:a16="http://schemas.microsoft.com/office/drawing/2014/main" id="{135EEBD2-85F0-AC85-6E53-D0D15523E39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40040" y="1211676"/>
                <a:ext cx="3085200" cy="300218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L’altura del casquet és igual al radi de l'esfera (0.43u), i el casquet esfèric serà un hemisferi (semiesfera).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Fórmula V Semiesfera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/>
              </a:p>
              <a:p>
                <a:pPr marL="0" indent="0">
                  <a:buNone/>
                </a:pPr>
                <a:r>
                  <a:rPr lang="ca-ES" dirty="0"/>
                  <a:t>Capacitat de l’estany: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315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/>
              </a:p>
            </p:txBody>
          </p:sp>
        </mc:Choice>
        <mc:Fallback xmlns="">
          <p:sp>
            <p:nvSpPr>
              <p:cNvPr id="12" name="Google Shape;546;p65">
                <a:extLst>
                  <a:ext uri="{FF2B5EF4-FFF2-40B4-BE49-F238E27FC236}">
                    <a16:creationId xmlns:a16="http://schemas.microsoft.com/office/drawing/2014/main" id="{135EEBD2-85F0-AC85-6E53-D0D15523E39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40040" y="1211676"/>
                <a:ext cx="3085200" cy="3002184"/>
              </a:xfrm>
              <a:prstGeom prst="rect">
                <a:avLst/>
              </a:prstGeom>
              <a:blipFill>
                <a:blip r:embed="rId4"/>
                <a:stretch>
                  <a:fillRect l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82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ECEBFD-8F93-9851-C44E-6F03D92E98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117" b="63368"/>
          <a:stretch/>
        </p:blipFill>
        <p:spPr>
          <a:xfrm>
            <a:off x="4024187" y="1284905"/>
            <a:ext cx="4658591" cy="2860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546;p65">
                <a:extLst>
                  <a:ext uri="{FF2B5EF4-FFF2-40B4-BE49-F238E27FC236}">
                    <a16:creationId xmlns:a16="http://schemas.microsoft.com/office/drawing/2014/main" id="{135EEBD2-85F0-AC85-6E53-D0D15523E39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40040" y="1211676"/>
                <a:ext cx="3085200" cy="300218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b="1" i="0" dirty="0">
                    <a:solidFill>
                      <a:srgbClr val="333333"/>
                    </a:solidFill>
                    <a:effectLst/>
                    <a:latin typeface="Open Sans" panose="020B0606030504020204" pitchFamily="34" charset="0"/>
                  </a:rPr>
                  <a:t>Lona EPDM (cautxú sintètic):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Fórmula Area Casquet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𝑟h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=2050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∗18€=36900€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a-E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𝐴𝑙𝑡𝑟𝑒𝑠</m:t>
                      </m:r>
                      <m:r>
                        <a:rPr lang="ca-E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ca-E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𝑠𝑒𝑟𝑣𝑒𝑖𝑠</m:t>
                      </m:r>
                      <m:r>
                        <a:rPr lang="ca-E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𝑃𝐺𝐶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629):5125€   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ca-ES" dirty="0"/>
              </a:p>
              <a:p>
                <a:pPr marL="0" indent="0">
                  <a:buNone/>
                </a:pPr>
                <a:endParaRPr lang="ca-ES" dirty="0"/>
              </a:p>
              <a:p>
                <a:pPr marL="0" indent="0">
                  <a:buNone/>
                </a:pPr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/>
              </a:p>
            </p:txBody>
          </p:sp>
        </mc:Choice>
        <mc:Fallback xmlns="">
          <p:sp>
            <p:nvSpPr>
              <p:cNvPr id="12" name="Google Shape;546;p65">
                <a:extLst>
                  <a:ext uri="{FF2B5EF4-FFF2-40B4-BE49-F238E27FC236}">
                    <a16:creationId xmlns:a16="http://schemas.microsoft.com/office/drawing/2014/main" id="{135EEBD2-85F0-AC85-6E53-D0D15523E39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40040" y="1211676"/>
                <a:ext cx="3085200" cy="3002184"/>
              </a:xfrm>
              <a:prstGeom prst="rect">
                <a:avLst/>
              </a:prstGeom>
              <a:blipFill>
                <a:blip r:embed="rId4"/>
                <a:stretch>
                  <a:fillRect l="-592" b="-5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318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318655" y="458880"/>
            <a:ext cx="59849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Càlculs de volum d’aigua diària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40039" y="1211675"/>
                <a:ext cx="8258488" cy="329797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Tenim que: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      De mitja la gespa natural necessita 6L per metre quadrat/dia</a:t>
                </a:r>
              </a:p>
              <a:p>
                <a:pPr marL="0" indent="0"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      De mitja un hort necessita </a:t>
                </a:r>
                <a:r>
                  <a:rPr lang="it-IT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3</a:t>
                </a: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 per metre quadrat/dia </a:t>
                </a: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      Un arbre fruiter ocupa de mitja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it-IT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it-IT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      Un arbre fruiter consumeix de mitja 30L diaris.</a:t>
                </a:r>
                <a14:m>
                  <m:oMath xmlns:m="http://schemas.openxmlformats.org/officeDocument/2006/math">
                    <m:r>
                      <a:rPr lang="ca-E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ca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285750" indent="-285750"/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it-IT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      A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𝑖𝑔𝑢𝑎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𝑡𝑜𝑡𝑎𝑙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ca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𝐽𝐸</m:t>
                    </m:r>
                    <m:r>
                      <a:rPr lang="ca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=13.646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∗6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=81.876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US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      A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𝑖𝑔𝑢𝑎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𝑡𝑜𝑡𝑎𝑙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ca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𝐽𝐸</m:t>
                    </m:r>
                    <m:r>
                      <a:rPr lang="ca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=177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∗6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=81.876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𝐿</m:t>
                    </m:r>
                  </m:oMath>
                </a14:m>
                <a:endParaRPr lang="en-US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𝐴𝑖𝑔𝑢𝑎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𝑇𝑜𝑡𝑎𝑙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𝑍𝑜𝑛𝑎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𝐻𝑜𝑟𝑡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=8.171.77</m:t>
                      </m:r>
                      <m:sSup>
                        <m:sSupPr>
                          <m:ctrlPr>
                            <a:rPr lang="ca-E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ca-E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ca-E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∗3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𝐿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=24.514,31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𝐿</m:t>
                      </m:r>
                    </m:oMath>
                  </m:oMathPara>
                </a14:m>
                <a:endParaRPr lang="en-US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Open Sans" panose="020B0606030504020204" pitchFamily="34" charset="0"/>
                    <a:cs typeface="Open Sans" panose="020B060603050402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𝐴𝑖𝑔𝑢𝑎</m:t>
                    </m:r>
                    <m:r>
                      <a:rPr lang="en-US" i="1" dirty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𝑇𝑜𝑡𝑎𝑙</m:t>
                    </m:r>
                    <m:r>
                      <a:rPr lang="en-US" i="1" dirty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𝑍𝑜𝑛𝑎</m:t>
                    </m:r>
                    <m:r>
                      <a:rPr lang="ca-ES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ca-ES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𝐴𝑟𝑏𝑟𝑒𝑠</m:t>
                    </m:r>
                    <m:r>
                      <a:rPr lang="ca-ES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(9744.7</m:t>
                    </m:r>
                    <m:sSup>
                      <m:sSupPr>
                        <m:ctrlPr>
                          <a:rPr lang="en-US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ca-E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ca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/ 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∗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30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= 73.085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𝐿</m:t>
                    </m:r>
                  </m:oMath>
                </a14:m>
                <a:endParaRPr lang="en-US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𝐴𝑖𝑔𝑢𝑎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𝑇𝑜𝑡𝑎𝑙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𝐷𝑖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à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𝑟𝑖𝑎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𝐹𝑖𝑛𝑐𝑎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: 180.537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𝐿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≈180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4C4C4C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4C4C4C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4C4C4C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it-IT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</a:t>
                </a:r>
                <a:endParaRPr lang="ca-ES" dirty="0"/>
              </a:p>
            </p:txBody>
          </p:sp>
        </mc:Choice>
        <mc:Fallback xmlns="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40039" y="1211675"/>
                <a:ext cx="8258488" cy="3297979"/>
              </a:xfrm>
              <a:prstGeom prst="rect">
                <a:avLst/>
              </a:prstGeom>
              <a:blipFill>
                <a:blip r:embed="rId3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B3E137-8A99-BF88-7A20-D9B6DAA3A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850" y="1697182"/>
            <a:ext cx="2253793" cy="1937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C5300F-2D7C-712C-8992-75D5AE4147B5}"/>
              </a:ext>
            </a:extLst>
          </p:cNvPr>
          <p:cNvCxnSpPr>
            <a:cxnSpLocks/>
          </p:cNvCxnSpPr>
          <p:nvPr/>
        </p:nvCxnSpPr>
        <p:spPr>
          <a:xfrm>
            <a:off x="1094509" y="3913910"/>
            <a:ext cx="480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62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-96981" y="583571"/>
            <a:ext cx="59849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Creació de </a:t>
            </a:r>
            <a:r>
              <a:rPr lang="ca-ES"/>
              <a:t>dipòsit d’aigua.</a:t>
            </a:r>
            <a:endParaRPr lang="ca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40039" y="1211676"/>
                <a:ext cx="8258488" cy="75566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ca-ES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S'ha de construir un gran dipòsit cilíndric de 180 m3 de volum. Volem minimitzar la superfície del cilindre per tal de minimitzar el seu cost.</a:t>
                </a:r>
                <a:endParaRPr lang="ca-ES" b="0" i="0" dirty="0">
                  <a:solidFill>
                    <a:schemeClr val="tx1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𝑉𝑜𝑙𝑢𝑚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𝑑𝑒𝑙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𝑐𝑖𝑙𝑖𝑛𝑑𝑟𝑒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180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                     </m:t>
                      </m:r>
                    </m:oMath>
                  </m:oMathPara>
                </a14:m>
                <a:endParaRPr lang="en-US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180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𝑅𝑒𝑙𝑎𝑐𝑖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ó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𝑒𝑛𝑡𝑟𝑒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𝑒𝑙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247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25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</m:t>
                      </m:r>
                    </m:oMath>
                  </m:oMathPara>
                </a14:m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180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360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−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  </m:t>
                      </m:r>
                    </m:oMath>
                  </m:oMathPara>
                </a14:m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</a:t>
                </a:r>
                <a:endParaRPr lang="ca-ES" dirty="0"/>
              </a:p>
            </p:txBody>
          </p:sp>
        </mc:Choice>
        <mc:Fallback xmlns="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40039" y="1211676"/>
                <a:ext cx="8258488" cy="755669"/>
              </a:xfrm>
              <a:prstGeom prst="rect">
                <a:avLst/>
              </a:prstGeom>
              <a:blipFill>
                <a:blip r:embed="rId3"/>
                <a:stretch>
                  <a:fillRect l="-221" b="-40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495;p61">
            <a:extLst>
              <a:ext uri="{FF2B5EF4-FFF2-40B4-BE49-F238E27FC236}">
                <a16:creationId xmlns:a16="http://schemas.microsoft.com/office/drawing/2014/main" id="{1C3F4174-B922-07C7-B490-1FBAD7DBD459}"/>
              </a:ext>
            </a:extLst>
          </p:cNvPr>
          <p:cNvSpPr txBox="1">
            <a:spLocks/>
          </p:cNvSpPr>
          <p:nvPr/>
        </p:nvSpPr>
        <p:spPr>
          <a:xfrm>
            <a:off x="6478792" y="3877368"/>
            <a:ext cx="41211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D7D92D-94DC-A7DC-C8E9-4300E56E9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762" y="1669471"/>
            <a:ext cx="4583854" cy="32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-96981" y="583571"/>
            <a:ext cx="59849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Creació del dipòsit d’aigua.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40039" y="1211675"/>
                <a:ext cx="8258488" cy="342959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Quines </a:t>
                </a:r>
                <a:r>
                  <a:rPr lang="ca-ES" dirty="0"/>
                  <a:t>dimensions (radi i altura) ha de tenir el dipòsit perquè el cost del material necessari per construir-lo sigui el mínim </a:t>
                </a:r>
                <a:r>
                  <a:rPr lang="en-US" dirty="0"/>
                  <a:t>possible?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360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−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360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360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0</m:t>
                      </m:r>
                    </m:oMath>
                  </m:oMathPara>
                </a14:m>
                <a:endParaRPr lang="en-US" b="0" dirty="0">
                  <a:solidFill>
                    <a:srgbClr val="000000"/>
                  </a:solidFill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90</m:t>
                          </m:r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/</m:t>
                          </m:r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</m:e>
                      </m:rad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 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5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35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 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</a:t>
                </a:r>
                <a:endParaRPr lang="ca-ES" dirty="0"/>
              </a:p>
            </p:txBody>
          </p:sp>
        </mc:Choice>
        <mc:Fallback xmlns="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40039" y="1211675"/>
                <a:ext cx="8258488" cy="3429597"/>
              </a:xfrm>
              <a:prstGeom prst="rect">
                <a:avLst/>
              </a:prstGeom>
              <a:blipFill>
                <a:blip r:embed="rId3"/>
                <a:stretch>
                  <a:fillRect l="-221" r="-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46;p65">
                <a:extLst>
                  <a:ext uri="{FF2B5EF4-FFF2-40B4-BE49-F238E27FC236}">
                    <a16:creationId xmlns:a16="http://schemas.microsoft.com/office/drawing/2014/main" id="{B060B521-61BF-4602-B36C-E14A895C4E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5485" y="1938769"/>
                <a:ext cx="2896780" cy="302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>
                  <a:buFont typeface="Montserrat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′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</m:d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4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𝜋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720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Font typeface="Montserrat"/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90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𝑃𝑜𝑠𝑖𝑡𝑖𝑢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Í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𝑁𝐼𝑀</m:t>
                      </m:r>
                    </m:oMath>
                  </m:oMathPara>
                </a14:m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Font typeface="Montserrat"/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180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en-US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  <m:t>90</m:t>
                                          </m:r>
                                        </m:num>
                                        <m:den>
                                          <m:r>
                                            <a:rPr lang="en-US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Open Sans" panose="020B0606030504020204" pitchFamily="34" charset="0"/>
                                            </a:rPr>
                                            <m:t>𝜋</m:t>
                                          </m:r>
                                        </m:den>
                                      </m:f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2</m:t>
                      </m:r>
                    </m:oMath>
                  </m:oMathPara>
                </a14:m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Font typeface="Montserrat"/>
                  <a:buNone/>
                </a:pPr>
                <a:endParaRPr lang="it-IT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Font typeface="Montserrat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Font typeface="Montserrat"/>
                  <a:buNone/>
                </a:pPr>
                <a:endParaRPr lang="it-IT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Font typeface="Montserrat"/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Font typeface="Montserrat"/>
                  <a:buNone/>
                </a:pPr>
                <a:endParaRPr lang="ca-ES" dirty="0"/>
              </a:p>
              <a:p>
                <a:pPr marL="0" indent="0">
                  <a:buFont typeface="Montserrat"/>
                  <a:buNone/>
                </a:pPr>
                <a:r>
                  <a:rPr lang="it-IT" dirty="0">
                    <a:solidFill>
                      <a:srgbClr val="000000"/>
                    </a:solidFill>
                    <a:latin typeface="Open Sans" panose="020B0606030504020204" pitchFamily="34" charset="0"/>
                  </a:rPr>
                  <a:t> </a:t>
                </a:r>
                <a:endParaRPr lang="ca-ES" dirty="0"/>
              </a:p>
            </p:txBody>
          </p:sp>
        </mc:Choice>
        <mc:Fallback xmlns="">
          <p:sp>
            <p:nvSpPr>
              <p:cNvPr id="3" name="Google Shape;546;p65">
                <a:extLst>
                  <a:ext uri="{FF2B5EF4-FFF2-40B4-BE49-F238E27FC236}">
                    <a16:creationId xmlns:a16="http://schemas.microsoft.com/office/drawing/2014/main" id="{B060B521-61BF-4602-B36C-E14A895C4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485" y="1938769"/>
                <a:ext cx="2896780" cy="3027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75F4F02-1E05-6C06-842B-23581CAC6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951" y="1676398"/>
            <a:ext cx="4583854" cy="32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0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Esquema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subTitle" idx="3"/>
          </p:nvPr>
        </p:nvSpPr>
        <p:spPr>
          <a:xfrm>
            <a:off x="713225" y="1825161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Aigua de la bassa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4"/>
          </p:nvPr>
        </p:nvSpPr>
        <p:spPr>
          <a:xfrm>
            <a:off x="713225" y="2137335"/>
            <a:ext cx="2486100" cy="667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El sistema primer agafarà aigua de la bassa</a:t>
            </a:r>
          </a:p>
        </p:txBody>
      </p:sp>
      <p:sp>
        <p:nvSpPr>
          <p:cNvPr id="501" name="Google Shape;501;p61"/>
          <p:cNvSpPr txBox="1">
            <a:spLocks noGrp="1"/>
          </p:cNvSpPr>
          <p:nvPr>
            <p:ph type="subTitle" idx="7"/>
          </p:nvPr>
        </p:nvSpPr>
        <p:spPr>
          <a:xfrm>
            <a:off x="713224" y="3606186"/>
            <a:ext cx="265227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Aigua canalitzada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Google Shape;502;p61"/>
              <p:cNvSpPr txBox="1">
                <a:spLocks noGrp="1"/>
              </p:cNvSpPr>
              <p:nvPr>
                <p:ph type="subTitle" idx="8"/>
              </p:nvPr>
            </p:nvSpPr>
            <p:spPr>
              <a:xfrm>
                <a:off x="713274" y="3918361"/>
                <a:ext cx="2955866" cy="618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Si la bassa està seca, agafarà l’aigua canalitzada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(0.35€</m:t>
                    </m:r>
                    <m:sSup>
                      <m:sSup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02" name="Google Shape;502;p6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8"/>
              </p:nvPr>
            </p:nvSpPr>
            <p:spPr>
              <a:xfrm>
                <a:off x="713274" y="3918361"/>
                <a:ext cx="2955866" cy="618600"/>
              </a:xfrm>
              <a:prstGeom prst="rect">
                <a:avLst/>
              </a:prstGeom>
              <a:blipFill>
                <a:blip r:embed="rId3"/>
                <a:stretch>
                  <a:fillRect b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3" name="Google Shape;503;p61"/>
          <p:cNvSpPr txBox="1">
            <a:spLocks noGrp="1"/>
          </p:cNvSpPr>
          <p:nvPr>
            <p:ph type="title" idx="9"/>
          </p:nvPr>
        </p:nvSpPr>
        <p:spPr>
          <a:xfrm>
            <a:off x="1236337" y="1219376"/>
            <a:ext cx="1439875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</a:t>
            </a:r>
            <a:endParaRPr dirty="0"/>
          </a:p>
        </p:txBody>
      </p:sp>
      <p:sp>
        <p:nvSpPr>
          <p:cNvPr id="505" name="Google Shape;505;p61"/>
          <p:cNvSpPr txBox="1">
            <a:spLocks noGrp="1"/>
          </p:cNvSpPr>
          <p:nvPr>
            <p:ph type="title" idx="14"/>
          </p:nvPr>
        </p:nvSpPr>
        <p:spPr>
          <a:xfrm>
            <a:off x="1164879" y="2983511"/>
            <a:ext cx="1786614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 V &lt; 0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7D94A-3E7A-92AB-40C1-EBF1B132C384}"/>
              </a:ext>
            </a:extLst>
          </p:cNvPr>
          <p:cNvSpPr/>
          <p:nvPr/>
        </p:nvSpPr>
        <p:spPr>
          <a:xfrm>
            <a:off x="5761164" y="1413612"/>
            <a:ext cx="1143000" cy="2504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5BDFC2-870F-88E9-B6C7-ECAC4495479D}"/>
              </a:ext>
            </a:extLst>
          </p:cNvPr>
          <p:cNvCxnSpPr>
            <a:cxnSpLocks/>
          </p:cNvCxnSpPr>
          <p:nvPr/>
        </p:nvCxnSpPr>
        <p:spPr>
          <a:xfrm>
            <a:off x="4418064" y="1874548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1BAC7E-BAE7-5A2D-E3A3-9340006C0818}"/>
              </a:ext>
            </a:extLst>
          </p:cNvPr>
          <p:cNvCxnSpPr>
            <a:cxnSpLocks/>
          </p:cNvCxnSpPr>
          <p:nvPr/>
        </p:nvCxnSpPr>
        <p:spPr>
          <a:xfrm>
            <a:off x="4418064" y="3550948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A874B-AA48-DC9E-D42A-FCC82B5480CB}"/>
              </a:ext>
            </a:extLst>
          </p:cNvPr>
          <p:cNvSpPr/>
          <p:nvPr/>
        </p:nvSpPr>
        <p:spPr>
          <a:xfrm>
            <a:off x="3737775" y="1553126"/>
            <a:ext cx="675350" cy="1553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59815-4B1D-6E81-5068-2BE8C47F7CDD}"/>
              </a:ext>
            </a:extLst>
          </p:cNvPr>
          <p:cNvCxnSpPr>
            <a:cxnSpLocks/>
          </p:cNvCxnSpPr>
          <p:nvPr/>
        </p:nvCxnSpPr>
        <p:spPr>
          <a:xfrm>
            <a:off x="4413125" y="3550948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495;p61">
            <a:extLst>
              <a:ext uri="{FF2B5EF4-FFF2-40B4-BE49-F238E27FC236}">
                <a16:creationId xmlns:a16="http://schemas.microsoft.com/office/drawing/2014/main" id="{342D7BED-6C22-FCEB-3FFA-CA3016045B87}"/>
              </a:ext>
            </a:extLst>
          </p:cNvPr>
          <p:cNvSpPr txBox="1">
            <a:spLocks/>
          </p:cNvSpPr>
          <p:nvPr/>
        </p:nvSpPr>
        <p:spPr>
          <a:xfrm>
            <a:off x="5685813" y="3955827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Sensor aigua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FF390B-F958-A462-01A8-9A4F995FB77E}"/>
              </a:ext>
            </a:extLst>
          </p:cNvPr>
          <p:cNvSpPr/>
          <p:nvPr/>
        </p:nvSpPr>
        <p:spPr>
          <a:xfrm>
            <a:off x="4324790" y="2920121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6C6684-F3E8-A306-CCDF-BB81D020EA5E}"/>
              </a:ext>
            </a:extLst>
          </p:cNvPr>
          <p:cNvSpPr/>
          <p:nvPr/>
        </p:nvSpPr>
        <p:spPr>
          <a:xfrm>
            <a:off x="6824902" y="3722872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7D1485-84E5-1A81-552A-D390F5EE5CD8}"/>
              </a:ext>
            </a:extLst>
          </p:cNvPr>
          <p:cNvSpPr/>
          <p:nvPr/>
        </p:nvSpPr>
        <p:spPr>
          <a:xfrm>
            <a:off x="6807757" y="1502210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A4ACE-9DD6-2C15-73AE-D99A27EF4CF5}"/>
              </a:ext>
            </a:extLst>
          </p:cNvPr>
          <p:cNvSpPr/>
          <p:nvPr/>
        </p:nvSpPr>
        <p:spPr>
          <a:xfrm>
            <a:off x="5787139" y="4101953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0E7BD-C326-9AD9-559C-90913BE27FCB}"/>
              </a:ext>
            </a:extLst>
          </p:cNvPr>
          <p:cNvSpPr/>
          <p:nvPr/>
        </p:nvSpPr>
        <p:spPr>
          <a:xfrm>
            <a:off x="5739750" y="4349911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495;p61">
            <a:extLst>
              <a:ext uri="{FF2B5EF4-FFF2-40B4-BE49-F238E27FC236}">
                <a16:creationId xmlns:a16="http://schemas.microsoft.com/office/drawing/2014/main" id="{2D650911-3693-B754-0EE2-88FBA4774F40}"/>
              </a:ext>
            </a:extLst>
          </p:cNvPr>
          <p:cNvSpPr txBox="1">
            <a:spLocks/>
          </p:cNvSpPr>
          <p:nvPr/>
        </p:nvSpPr>
        <p:spPr>
          <a:xfrm>
            <a:off x="5474857" y="4246939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Motor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E54BAB-6440-4CB6-2479-33B1E1F7B969}"/>
              </a:ext>
            </a:extLst>
          </p:cNvPr>
          <p:cNvSpPr/>
          <p:nvPr/>
        </p:nvSpPr>
        <p:spPr>
          <a:xfrm>
            <a:off x="4565073" y="1707602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164371-8FCA-D593-D016-2296F5A98C80}"/>
              </a:ext>
            </a:extLst>
          </p:cNvPr>
          <p:cNvSpPr/>
          <p:nvPr/>
        </p:nvSpPr>
        <p:spPr>
          <a:xfrm>
            <a:off x="4535498" y="3384001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32DCB8-D114-1F6C-B5B8-6E9DB95FCD5C}"/>
              </a:ext>
            </a:extLst>
          </p:cNvPr>
          <p:cNvCxnSpPr>
            <a:cxnSpLocks/>
          </p:cNvCxnSpPr>
          <p:nvPr/>
        </p:nvCxnSpPr>
        <p:spPr>
          <a:xfrm flipV="1">
            <a:off x="6904164" y="2064777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519CDE-D098-7308-CF2A-CCEBCB9FB8DD}"/>
              </a:ext>
            </a:extLst>
          </p:cNvPr>
          <p:cNvCxnSpPr>
            <a:cxnSpLocks/>
          </p:cNvCxnSpPr>
          <p:nvPr/>
        </p:nvCxnSpPr>
        <p:spPr>
          <a:xfrm flipV="1">
            <a:off x="6897814" y="3328427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29DC51-6CC8-656D-1EBF-9CA9A82422CE}"/>
                  </a:ext>
                </a:extLst>
              </p:cNvPr>
              <p:cNvSpPr txBox="1"/>
              <p:nvPr/>
            </p:nvSpPr>
            <p:spPr>
              <a:xfrm>
                <a:off x="5883002" y="2497059"/>
                <a:ext cx="9419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180 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29DC51-6CC8-656D-1EBF-9CA9A8242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002" y="2497059"/>
                <a:ext cx="9419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44E142-91AB-1CD6-DC46-D72E95D53445}"/>
              </a:ext>
            </a:extLst>
          </p:cNvPr>
          <p:cNvCxnSpPr>
            <a:cxnSpLocks/>
          </p:cNvCxnSpPr>
          <p:nvPr/>
        </p:nvCxnSpPr>
        <p:spPr>
          <a:xfrm flipV="1">
            <a:off x="5600700" y="2032387"/>
            <a:ext cx="0" cy="13516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A8E36B-DF99-8301-B7EB-DE90876316F7}"/>
                  </a:ext>
                </a:extLst>
              </p:cNvPr>
              <p:cNvSpPr txBox="1"/>
              <p:nvPr/>
            </p:nvSpPr>
            <p:spPr>
              <a:xfrm>
                <a:off x="4565073" y="2442585"/>
                <a:ext cx="1216025" cy="478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h</m:t>
                      </m:r>
                      <m:r>
                        <a:rPr lang="en-US" sz="7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sz="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180</m:t>
                          </m:r>
                        </m:num>
                        <m:den>
                          <m:r>
                            <a:rPr lang="en-US" sz="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7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7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7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en-US" sz="7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7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  <m:t>90</m:t>
                                          </m:r>
                                        </m:num>
                                        <m:den>
                                          <m:r>
                                            <a:rPr lang="en-US" sz="7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Open Sans" panose="020B0606030504020204" pitchFamily="34" charset="0"/>
                                            </a:rPr>
                                            <m:t>𝜋</m:t>
                                          </m:r>
                                        </m:den>
                                      </m:f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7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A8E36B-DF99-8301-B7EB-DE9087631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73" y="2442585"/>
                <a:ext cx="1216025" cy="478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25FCBE-DB12-42BD-2748-FC248FBD4F92}"/>
                  </a:ext>
                </a:extLst>
              </p:cNvPr>
              <p:cNvSpPr txBox="1"/>
              <p:nvPr/>
            </p:nvSpPr>
            <p:spPr>
              <a:xfrm>
                <a:off x="5679951" y="770807"/>
                <a:ext cx="1184582" cy="297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</m:t>
                      </m:r>
                      <m:r>
                        <a:rPr lang="en-US" sz="105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05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105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90/</m:t>
                          </m:r>
                          <m:r>
                            <a:rPr lang="en-US" sz="105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</m:e>
                      </m:rad>
                      <m:r>
                        <a:rPr lang="en-US" sz="105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25FCBE-DB12-42BD-2748-FC248FBD4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951" y="770807"/>
                <a:ext cx="1184582" cy="297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Arc 50">
            <a:extLst>
              <a:ext uri="{FF2B5EF4-FFF2-40B4-BE49-F238E27FC236}">
                <a16:creationId xmlns:a16="http://schemas.microsoft.com/office/drawing/2014/main" id="{0C0C97F8-E84D-ECB0-B710-7D2827B5BB4D}"/>
              </a:ext>
            </a:extLst>
          </p:cNvPr>
          <p:cNvSpPr/>
          <p:nvPr/>
        </p:nvSpPr>
        <p:spPr>
          <a:xfrm>
            <a:off x="5756225" y="1105216"/>
            <a:ext cx="1130794" cy="673368"/>
          </a:xfrm>
          <a:prstGeom prst="arc">
            <a:avLst>
              <a:gd name="adj1" fmla="val 10946401"/>
              <a:gd name="adj2" fmla="val 21396179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1007F3-2BFD-9874-F9C8-FF88AB4D8632}"/>
              </a:ext>
            </a:extLst>
          </p:cNvPr>
          <p:cNvCxnSpPr>
            <a:endCxn id="14" idx="0"/>
          </p:cNvCxnSpPr>
          <p:nvPr/>
        </p:nvCxnSpPr>
        <p:spPr>
          <a:xfrm>
            <a:off x="6324600" y="1105216"/>
            <a:ext cx="8064" cy="308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21D0C7-E32D-55EC-695C-63B53B7E5287}"/>
                  </a:ext>
                </a:extLst>
              </p:cNvPr>
              <p:cNvSpPr txBox="1"/>
              <p:nvPr/>
            </p:nvSpPr>
            <p:spPr>
              <a:xfrm rot="16200000">
                <a:off x="3507778" y="2192367"/>
                <a:ext cx="11353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12.315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21D0C7-E32D-55EC-695C-63B53B7E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07778" y="2192367"/>
                <a:ext cx="113534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oogle Shape;9208;p146">
            <a:extLst>
              <a:ext uri="{FF2B5EF4-FFF2-40B4-BE49-F238E27FC236}">
                <a16:creationId xmlns:a16="http://schemas.microsoft.com/office/drawing/2014/main" id="{0AA2726B-18D1-1B44-B19C-446A2C6AC604}"/>
              </a:ext>
            </a:extLst>
          </p:cNvPr>
          <p:cNvGrpSpPr/>
          <p:nvPr/>
        </p:nvGrpSpPr>
        <p:grpSpPr>
          <a:xfrm>
            <a:off x="4190910" y="4115695"/>
            <a:ext cx="486566" cy="414708"/>
            <a:chOff x="-19835275" y="3330250"/>
            <a:chExt cx="329250" cy="280625"/>
          </a:xfrm>
          <a:solidFill>
            <a:schemeClr val="tx1"/>
          </a:solidFill>
        </p:grpSpPr>
        <p:sp>
          <p:nvSpPr>
            <p:cNvPr id="57" name="Google Shape;9209;p146">
              <a:extLst>
                <a:ext uri="{FF2B5EF4-FFF2-40B4-BE49-F238E27FC236}">
                  <a16:creationId xmlns:a16="http://schemas.microsoft.com/office/drawing/2014/main" id="{A44740B2-49CB-062D-2AE9-A855641B179E}"/>
                </a:ext>
              </a:extLst>
            </p:cNvPr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9210;p146">
              <a:extLst>
                <a:ext uri="{FF2B5EF4-FFF2-40B4-BE49-F238E27FC236}">
                  <a16:creationId xmlns:a16="http://schemas.microsoft.com/office/drawing/2014/main" id="{AB05B504-29EF-6AED-F12D-95F18317B5CF}"/>
                </a:ext>
              </a:extLst>
            </p:cNvPr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9211;p146">
              <a:extLst>
                <a:ext uri="{FF2B5EF4-FFF2-40B4-BE49-F238E27FC236}">
                  <a16:creationId xmlns:a16="http://schemas.microsoft.com/office/drawing/2014/main" id="{E0D04FEE-5897-90D5-BCBB-7986E0EE33A7}"/>
                </a:ext>
              </a:extLst>
            </p:cNvPr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538028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Esquema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7D94A-3E7A-92AB-40C1-EBF1B132C384}"/>
              </a:ext>
            </a:extLst>
          </p:cNvPr>
          <p:cNvSpPr/>
          <p:nvPr/>
        </p:nvSpPr>
        <p:spPr>
          <a:xfrm>
            <a:off x="2505346" y="1621430"/>
            <a:ext cx="1143000" cy="2504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5BDFC2-870F-88E9-B6C7-ECAC4495479D}"/>
              </a:ext>
            </a:extLst>
          </p:cNvPr>
          <p:cNvCxnSpPr>
            <a:cxnSpLocks/>
          </p:cNvCxnSpPr>
          <p:nvPr/>
        </p:nvCxnSpPr>
        <p:spPr>
          <a:xfrm>
            <a:off x="1162246" y="2082366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1BAC7E-BAE7-5A2D-E3A3-9340006C0818}"/>
              </a:ext>
            </a:extLst>
          </p:cNvPr>
          <p:cNvCxnSpPr>
            <a:cxnSpLocks/>
          </p:cNvCxnSpPr>
          <p:nvPr/>
        </p:nvCxnSpPr>
        <p:spPr>
          <a:xfrm>
            <a:off x="1162246" y="3758766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A874B-AA48-DC9E-D42A-FCC82B5480CB}"/>
              </a:ext>
            </a:extLst>
          </p:cNvPr>
          <p:cNvSpPr/>
          <p:nvPr/>
        </p:nvSpPr>
        <p:spPr>
          <a:xfrm>
            <a:off x="481957" y="1760944"/>
            <a:ext cx="675350" cy="1553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59815-4B1D-6E81-5068-2BE8C47F7CDD}"/>
              </a:ext>
            </a:extLst>
          </p:cNvPr>
          <p:cNvCxnSpPr>
            <a:cxnSpLocks/>
          </p:cNvCxnSpPr>
          <p:nvPr/>
        </p:nvCxnSpPr>
        <p:spPr>
          <a:xfrm>
            <a:off x="1157307" y="3758766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495;p61">
            <a:extLst>
              <a:ext uri="{FF2B5EF4-FFF2-40B4-BE49-F238E27FC236}">
                <a16:creationId xmlns:a16="http://schemas.microsoft.com/office/drawing/2014/main" id="{342D7BED-6C22-FCEB-3FFA-CA3016045B87}"/>
              </a:ext>
            </a:extLst>
          </p:cNvPr>
          <p:cNvSpPr txBox="1">
            <a:spLocks/>
          </p:cNvSpPr>
          <p:nvPr/>
        </p:nvSpPr>
        <p:spPr>
          <a:xfrm>
            <a:off x="4662485" y="52476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Sensor aigua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FF390B-F958-A462-01A8-9A4F995FB77E}"/>
              </a:ext>
            </a:extLst>
          </p:cNvPr>
          <p:cNvSpPr/>
          <p:nvPr/>
        </p:nvSpPr>
        <p:spPr>
          <a:xfrm>
            <a:off x="1068972" y="3127939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6C6684-F3E8-A306-CCDF-BB81D020EA5E}"/>
              </a:ext>
            </a:extLst>
          </p:cNvPr>
          <p:cNvSpPr/>
          <p:nvPr/>
        </p:nvSpPr>
        <p:spPr>
          <a:xfrm>
            <a:off x="3569084" y="3930690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7D1485-84E5-1A81-552A-D390F5EE5CD8}"/>
              </a:ext>
            </a:extLst>
          </p:cNvPr>
          <p:cNvSpPr/>
          <p:nvPr/>
        </p:nvSpPr>
        <p:spPr>
          <a:xfrm>
            <a:off x="3551939" y="1710028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A4ACE-9DD6-2C15-73AE-D99A27EF4CF5}"/>
              </a:ext>
            </a:extLst>
          </p:cNvPr>
          <p:cNvSpPr/>
          <p:nvPr/>
        </p:nvSpPr>
        <p:spPr>
          <a:xfrm>
            <a:off x="4763811" y="670892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0E7BD-C326-9AD9-559C-90913BE27FCB}"/>
              </a:ext>
            </a:extLst>
          </p:cNvPr>
          <p:cNvSpPr/>
          <p:nvPr/>
        </p:nvSpPr>
        <p:spPr>
          <a:xfrm>
            <a:off x="4716422" y="918850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495;p61">
            <a:extLst>
              <a:ext uri="{FF2B5EF4-FFF2-40B4-BE49-F238E27FC236}">
                <a16:creationId xmlns:a16="http://schemas.microsoft.com/office/drawing/2014/main" id="{2D650911-3693-B754-0EE2-88FBA4774F40}"/>
              </a:ext>
            </a:extLst>
          </p:cNvPr>
          <p:cNvSpPr txBox="1">
            <a:spLocks/>
          </p:cNvSpPr>
          <p:nvPr/>
        </p:nvSpPr>
        <p:spPr>
          <a:xfrm>
            <a:off x="4424679" y="835812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Motor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E54BAB-6440-4CB6-2479-33B1E1F7B969}"/>
              </a:ext>
            </a:extLst>
          </p:cNvPr>
          <p:cNvSpPr/>
          <p:nvPr/>
        </p:nvSpPr>
        <p:spPr>
          <a:xfrm>
            <a:off x="3941524" y="3591819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164371-8FCA-D593-D016-2296F5A98C80}"/>
              </a:ext>
            </a:extLst>
          </p:cNvPr>
          <p:cNvSpPr/>
          <p:nvPr/>
        </p:nvSpPr>
        <p:spPr>
          <a:xfrm>
            <a:off x="3941523" y="2404803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32DCB8-D114-1F6C-B5B8-6E9DB95FCD5C}"/>
              </a:ext>
            </a:extLst>
          </p:cNvPr>
          <p:cNvCxnSpPr>
            <a:cxnSpLocks/>
          </p:cNvCxnSpPr>
          <p:nvPr/>
        </p:nvCxnSpPr>
        <p:spPr>
          <a:xfrm flipV="1">
            <a:off x="3631201" y="2571750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E2B1D8-74B4-3674-6C69-A40EDA0E8320}"/>
              </a:ext>
            </a:extLst>
          </p:cNvPr>
          <p:cNvCxnSpPr>
            <a:cxnSpLocks/>
          </p:cNvCxnSpPr>
          <p:nvPr/>
        </p:nvCxnSpPr>
        <p:spPr>
          <a:xfrm flipV="1">
            <a:off x="3648346" y="3757956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44DEA1-831E-2E53-49B1-A5219A763887}"/>
              </a:ext>
            </a:extLst>
          </p:cNvPr>
          <p:cNvCxnSpPr>
            <a:cxnSpLocks/>
          </p:cNvCxnSpPr>
          <p:nvPr/>
        </p:nvCxnSpPr>
        <p:spPr>
          <a:xfrm>
            <a:off x="4953002" y="2334290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7D70BD-15E9-324F-0628-52BB68D199F0}"/>
              </a:ext>
            </a:extLst>
          </p:cNvPr>
          <p:cNvCxnSpPr>
            <a:cxnSpLocks/>
          </p:cNvCxnSpPr>
          <p:nvPr/>
        </p:nvCxnSpPr>
        <p:spPr>
          <a:xfrm>
            <a:off x="4980710" y="3591819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E4F707-2D6C-96A0-7693-48E48E6A6C3F}"/>
              </a:ext>
            </a:extLst>
          </p:cNvPr>
          <p:cNvCxnSpPr>
            <a:cxnSpLocks/>
          </p:cNvCxnSpPr>
          <p:nvPr/>
        </p:nvCxnSpPr>
        <p:spPr>
          <a:xfrm flipV="1">
            <a:off x="4980710" y="3599195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421720-20B3-1BBF-2098-14EE843B24E7}"/>
              </a:ext>
            </a:extLst>
          </p:cNvPr>
          <p:cNvCxnSpPr>
            <a:cxnSpLocks/>
          </p:cNvCxnSpPr>
          <p:nvPr/>
        </p:nvCxnSpPr>
        <p:spPr>
          <a:xfrm flipV="1">
            <a:off x="4980710" y="4065929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954D04-E693-F245-29F7-37E81C66897E}"/>
              </a:ext>
            </a:extLst>
          </p:cNvPr>
          <p:cNvCxnSpPr>
            <a:cxnSpLocks/>
          </p:cNvCxnSpPr>
          <p:nvPr/>
        </p:nvCxnSpPr>
        <p:spPr>
          <a:xfrm flipV="1">
            <a:off x="4947770" y="2338383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B7B561-772A-ED1D-037B-54759618DED0}"/>
              </a:ext>
            </a:extLst>
          </p:cNvPr>
          <p:cNvCxnSpPr>
            <a:cxnSpLocks/>
          </p:cNvCxnSpPr>
          <p:nvPr/>
        </p:nvCxnSpPr>
        <p:spPr>
          <a:xfrm flipV="1">
            <a:off x="4947769" y="2799619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A19C670-D5D3-021F-6B14-D23CC651DE95}"/>
              </a:ext>
            </a:extLst>
          </p:cNvPr>
          <p:cNvSpPr/>
          <p:nvPr/>
        </p:nvSpPr>
        <p:spPr>
          <a:xfrm>
            <a:off x="1362346" y="1915420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172638-0F1B-6F90-47DB-8D391D078248}"/>
              </a:ext>
            </a:extLst>
          </p:cNvPr>
          <p:cNvSpPr/>
          <p:nvPr/>
        </p:nvSpPr>
        <p:spPr>
          <a:xfrm>
            <a:off x="1271273" y="3591010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02AE5045-19D2-3C23-6778-B30C8580FC1E}"/>
              </a:ext>
            </a:extLst>
          </p:cNvPr>
          <p:cNvSpPr/>
          <p:nvPr/>
        </p:nvSpPr>
        <p:spPr>
          <a:xfrm>
            <a:off x="4763811" y="1234227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6C39DA6A-2196-6661-BD41-7EDCB3ED966B}"/>
              </a:ext>
            </a:extLst>
          </p:cNvPr>
          <p:cNvSpPr/>
          <p:nvPr/>
        </p:nvSpPr>
        <p:spPr>
          <a:xfrm>
            <a:off x="4917221" y="2253759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C4F37E9-DE6F-72FE-67CF-450383D66C4C}"/>
              </a:ext>
            </a:extLst>
          </p:cNvPr>
          <p:cNvSpPr/>
          <p:nvPr/>
        </p:nvSpPr>
        <p:spPr>
          <a:xfrm>
            <a:off x="4917220" y="2692087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B252AF16-AB78-9EDA-C6A4-199CBDFECBA2}"/>
              </a:ext>
            </a:extLst>
          </p:cNvPr>
          <p:cNvSpPr/>
          <p:nvPr/>
        </p:nvSpPr>
        <p:spPr>
          <a:xfrm>
            <a:off x="4927957" y="3522879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32BABFEA-AFD0-F359-C65F-6FE031435F6C}"/>
              </a:ext>
            </a:extLst>
          </p:cNvPr>
          <p:cNvSpPr/>
          <p:nvPr/>
        </p:nvSpPr>
        <p:spPr>
          <a:xfrm>
            <a:off x="4947008" y="3975809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Google Shape;495;p61">
            <a:extLst>
              <a:ext uri="{FF2B5EF4-FFF2-40B4-BE49-F238E27FC236}">
                <a16:creationId xmlns:a16="http://schemas.microsoft.com/office/drawing/2014/main" id="{295E6922-40EC-F056-882C-663ED5C80E52}"/>
              </a:ext>
            </a:extLst>
          </p:cNvPr>
          <p:cNvSpPr txBox="1">
            <a:spLocks/>
          </p:cNvSpPr>
          <p:nvPr/>
        </p:nvSpPr>
        <p:spPr>
          <a:xfrm>
            <a:off x="4620827" y="2512367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2</a:t>
            </a:r>
            <a:endParaRPr lang="ca-ES" dirty="0"/>
          </a:p>
        </p:txBody>
      </p:sp>
      <p:sp>
        <p:nvSpPr>
          <p:cNvPr id="47" name="Google Shape;495;p61">
            <a:extLst>
              <a:ext uri="{FF2B5EF4-FFF2-40B4-BE49-F238E27FC236}">
                <a16:creationId xmlns:a16="http://schemas.microsoft.com/office/drawing/2014/main" id="{E8DF2E05-50B5-CA7F-BE76-1D5C088D5506}"/>
              </a:ext>
            </a:extLst>
          </p:cNvPr>
          <p:cNvSpPr txBox="1">
            <a:spLocks/>
          </p:cNvSpPr>
          <p:nvPr/>
        </p:nvSpPr>
        <p:spPr>
          <a:xfrm>
            <a:off x="4620827" y="2041450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1</a:t>
            </a:r>
            <a:endParaRPr lang="ca-ES" dirty="0"/>
          </a:p>
        </p:txBody>
      </p:sp>
      <p:sp>
        <p:nvSpPr>
          <p:cNvPr id="48" name="Google Shape;495;p61">
            <a:extLst>
              <a:ext uri="{FF2B5EF4-FFF2-40B4-BE49-F238E27FC236}">
                <a16:creationId xmlns:a16="http://schemas.microsoft.com/office/drawing/2014/main" id="{48636683-5EA5-5C8C-D49E-1FEE29711FEB}"/>
              </a:ext>
            </a:extLst>
          </p:cNvPr>
          <p:cNvSpPr txBox="1">
            <a:spLocks/>
          </p:cNvSpPr>
          <p:nvPr/>
        </p:nvSpPr>
        <p:spPr>
          <a:xfrm>
            <a:off x="4620827" y="3283565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3</a:t>
            </a:r>
            <a:endParaRPr lang="ca-ES" dirty="0"/>
          </a:p>
        </p:txBody>
      </p:sp>
      <p:sp>
        <p:nvSpPr>
          <p:cNvPr id="49" name="Google Shape;495;p61">
            <a:extLst>
              <a:ext uri="{FF2B5EF4-FFF2-40B4-BE49-F238E27FC236}">
                <a16:creationId xmlns:a16="http://schemas.microsoft.com/office/drawing/2014/main" id="{7FC5EF2C-5C22-099E-AA19-B255823392EB}"/>
              </a:ext>
            </a:extLst>
          </p:cNvPr>
          <p:cNvSpPr txBox="1">
            <a:spLocks/>
          </p:cNvSpPr>
          <p:nvPr/>
        </p:nvSpPr>
        <p:spPr>
          <a:xfrm>
            <a:off x="4684041" y="3764200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3</a:t>
            </a:r>
            <a:endParaRPr lang="ca-ES" dirty="0"/>
          </a:p>
        </p:txBody>
      </p:sp>
      <p:sp>
        <p:nvSpPr>
          <p:cNvPr id="51" name="Google Shape;495;p61">
            <a:extLst>
              <a:ext uri="{FF2B5EF4-FFF2-40B4-BE49-F238E27FC236}">
                <a16:creationId xmlns:a16="http://schemas.microsoft.com/office/drawing/2014/main" id="{6D62E544-BC7B-6A54-AF7C-FE4B11BB61BD}"/>
              </a:ext>
            </a:extLst>
          </p:cNvPr>
          <p:cNvSpPr txBox="1">
            <a:spLocks/>
          </p:cNvSpPr>
          <p:nvPr/>
        </p:nvSpPr>
        <p:spPr>
          <a:xfrm>
            <a:off x="4467351" y="115963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Vàlvula</a:t>
            </a:r>
          </a:p>
        </p:txBody>
      </p:sp>
      <p:sp>
        <p:nvSpPr>
          <p:cNvPr id="52" name="Google Shape;495;p61">
            <a:extLst>
              <a:ext uri="{FF2B5EF4-FFF2-40B4-BE49-F238E27FC236}">
                <a16:creationId xmlns:a16="http://schemas.microsoft.com/office/drawing/2014/main" id="{9E222379-5DB3-B4A6-F7A0-76041CC580F0}"/>
              </a:ext>
            </a:extLst>
          </p:cNvPr>
          <p:cNvSpPr txBox="1">
            <a:spLocks/>
          </p:cNvSpPr>
          <p:nvPr/>
        </p:nvSpPr>
        <p:spPr>
          <a:xfrm>
            <a:off x="3721873" y="2285572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Motor 1</a:t>
            </a:r>
            <a:endParaRPr lang="ca-ES" dirty="0"/>
          </a:p>
        </p:txBody>
      </p:sp>
      <p:sp>
        <p:nvSpPr>
          <p:cNvPr id="53" name="Google Shape;495;p61">
            <a:extLst>
              <a:ext uri="{FF2B5EF4-FFF2-40B4-BE49-F238E27FC236}">
                <a16:creationId xmlns:a16="http://schemas.microsoft.com/office/drawing/2014/main" id="{D12FA446-F194-EE38-20F1-185FC027DB29}"/>
              </a:ext>
            </a:extLst>
          </p:cNvPr>
          <p:cNvSpPr txBox="1">
            <a:spLocks/>
          </p:cNvSpPr>
          <p:nvPr/>
        </p:nvSpPr>
        <p:spPr>
          <a:xfrm>
            <a:off x="3721873" y="3487797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Motor 2</a:t>
            </a:r>
            <a:endParaRPr lang="ca-ES" dirty="0"/>
          </a:p>
        </p:txBody>
      </p:sp>
      <p:grpSp>
        <p:nvGrpSpPr>
          <p:cNvPr id="54" name="Google Shape;9013;p146">
            <a:extLst>
              <a:ext uri="{FF2B5EF4-FFF2-40B4-BE49-F238E27FC236}">
                <a16:creationId xmlns:a16="http://schemas.microsoft.com/office/drawing/2014/main" id="{4A5177DE-690A-5D87-7950-4C1FA212F750}"/>
              </a:ext>
            </a:extLst>
          </p:cNvPr>
          <p:cNvGrpSpPr/>
          <p:nvPr/>
        </p:nvGrpSpPr>
        <p:grpSpPr>
          <a:xfrm>
            <a:off x="6489139" y="3975809"/>
            <a:ext cx="450470" cy="449325"/>
            <a:chOff x="-20946600" y="3317850"/>
            <a:chExt cx="304825" cy="30405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55" name="Google Shape;9014;p146">
              <a:extLst>
                <a:ext uri="{FF2B5EF4-FFF2-40B4-BE49-F238E27FC236}">
                  <a16:creationId xmlns:a16="http://schemas.microsoft.com/office/drawing/2014/main" id="{87B45CCF-B011-B690-7B0E-CB84CD0C2F99}"/>
                </a:ext>
              </a:extLst>
            </p:cNvPr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9015;p146">
              <a:extLst>
                <a:ext uri="{FF2B5EF4-FFF2-40B4-BE49-F238E27FC236}">
                  <a16:creationId xmlns:a16="http://schemas.microsoft.com/office/drawing/2014/main" id="{65E6AD30-CD1A-46D3-F7E8-29E88809E106}"/>
                </a:ext>
              </a:extLst>
            </p:cNvPr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9016;p146">
              <a:extLst>
                <a:ext uri="{FF2B5EF4-FFF2-40B4-BE49-F238E27FC236}">
                  <a16:creationId xmlns:a16="http://schemas.microsoft.com/office/drawing/2014/main" id="{7D32294A-460E-BD25-D794-CC1FE0B7A7AB}"/>
                </a:ext>
              </a:extLst>
            </p:cNvPr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8" name="Google Shape;9257;p146">
            <a:extLst>
              <a:ext uri="{FF2B5EF4-FFF2-40B4-BE49-F238E27FC236}">
                <a16:creationId xmlns:a16="http://schemas.microsoft.com/office/drawing/2014/main" id="{B290E991-6FFA-53AF-C1E5-73049895472C}"/>
              </a:ext>
            </a:extLst>
          </p:cNvPr>
          <p:cNvSpPr/>
          <p:nvPr/>
        </p:nvSpPr>
        <p:spPr>
          <a:xfrm>
            <a:off x="6489139" y="3366938"/>
            <a:ext cx="449288" cy="448143"/>
          </a:xfrm>
          <a:custGeom>
            <a:avLst/>
            <a:gdLst/>
            <a:ahLst/>
            <a:cxnLst/>
            <a:rect l="l" t="t" r="r" b="b"/>
            <a:pathLst>
              <a:path w="12161" h="12130" extrusionOk="0">
                <a:moveTo>
                  <a:pt x="3245" y="0"/>
                </a:moveTo>
                <a:cubicBezTo>
                  <a:pt x="3245" y="0"/>
                  <a:pt x="2174" y="820"/>
                  <a:pt x="2174" y="1765"/>
                </a:cubicBezTo>
                <a:cubicBezTo>
                  <a:pt x="2174" y="2363"/>
                  <a:pt x="2552" y="2930"/>
                  <a:pt x="2867" y="3245"/>
                </a:cubicBezTo>
                <a:lnTo>
                  <a:pt x="2867" y="4254"/>
                </a:lnTo>
                <a:cubicBezTo>
                  <a:pt x="2867" y="3466"/>
                  <a:pt x="2237" y="2836"/>
                  <a:pt x="1449" y="2836"/>
                </a:cubicBezTo>
                <a:lnTo>
                  <a:pt x="756" y="2836"/>
                </a:lnTo>
                <a:lnTo>
                  <a:pt x="756" y="3560"/>
                </a:lnTo>
                <a:cubicBezTo>
                  <a:pt x="756" y="4348"/>
                  <a:pt x="1386" y="4978"/>
                  <a:pt x="2174" y="4978"/>
                </a:cubicBezTo>
                <a:lnTo>
                  <a:pt x="2867" y="4978"/>
                </a:lnTo>
                <a:lnTo>
                  <a:pt x="2867" y="6742"/>
                </a:lnTo>
                <a:cubicBezTo>
                  <a:pt x="2867" y="5955"/>
                  <a:pt x="2237" y="5325"/>
                  <a:pt x="1449" y="5325"/>
                </a:cubicBezTo>
                <a:lnTo>
                  <a:pt x="756" y="5325"/>
                </a:lnTo>
                <a:lnTo>
                  <a:pt x="756" y="6018"/>
                </a:lnTo>
                <a:cubicBezTo>
                  <a:pt x="756" y="6805"/>
                  <a:pt x="1386" y="7467"/>
                  <a:pt x="2174" y="7467"/>
                </a:cubicBezTo>
                <a:lnTo>
                  <a:pt x="2867" y="7467"/>
                </a:lnTo>
                <a:lnTo>
                  <a:pt x="2867" y="9263"/>
                </a:lnTo>
                <a:cubicBezTo>
                  <a:pt x="2867" y="8475"/>
                  <a:pt x="2237" y="7845"/>
                  <a:pt x="1449" y="7845"/>
                </a:cubicBezTo>
                <a:lnTo>
                  <a:pt x="756" y="7845"/>
                </a:lnTo>
                <a:lnTo>
                  <a:pt x="756" y="8570"/>
                </a:lnTo>
                <a:cubicBezTo>
                  <a:pt x="756" y="9357"/>
                  <a:pt x="1386" y="9987"/>
                  <a:pt x="2174" y="9987"/>
                </a:cubicBezTo>
                <a:lnTo>
                  <a:pt x="2867" y="9987"/>
                </a:lnTo>
                <a:lnTo>
                  <a:pt x="2867" y="11437"/>
                </a:lnTo>
                <a:lnTo>
                  <a:pt x="347" y="11437"/>
                </a:lnTo>
                <a:cubicBezTo>
                  <a:pt x="158" y="11437"/>
                  <a:pt x="0" y="11594"/>
                  <a:pt x="0" y="11783"/>
                </a:cubicBezTo>
                <a:cubicBezTo>
                  <a:pt x="0" y="11972"/>
                  <a:pt x="158" y="12130"/>
                  <a:pt x="347" y="12130"/>
                </a:cubicBezTo>
                <a:lnTo>
                  <a:pt x="11814" y="12130"/>
                </a:lnTo>
                <a:cubicBezTo>
                  <a:pt x="12004" y="12130"/>
                  <a:pt x="12161" y="11972"/>
                  <a:pt x="12161" y="11783"/>
                </a:cubicBezTo>
                <a:cubicBezTo>
                  <a:pt x="12161" y="11594"/>
                  <a:pt x="12004" y="11437"/>
                  <a:pt x="11814" y="11437"/>
                </a:cubicBezTo>
                <a:lnTo>
                  <a:pt x="9294" y="11437"/>
                </a:lnTo>
                <a:lnTo>
                  <a:pt x="9294" y="9987"/>
                </a:lnTo>
                <a:lnTo>
                  <a:pt x="10019" y="9987"/>
                </a:lnTo>
                <a:cubicBezTo>
                  <a:pt x="10806" y="9987"/>
                  <a:pt x="11436" y="9357"/>
                  <a:pt x="11436" y="8570"/>
                </a:cubicBezTo>
                <a:lnTo>
                  <a:pt x="11436" y="7845"/>
                </a:lnTo>
                <a:lnTo>
                  <a:pt x="10712" y="7845"/>
                </a:lnTo>
                <a:cubicBezTo>
                  <a:pt x="9924" y="7845"/>
                  <a:pt x="9294" y="8475"/>
                  <a:pt x="9294" y="9263"/>
                </a:cubicBezTo>
                <a:lnTo>
                  <a:pt x="9294" y="7467"/>
                </a:lnTo>
                <a:lnTo>
                  <a:pt x="10019" y="7467"/>
                </a:lnTo>
                <a:cubicBezTo>
                  <a:pt x="10806" y="7467"/>
                  <a:pt x="11436" y="6805"/>
                  <a:pt x="11436" y="6018"/>
                </a:cubicBezTo>
                <a:lnTo>
                  <a:pt x="11436" y="5325"/>
                </a:lnTo>
                <a:lnTo>
                  <a:pt x="10712" y="5325"/>
                </a:lnTo>
                <a:cubicBezTo>
                  <a:pt x="9924" y="5325"/>
                  <a:pt x="9294" y="5955"/>
                  <a:pt x="9294" y="6742"/>
                </a:cubicBezTo>
                <a:lnTo>
                  <a:pt x="9294" y="4978"/>
                </a:lnTo>
                <a:lnTo>
                  <a:pt x="10019" y="4978"/>
                </a:lnTo>
                <a:cubicBezTo>
                  <a:pt x="10806" y="4978"/>
                  <a:pt x="11436" y="4348"/>
                  <a:pt x="11436" y="3560"/>
                </a:cubicBezTo>
                <a:lnTo>
                  <a:pt x="11436" y="2836"/>
                </a:lnTo>
                <a:lnTo>
                  <a:pt x="10712" y="2836"/>
                </a:lnTo>
                <a:cubicBezTo>
                  <a:pt x="9924" y="2836"/>
                  <a:pt x="9294" y="3466"/>
                  <a:pt x="9294" y="4254"/>
                </a:cubicBezTo>
                <a:lnTo>
                  <a:pt x="9294" y="3245"/>
                </a:lnTo>
                <a:cubicBezTo>
                  <a:pt x="9609" y="2930"/>
                  <a:pt x="10019" y="2363"/>
                  <a:pt x="10019" y="1765"/>
                </a:cubicBezTo>
                <a:cubicBezTo>
                  <a:pt x="10019" y="788"/>
                  <a:pt x="8948" y="0"/>
                  <a:pt x="8948" y="0"/>
                </a:cubicBezTo>
                <a:cubicBezTo>
                  <a:pt x="8948" y="0"/>
                  <a:pt x="7876" y="820"/>
                  <a:pt x="7876" y="1765"/>
                </a:cubicBezTo>
                <a:cubicBezTo>
                  <a:pt x="7876" y="2363"/>
                  <a:pt x="8286" y="2930"/>
                  <a:pt x="8601" y="3245"/>
                </a:cubicBezTo>
                <a:lnTo>
                  <a:pt x="8601" y="4254"/>
                </a:lnTo>
                <a:cubicBezTo>
                  <a:pt x="8601" y="3466"/>
                  <a:pt x="7971" y="2836"/>
                  <a:pt x="7183" y="2836"/>
                </a:cubicBezTo>
                <a:lnTo>
                  <a:pt x="6459" y="2836"/>
                </a:lnTo>
                <a:lnTo>
                  <a:pt x="6459" y="3560"/>
                </a:lnTo>
                <a:cubicBezTo>
                  <a:pt x="6459" y="4348"/>
                  <a:pt x="7089" y="4978"/>
                  <a:pt x="7876" y="4978"/>
                </a:cubicBezTo>
                <a:lnTo>
                  <a:pt x="8601" y="4978"/>
                </a:lnTo>
                <a:lnTo>
                  <a:pt x="8601" y="6742"/>
                </a:lnTo>
                <a:cubicBezTo>
                  <a:pt x="8601" y="5955"/>
                  <a:pt x="7971" y="5325"/>
                  <a:pt x="7183" y="5325"/>
                </a:cubicBezTo>
                <a:lnTo>
                  <a:pt x="6459" y="5325"/>
                </a:lnTo>
                <a:lnTo>
                  <a:pt x="6459" y="6018"/>
                </a:lnTo>
                <a:cubicBezTo>
                  <a:pt x="6459" y="6805"/>
                  <a:pt x="7089" y="7467"/>
                  <a:pt x="7876" y="7467"/>
                </a:cubicBezTo>
                <a:lnTo>
                  <a:pt x="8601" y="7467"/>
                </a:lnTo>
                <a:lnTo>
                  <a:pt x="8601" y="9263"/>
                </a:lnTo>
                <a:cubicBezTo>
                  <a:pt x="8601" y="8475"/>
                  <a:pt x="7971" y="7845"/>
                  <a:pt x="7183" y="7845"/>
                </a:cubicBezTo>
                <a:lnTo>
                  <a:pt x="6459" y="7845"/>
                </a:lnTo>
                <a:lnTo>
                  <a:pt x="6459" y="8570"/>
                </a:lnTo>
                <a:cubicBezTo>
                  <a:pt x="6459" y="9357"/>
                  <a:pt x="7089" y="9987"/>
                  <a:pt x="7876" y="9987"/>
                </a:cubicBezTo>
                <a:lnTo>
                  <a:pt x="8601" y="9987"/>
                </a:lnTo>
                <a:lnTo>
                  <a:pt x="8601" y="11437"/>
                </a:lnTo>
                <a:lnTo>
                  <a:pt x="3592" y="11437"/>
                </a:lnTo>
                <a:lnTo>
                  <a:pt x="3592" y="9987"/>
                </a:lnTo>
                <a:lnTo>
                  <a:pt x="4285" y="9987"/>
                </a:lnTo>
                <a:cubicBezTo>
                  <a:pt x="5072" y="9987"/>
                  <a:pt x="5703" y="9357"/>
                  <a:pt x="5703" y="8570"/>
                </a:cubicBezTo>
                <a:lnTo>
                  <a:pt x="5703" y="7845"/>
                </a:lnTo>
                <a:lnTo>
                  <a:pt x="5009" y="7845"/>
                </a:lnTo>
                <a:cubicBezTo>
                  <a:pt x="4222" y="7845"/>
                  <a:pt x="3592" y="8475"/>
                  <a:pt x="3592" y="9263"/>
                </a:cubicBezTo>
                <a:lnTo>
                  <a:pt x="3592" y="7467"/>
                </a:lnTo>
                <a:lnTo>
                  <a:pt x="4285" y="7467"/>
                </a:lnTo>
                <a:cubicBezTo>
                  <a:pt x="5072" y="7467"/>
                  <a:pt x="5703" y="6805"/>
                  <a:pt x="5703" y="6018"/>
                </a:cubicBezTo>
                <a:lnTo>
                  <a:pt x="5703" y="5325"/>
                </a:lnTo>
                <a:lnTo>
                  <a:pt x="5009" y="5325"/>
                </a:lnTo>
                <a:cubicBezTo>
                  <a:pt x="4222" y="5325"/>
                  <a:pt x="3592" y="5955"/>
                  <a:pt x="3592" y="6742"/>
                </a:cubicBezTo>
                <a:lnTo>
                  <a:pt x="3592" y="4978"/>
                </a:lnTo>
                <a:lnTo>
                  <a:pt x="4285" y="4978"/>
                </a:lnTo>
                <a:cubicBezTo>
                  <a:pt x="5072" y="4978"/>
                  <a:pt x="5703" y="4348"/>
                  <a:pt x="5703" y="3560"/>
                </a:cubicBezTo>
                <a:lnTo>
                  <a:pt x="5703" y="2836"/>
                </a:lnTo>
                <a:lnTo>
                  <a:pt x="5009" y="2836"/>
                </a:lnTo>
                <a:cubicBezTo>
                  <a:pt x="4222" y="2836"/>
                  <a:pt x="3592" y="3466"/>
                  <a:pt x="3592" y="4254"/>
                </a:cubicBezTo>
                <a:lnTo>
                  <a:pt x="3592" y="3245"/>
                </a:lnTo>
                <a:cubicBezTo>
                  <a:pt x="3907" y="2930"/>
                  <a:pt x="4285" y="2363"/>
                  <a:pt x="4285" y="1765"/>
                </a:cubicBezTo>
                <a:cubicBezTo>
                  <a:pt x="4285" y="788"/>
                  <a:pt x="3245" y="0"/>
                  <a:pt x="324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grpSp>
        <p:nvGrpSpPr>
          <p:cNvPr id="59" name="Google Shape;9022;p146">
            <a:extLst>
              <a:ext uri="{FF2B5EF4-FFF2-40B4-BE49-F238E27FC236}">
                <a16:creationId xmlns:a16="http://schemas.microsoft.com/office/drawing/2014/main" id="{D990622C-A22C-C7C2-FD31-D7B8B0B7D9AF}"/>
              </a:ext>
            </a:extLst>
          </p:cNvPr>
          <p:cNvGrpSpPr/>
          <p:nvPr/>
        </p:nvGrpSpPr>
        <p:grpSpPr>
          <a:xfrm>
            <a:off x="6505190" y="2643600"/>
            <a:ext cx="398119" cy="448143"/>
            <a:chOff x="-20930075" y="4066100"/>
            <a:chExt cx="269400" cy="3032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0" name="Google Shape;9023;p146">
              <a:extLst>
                <a:ext uri="{FF2B5EF4-FFF2-40B4-BE49-F238E27FC236}">
                  <a16:creationId xmlns:a16="http://schemas.microsoft.com/office/drawing/2014/main" id="{D74696F3-0888-2E16-47CE-8FD13F4BFD79}"/>
                </a:ext>
              </a:extLst>
            </p:cNvPr>
            <p:cNvSpPr/>
            <p:nvPr/>
          </p:nvSpPr>
          <p:spPr>
            <a:xfrm>
              <a:off x="-20865475" y="4066100"/>
              <a:ext cx="141775" cy="144150"/>
            </a:xfrm>
            <a:custGeom>
              <a:avLst/>
              <a:gdLst/>
              <a:ahLst/>
              <a:cxnLst/>
              <a:rect l="l" t="t" r="r" b="b"/>
              <a:pathLst>
                <a:path w="5671" h="5766" extrusionOk="0">
                  <a:moveTo>
                    <a:pt x="2836" y="2174"/>
                  </a:moveTo>
                  <a:cubicBezTo>
                    <a:pt x="3245" y="2174"/>
                    <a:pt x="3560" y="2489"/>
                    <a:pt x="3560" y="2867"/>
                  </a:cubicBezTo>
                  <a:cubicBezTo>
                    <a:pt x="3560" y="3277"/>
                    <a:pt x="3245" y="3592"/>
                    <a:pt x="2836" y="3592"/>
                  </a:cubicBezTo>
                  <a:cubicBezTo>
                    <a:pt x="2457" y="3592"/>
                    <a:pt x="2142" y="3277"/>
                    <a:pt x="2142" y="2867"/>
                  </a:cubicBezTo>
                  <a:cubicBezTo>
                    <a:pt x="2142" y="2489"/>
                    <a:pt x="2457" y="2174"/>
                    <a:pt x="2836" y="2174"/>
                  </a:cubicBezTo>
                  <a:close/>
                  <a:moveTo>
                    <a:pt x="2836" y="0"/>
                  </a:moveTo>
                  <a:cubicBezTo>
                    <a:pt x="2457" y="0"/>
                    <a:pt x="2111" y="252"/>
                    <a:pt x="1890" y="599"/>
                  </a:cubicBezTo>
                  <a:cubicBezTo>
                    <a:pt x="1791" y="563"/>
                    <a:pt x="1685" y="545"/>
                    <a:pt x="1577" y="545"/>
                  </a:cubicBezTo>
                  <a:cubicBezTo>
                    <a:pt x="1307" y="545"/>
                    <a:pt x="1031" y="657"/>
                    <a:pt x="851" y="882"/>
                  </a:cubicBezTo>
                  <a:cubicBezTo>
                    <a:pt x="630" y="1071"/>
                    <a:pt x="536" y="1355"/>
                    <a:pt x="536" y="1607"/>
                  </a:cubicBezTo>
                  <a:cubicBezTo>
                    <a:pt x="536" y="1733"/>
                    <a:pt x="536" y="1827"/>
                    <a:pt x="567" y="1922"/>
                  </a:cubicBezTo>
                  <a:cubicBezTo>
                    <a:pt x="189" y="2142"/>
                    <a:pt x="0" y="2489"/>
                    <a:pt x="0" y="2867"/>
                  </a:cubicBezTo>
                  <a:cubicBezTo>
                    <a:pt x="0" y="3308"/>
                    <a:pt x="189" y="3655"/>
                    <a:pt x="567" y="3812"/>
                  </a:cubicBezTo>
                  <a:cubicBezTo>
                    <a:pt x="536" y="3938"/>
                    <a:pt x="536" y="4033"/>
                    <a:pt x="536" y="4127"/>
                  </a:cubicBezTo>
                  <a:cubicBezTo>
                    <a:pt x="536" y="4411"/>
                    <a:pt x="630" y="4694"/>
                    <a:pt x="851" y="4883"/>
                  </a:cubicBezTo>
                  <a:cubicBezTo>
                    <a:pt x="1036" y="5092"/>
                    <a:pt x="1325" y="5216"/>
                    <a:pt x="1603" y="5216"/>
                  </a:cubicBezTo>
                  <a:cubicBezTo>
                    <a:pt x="1702" y="5216"/>
                    <a:pt x="1799" y="5200"/>
                    <a:pt x="1890" y="5167"/>
                  </a:cubicBezTo>
                  <a:cubicBezTo>
                    <a:pt x="2111" y="5513"/>
                    <a:pt x="2457" y="5766"/>
                    <a:pt x="2836" y="5766"/>
                  </a:cubicBezTo>
                  <a:cubicBezTo>
                    <a:pt x="3245" y="5766"/>
                    <a:pt x="3592" y="5513"/>
                    <a:pt x="3781" y="5167"/>
                  </a:cubicBezTo>
                  <a:cubicBezTo>
                    <a:pt x="3889" y="5203"/>
                    <a:pt x="3999" y="5221"/>
                    <a:pt x="4109" y="5221"/>
                  </a:cubicBezTo>
                  <a:cubicBezTo>
                    <a:pt x="4382" y="5221"/>
                    <a:pt x="4649" y="5108"/>
                    <a:pt x="4852" y="4883"/>
                  </a:cubicBezTo>
                  <a:cubicBezTo>
                    <a:pt x="5041" y="4694"/>
                    <a:pt x="5167" y="4411"/>
                    <a:pt x="5167" y="4127"/>
                  </a:cubicBezTo>
                  <a:cubicBezTo>
                    <a:pt x="5167" y="4033"/>
                    <a:pt x="5167" y="3938"/>
                    <a:pt x="5135" y="3812"/>
                  </a:cubicBezTo>
                  <a:cubicBezTo>
                    <a:pt x="5482" y="3623"/>
                    <a:pt x="5671" y="3277"/>
                    <a:pt x="5671" y="2867"/>
                  </a:cubicBezTo>
                  <a:cubicBezTo>
                    <a:pt x="5671" y="2489"/>
                    <a:pt x="5450" y="2142"/>
                    <a:pt x="5135" y="1922"/>
                  </a:cubicBezTo>
                  <a:cubicBezTo>
                    <a:pt x="5167" y="1827"/>
                    <a:pt x="5167" y="1733"/>
                    <a:pt x="5167" y="1607"/>
                  </a:cubicBezTo>
                  <a:cubicBezTo>
                    <a:pt x="5167" y="1355"/>
                    <a:pt x="5041" y="1071"/>
                    <a:pt x="4852" y="882"/>
                  </a:cubicBezTo>
                  <a:cubicBezTo>
                    <a:pt x="4643" y="673"/>
                    <a:pt x="4348" y="550"/>
                    <a:pt x="4069" y="550"/>
                  </a:cubicBezTo>
                  <a:cubicBezTo>
                    <a:pt x="3969" y="550"/>
                    <a:pt x="3872" y="566"/>
                    <a:pt x="3781" y="599"/>
                  </a:cubicBezTo>
                  <a:cubicBezTo>
                    <a:pt x="3592" y="252"/>
                    <a:pt x="3245" y="0"/>
                    <a:pt x="2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9024;p146">
              <a:extLst>
                <a:ext uri="{FF2B5EF4-FFF2-40B4-BE49-F238E27FC236}">
                  <a16:creationId xmlns:a16="http://schemas.microsoft.com/office/drawing/2014/main" id="{BE7A2B7B-7E95-025D-ADE4-58D991FABDA3}"/>
                </a:ext>
              </a:extLst>
            </p:cNvPr>
            <p:cNvSpPr/>
            <p:nvPr/>
          </p:nvSpPr>
          <p:spPr>
            <a:xfrm>
              <a:off x="-20930075" y="4191325"/>
              <a:ext cx="269400" cy="178025"/>
            </a:xfrm>
            <a:custGeom>
              <a:avLst/>
              <a:gdLst/>
              <a:ahLst/>
              <a:cxnLst/>
              <a:rect l="l" t="t" r="r" b="b"/>
              <a:pathLst>
                <a:path w="10776" h="7121" extrusionOk="0">
                  <a:moveTo>
                    <a:pt x="379" y="0"/>
                  </a:moveTo>
                  <a:cubicBezTo>
                    <a:pt x="253" y="0"/>
                    <a:pt x="190" y="32"/>
                    <a:pt x="95" y="95"/>
                  </a:cubicBezTo>
                  <a:cubicBezTo>
                    <a:pt x="32" y="189"/>
                    <a:pt x="1" y="252"/>
                    <a:pt x="1" y="378"/>
                  </a:cubicBezTo>
                  <a:cubicBezTo>
                    <a:pt x="1" y="473"/>
                    <a:pt x="190" y="2710"/>
                    <a:pt x="1103" y="3655"/>
                  </a:cubicBezTo>
                  <a:cubicBezTo>
                    <a:pt x="1513" y="4096"/>
                    <a:pt x="1922" y="4285"/>
                    <a:pt x="2364" y="4285"/>
                  </a:cubicBezTo>
                  <a:cubicBezTo>
                    <a:pt x="2679" y="4285"/>
                    <a:pt x="3025" y="4159"/>
                    <a:pt x="3340" y="3907"/>
                  </a:cubicBezTo>
                  <a:lnTo>
                    <a:pt x="4947" y="5514"/>
                  </a:lnTo>
                  <a:lnTo>
                    <a:pt x="4947" y="6427"/>
                  </a:lnTo>
                  <a:lnTo>
                    <a:pt x="2458" y="6427"/>
                  </a:lnTo>
                  <a:cubicBezTo>
                    <a:pt x="2269" y="6427"/>
                    <a:pt x="2112" y="6585"/>
                    <a:pt x="2112" y="6774"/>
                  </a:cubicBezTo>
                  <a:cubicBezTo>
                    <a:pt x="2112" y="6963"/>
                    <a:pt x="2269" y="7120"/>
                    <a:pt x="2458" y="7120"/>
                  </a:cubicBezTo>
                  <a:lnTo>
                    <a:pt x="8192" y="7120"/>
                  </a:lnTo>
                  <a:cubicBezTo>
                    <a:pt x="8381" y="7120"/>
                    <a:pt x="8539" y="6963"/>
                    <a:pt x="8539" y="6774"/>
                  </a:cubicBezTo>
                  <a:cubicBezTo>
                    <a:pt x="8539" y="6585"/>
                    <a:pt x="8381" y="6427"/>
                    <a:pt x="8192" y="6427"/>
                  </a:cubicBezTo>
                  <a:lnTo>
                    <a:pt x="5672" y="6427"/>
                  </a:lnTo>
                  <a:lnTo>
                    <a:pt x="5672" y="6207"/>
                  </a:lnTo>
                  <a:lnTo>
                    <a:pt x="7278" y="4600"/>
                  </a:lnTo>
                  <a:cubicBezTo>
                    <a:pt x="7751" y="4884"/>
                    <a:pt x="8066" y="5010"/>
                    <a:pt x="8413" y="5010"/>
                  </a:cubicBezTo>
                  <a:cubicBezTo>
                    <a:pt x="8854" y="5010"/>
                    <a:pt x="9232" y="4789"/>
                    <a:pt x="9673" y="4380"/>
                  </a:cubicBezTo>
                  <a:cubicBezTo>
                    <a:pt x="10586" y="3466"/>
                    <a:pt x="10775" y="1229"/>
                    <a:pt x="10775" y="1103"/>
                  </a:cubicBezTo>
                  <a:cubicBezTo>
                    <a:pt x="10775" y="977"/>
                    <a:pt x="10744" y="883"/>
                    <a:pt x="10649" y="820"/>
                  </a:cubicBezTo>
                  <a:cubicBezTo>
                    <a:pt x="10586" y="757"/>
                    <a:pt x="10492" y="693"/>
                    <a:pt x="10397" y="693"/>
                  </a:cubicBezTo>
                  <a:cubicBezTo>
                    <a:pt x="10303" y="693"/>
                    <a:pt x="8066" y="883"/>
                    <a:pt x="7121" y="1796"/>
                  </a:cubicBezTo>
                  <a:cubicBezTo>
                    <a:pt x="6365" y="2552"/>
                    <a:pt x="6302" y="3308"/>
                    <a:pt x="6869" y="4033"/>
                  </a:cubicBezTo>
                  <a:lnTo>
                    <a:pt x="5735" y="5167"/>
                  </a:lnTo>
                  <a:lnTo>
                    <a:pt x="5735" y="1324"/>
                  </a:lnTo>
                  <a:cubicBezTo>
                    <a:pt x="5609" y="1387"/>
                    <a:pt x="5514" y="1387"/>
                    <a:pt x="5388" y="1387"/>
                  </a:cubicBezTo>
                  <a:cubicBezTo>
                    <a:pt x="5262" y="1387"/>
                    <a:pt x="5136" y="1387"/>
                    <a:pt x="5041" y="1324"/>
                  </a:cubicBezTo>
                  <a:lnTo>
                    <a:pt x="5041" y="4443"/>
                  </a:lnTo>
                  <a:lnTo>
                    <a:pt x="3876" y="3340"/>
                  </a:lnTo>
                  <a:cubicBezTo>
                    <a:pt x="4474" y="2584"/>
                    <a:pt x="4411" y="1828"/>
                    <a:pt x="3655" y="1103"/>
                  </a:cubicBezTo>
                  <a:cubicBezTo>
                    <a:pt x="2742" y="189"/>
                    <a:pt x="505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2" name="Google Shape;9137;p146">
            <a:extLst>
              <a:ext uri="{FF2B5EF4-FFF2-40B4-BE49-F238E27FC236}">
                <a16:creationId xmlns:a16="http://schemas.microsoft.com/office/drawing/2014/main" id="{EFA09551-84D9-F37D-83C4-B4F4E4FAF52D}"/>
              </a:ext>
            </a:extLst>
          </p:cNvPr>
          <p:cNvGrpSpPr/>
          <p:nvPr/>
        </p:nvGrpSpPr>
        <p:grpSpPr>
          <a:xfrm>
            <a:off x="6444038" y="2041450"/>
            <a:ext cx="457453" cy="449325"/>
            <a:chOff x="-20199150" y="3317850"/>
            <a:chExt cx="309550" cy="30405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Google Shape;9138;p146">
              <a:extLst>
                <a:ext uri="{FF2B5EF4-FFF2-40B4-BE49-F238E27FC236}">
                  <a16:creationId xmlns:a16="http://schemas.microsoft.com/office/drawing/2014/main" id="{D9C6CFD2-FE7E-3534-AF27-5F8DC69B48C4}"/>
                </a:ext>
              </a:extLst>
            </p:cNvPr>
            <p:cNvSpPr/>
            <p:nvPr/>
          </p:nvSpPr>
          <p:spPr>
            <a:xfrm>
              <a:off x="-20161350" y="3507675"/>
              <a:ext cx="68550" cy="43325"/>
            </a:xfrm>
            <a:custGeom>
              <a:avLst/>
              <a:gdLst/>
              <a:ahLst/>
              <a:cxnLst/>
              <a:rect l="l" t="t" r="r" b="b"/>
              <a:pathLst>
                <a:path w="2742" h="1733" extrusionOk="0">
                  <a:moveTo>
                    <a:pt x="2647" y="0"/>
                  </a:moveTo>
                  <a:cubicBezTo>
                    <a:pt x="2174" y="158"/>
                    <a:pt x="1639" y="284"/>
                    <a:pt x="1072" y="284"/>
                  </a:cubicBezTo>
                  <a:cubicBezTo>
                    <a:pt x="788" y="284"/>
                    <a:pt x="505" y="252"/>
                    <a:pt x="221" y="221"/>
                  </a:cubicBezTo>
                  <a:cubicBezTo>
                    <a:pt x="64" y="567"/>
                    <a:pt x="1" y="945"/>
                    <a:pt x="1" y="1386"/>
                  </a:cubicBezTo>
                  <a:cubicBezTo>
                    <a:pt x="1" y="1575"/>
                    <a:pt x="158" y="1733"/>
                    <a:pt x="347" y="1733"/>
                  </a:cubicBezTo>
                  <a:cubicBezTo>
                    <a:pt x="1292" y="1733"/>
                    <a:pt x="2174" y="1292"/>
                    <a:pt x="2741" y="630"/>
                  </a:cubicBezTo>
                  <a:cubicBezTo>
                    <a:pt x="2710" y="441"/>
                    <a:pt x="2678" y="189"/>
                    <a:pt x="26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9139;p146">
              <a:extLst>
                <a:ext uri="{FF2B5EF4-FFF2-40B4-BE49-F238E27FC236}">
                  <a16:creationId xmlns:a16="http://schemas.microsoft.com/office/drawing/2014/main" id="{958D138E-F6F9-D437-5FE4-5123FA161792}"/>
                </a:ext>
              </a:extLst>
            </p:cNvPr>
            <p:cNvSpPr/>
            <p:nvPr/>
          </p:nvSpPr>
          <p:spPr>
            <a:xfrm>
              <a:off x="-20161350" y="3389525"/>
              <a:ext cx="68550" cy="43350"/>
            </a:xfrm>
            <a:custGeom>
              <a:avLst/>
              <a:gdLst/>
              <a:ahLst/>
              <a:cxnLst/>
              <a:rect l="l" t="t" r="r" b="b"/>
              <a:pathLst>
                <a:path w="2742" h="1734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757"/>
                    <a:pt x="64" y="1166"/>
                    <a:pt x="221" y="1544"/>
                  </a:cubicBezTo>
                  <a:cubicBezTo>
                    <a:pt x="505" y="1513"/>
                    <a:pt x="788" y="1481"/>
                    <a:pt x="1072" y="1481"/>
                  </a:cubicBezTo>
                  <a:cubicBezTo>
                    <a:pt x="1639" y="1481"/>
                    <a:pt x="2174" y="1576"/>
                    <a:pt x="2647" y="1733"/>
                  </a:cubicBezTo>
                  <a:cubicBezTo>
                    <a:pt x="2678" y="1544"/>
                    <a:pt x="2741" y="1292"/>
                    <a:pt x="2741" y="1103"/>
                  </a:cubicBezTo>
                  <a:cubicBezTo>
                    <a:pt x="2174" y="442"/>
                    <a:pt x="1292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" name="Google Shape;9140;p146">
              <a:extLst>
                <a:ext uri="{FF2B5EF4-FFF2-40B4-BE49-F238E27FC236}">
                  <a16:creationId xmlns:a16="http://schemas.microsoft.com/office/drawing/2014/main" id="{BE3B6917-9B3C-EA0E-AA5C-D55780709D9E}"/>
                </a:ext>
              </a:extLst>
            </p:cNvPr>
            <p:cNvSpPr/>
            <p:nvPr/>
          </p:nvSpPr>
          <p:spPr>
            <a:xfrm>
              <a:off x="-20199150" y="3443075"/>
              <a:ext cx="97675" cy="53225"/>
            </a:xfrm>
            <a:custGeom>
              <a:avLst/>
              <a:gdLst/>
              <a:ahLst/>
              <a:cxnLst/>
              <a:rect l="l" t="t" r="r" b="b"/>
              <a:pathLst>
                <a:path w="3907" h="2129" extrusionOk="0">
                  <a:moveTo>
                    <a:pt x="2584" y="1"/>
                  </a:moveTo>
                  <a:cubicBezTo>
                    <a:pt x="1260" y="1"/>
                    <a:pt x="252" y="725"/>
                    <a:pt x="221" y="788"/>
                  </a:cubicBezTo>
                  <a:cubicBezTo>
                    <a:pt x="0" y="914"/>
                    <a:pt x="0" y="1230"/>
                    <a:pt x="221" y="1324"/>
                  </a:cubicBezTo>
                  <a:cubicBezTo>
                    <a:pt x="252" y="1387"/>
                    <a:pt x="1260" y="2112"/>
                    <a:pt x="2584" y="2112"/>
                  </a:cubicBezTo>
                  <a:cubicBezTo>
                    <a:pt x="2669" y="2123"/>
                    <a:pt x="2754" y="2128"/>
                    <a:pt x="2839" y="2128"/>
                  </a:cubicBezTo>
                  <a:cubicBezTo>
                    <a:pt x="3224" y="2128"/>
                    <a:pt x="3597" y="2020"/>
                    <a:pt x="3907" y="1891"/>
                  </a:cubicBezTo>
                  <a:cubicBezTo>
                    <a:pt x="3844" y="1639"/>
                    <a:pt x="3718" y="1450"/>
                    <a:pt x="3592" y="1230"/>
                  </a:cubicBezTo>
                  <a:cubicBezTo>
                    <a:pt x="3560" y="1103"/>
                    <a:pt x="3560" y="1009"/>
                    <a:pt x="3592" y="914"/>
                  </a:cubicBezTo>
                  <a:cubicBezTo>
                    <a:pt x="3718" y="662"/>
                    <a:pt x="3844" y="473"/>
                    <a:pt x="3907" y="221"/>
                  </a:cubicBezTo>
                  <a:cubicBezTo>
                    <a:pt x="3529" y="127"/>
                    <a:pt x="3088" y="1"/>
                    <a:pt x="25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" name="Google Shape;9141;p146">
              <a:extLst>
                <a:ext uri="{FF2B5EF4-FFF2-40B4-BE49-F238E27FC236}">
                  <a16:creationId xmlns:a16="http://schemas.microsoft.com/office/drawing/2014/main" id="{E93CB812-2145-6D60-4304-322D63B9785D}"/>
                </a:ext>
              </a:extLst>
            </p:cNvPr>
            <p:cNvSpPr/>
            <p:nvPr/>
          </p:nvSpPr>
          <p:spPr>
            <a:xfrm>
              <a:off x="-20091250" y="3479325"/>
              <a:ext cx="92175" cy="142575"/>
            </a:xfrm>
            <a:custGeom>
              <a:avLst/>
              <a:gdLst/>
              <a:ahLst/>
              <a:cxnLst/>
              <a:rect l="l" t="t" r="r" b="b"/>
              <a:pathLst>
                <a:path w="3687" h="5703" extrusionOk="0">
                  <a:moveTo>
                    <a:pt x="190" y="0"/>
                  </a:moveTo>
                  <a:cubicBezTo>
                    <a:pt x="946" y="1638"/>
                    <a:pt x="883" y="3592"/>
                    <a:pt x="95" y="5198"/>
                  </a:cubicBezTo>
                  <a:cubicBezTo>
                    <a:pt x="0" y="5450"/>
                    <a:pt x="158" y="5702"/>
                    <a:pt x="442" y="5702"/>
                  </a:cubicBezTo>
                  <a:lnTo>
                    <a:pt x="3245" y="5702"/>
                  </a:lnTo>
                  <a:cubicBezTo>
                    <a:pt x="3529" y="5702"/>
                    <a:pt x="3687" y="5450"/>
                    <a:pt x="3592" y="5198"/>
                  </a:cubicBezTo>
                  <a:cubicBezTo>
                    <a:pt x="2741" y="3592"/>
                    <a:pt x="2741" y="1607"/>
                    <a:pt x="34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9142;p146">
              <a:extLst>
                <a:ext uri="{FF2B5EF4-FFF2-40B4-BE49-F238E27FC236}">
                  <a16:creationId xmlns:a16="http://schemas.microsoft.com/office/drawing/2014/main" id="{D8056797-0A8B-3F7A-9F33-46E541E3FC3A}"/>
                </a:ext>
              </a:extLst>
            </p:cNvPr>
            <p:cNvSpPr/>
            <p:nvPr/>
          </p:nvSpPr>
          <p:spPr>
            <a:xfrm>
              <a:off x="-20090475" y="3317850"/>
              <a:ext cx="91400" cy="142575"/>
            </a:xfrm>
            <a:custGeom>
              <a:avLst/>
              <a:gdLst/>
              <a:ahLst/>
              <a:cxnLst/>
              <a:rect l="l" t="t" r="r" b="b"/>
              <a:pathLst>
                <a:path w="3656" h="5703" extrusionOk="0">
                  <a:moveTo>
                    <a:pt x="411" y="1"/>
                  </a:moveTo>
                  <a:cubicBezTo>
                    <a:pt x="285" y="1"/>
                    <a:pt x="159" y="95"/>
                    <a:pt x="64" y="158"/>
                  </a:cubicBezTo>
                  <a:cubicBezTo>
                    <a:pt x="1" y="284"/>
                    <a:pt x="1" y="410"/>
                    <a:pt x="64" y="505"/>
                  </a:cubicBezTo>
                  <a:cubicBezTo>
                    <a:pt x="915" y="2143"/>
                    <a:pt x="915" y="4096"/>
                    <a:pt x="159" y="5703"/>
                  </a:cubicBezTo>
                  <a:lnTo>
                    <a:pt x="3467" y="5703"/>
                  </a:lnTo>
                  <a:cubicBezTo>
                    <a:pt x="2710" y="4065"/>
                    <a:pt x="2710" y="2143"/>
                    <a:pt x="3530" y="505"/>
                  </a:cubicBezTo>
                  <a:cubicBezTo>
                    <a:pt x="3656" y="284"/>
                    <a:pt x="3467" y="1"/>
                    <a:pt x="3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9143;p146">
              <a:extLst>
                <a:ext uri="{FF2B5EF4-FFF2-40B4-BE49-F238E27FC236}">
                  <a16:creationId xmlns:a16="http://schemas.microsoft.com/office/drawing/2014/main" id="{9979E54A-55E1-AC7B-BB93-419756B78C3A}"/>
                </a:ext>
              </a:extLst>
            </p:cNvPr>
            <p:cNvSpPr/>
            <p:nvPr/>
          </p:nvSpPr>
          <p:spPr>
            <a:xfrm>
              <a:off x="-19984925" y="3389525"/>
              <a:ext cx="94550" cy="107925"/>
            </a:xfrm>
            <a:custGeom>
              <a:avLst/>
              <a:gdLst/>
              <a:ahLst/>
              <a:cxnLst/>
              <a:rect l="l" t="t" r="r" b="b"/>
              <a:pathLst>
                <a:path w="3782" h="4317" extrusionOk="0">
                  <a:moveTo>
                    <a:pt x="473" y="1"/>
                  </a:moveTo>
                  <a:cubicBezTo>
                    <a:pt x="190" y="1"/>
                    <a:pt x="1" y="316"/>
                    <a:pt x="158" y="568"/>
                  </a:cubicBezTo>
                  <a:cubicBezTo>
                    <a:pt x="946" y="1702"/>
                    <a:pt x="946" y="3119"/>
                    <a:pt x="253" y="4317"/>
                  </a:cubicBezTo>
                  <a:lnTo>
                    <a:pt x="3529" y="4317"/>
                  </a:lnTo>
                  <a:cubicBezTo>
                    <a:pt x="2868" y="3151"/>
                    <a:pt x="2868" y="1702"/>
                    <a:pt x="3624" y="568"/>
                  </a:cubicBezTo>
                  <a:cubicBezTo>
                    <a:pt x="3781" y="316"/>
                    <a:pt x="3624" y="1"/>
                    <a:pt x="3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9144;p146">
              <a:extLst>
                <a:ext uri="{FF2B5EF4-FFF2-40B4-BE49-F238E27FC236}">
                  <a16:creationId xmlns:a16="http://schemas.microsoft.com/office/drawing/2014/main" id="{18DB32BC-FA33-FA46-6569-FC601739DF43}"/>
                </a:ext>
              </a:extLst>
            </p:cNvPr>
            <p:cNvSpPr/>
            <p:nvPr/>
          </p:nvSpPr>
          <p:spPr>
            <a:xfrm>
              <a:off x="-19984125" y="3514750"/>
              <a:ext cx="94525" cy="107150"/>
            </a:xfrm>
            <a:custGeom>
              <a:avLst/>
              <a:gdLst/>
              <a:ahLst/>
              <a:cxnLst/>
              <a:rect l="l" t="t" r="r" b="b"/>
              <a:pathLst>
                <a:path w="3781" h="4286" extrusionOk="0">
                  <a:moveTo>
                    <a:pt x="221" y="1"/>
                  </a:moveTo>
                  <a:cubicBezTo>
                    <a:pt x="914" y="1135"/>
                    <a:pt x="914" y="2647"/>
                    <a:pt x="158" y="3750"/>
                  </a:cubicBezTo>
                  <a:cubicBezTo>
                    <a:pt x="0" y="3970"/>
                    <a:pt x="158" y="4285"/>
                    <a:pt x="473" y="4285"/>
                  </a:cubicBezTo>
                  <a:lnTo>
                    <a:pt x="3308" y="4285"/>
                  </a:lnTo>
                  <a:cubicBezTo>
                    <a:pt x="3592" y="4285"/>
                    <a:pt x="3781" y="3970"/>
                    <a:pt x="3623" y="3750"/>
                  </a:cubicBezTo>
                  <a:cubicBezTo>
                    <a:pt x="2836" y="2584"/>
                    <a:pt x="2804" y="1135"/>
                    <a:pt x="34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54" name="Google Shape;495;p61">
            <a:extLst>
              <a:ext uri="{FF2B5EF4-FFF2-40B4-BE49-F238E27FC236}">
                <a16:creationId xmlns:a16="http://schemas.microsoft.com/office/drawing/2014/main" id="{46B859F8-6BF3-0FEF-2968-62E8BB19A4D8}"/>
              </a:ext>
            </a:extLst>
          </p:cNvPr>
          <p:cNvSpPr txBox="1">
            <a:spLocks/>
          </p:cNvSpPr>
          <p:nvPr/>
        </p:nvSpPr>
        <p:spPr>
          <a:xfrm>
            <a:off x="6855243" y="210815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Jardí Interior</a:t>
            </a:r>
            <a:endParaRPr lang="ca-ES" dirty="0"/>
          </a:p>
        </p:txBody>
      </p:sp>
      <p:sp>
        <p:nvSpPr>
          <p:cNvPr id="455" name="Google Shape;495;p61">
            <a:extLst>
              <a:ext uri="{FF2B5EF4-FFF2-40B4-BE49-F238E27FC236}">
                <a16:creationId xmlns:a16="http://schemas.microsoft.com/office/drawing/2014/main" id="{D824EE0A-6AF1-F63F-91AF-8AF4C794650E}"/>
              </a:ext>
            </a:extLst>
          </p:cNvPr>
          <p:cNvSpPr txBox="1">
            <a:spLocks/>
          </p:cNvSpPr>
          <p:nvPr/>
        </p:nvSpPr>
        <p:spPr>
          <a:xfrm>
            <a:off x="6900346" y="271749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Jardí Exterior</a:t>
            </a:r>
            <a:endParaRPr lang="ca-ES" dirty="0"/>
          </a:p>
        </p:txBody>
      </p:sp>
      <p:sp>
        <p:nvSpPr>
          <p:cNvPr id="456" name="Google Shape;495;p61">
            <a:extLst>
              <a:ext uri="{FF2B5EF4-FFF2-40B4-BE49-F238E27FC236}">
                <a16:creationId xmlns:a16="http://schemas.microsoft.com/office/drawing/2014/main" id="{F2FF5DCD-BF4E-8107-053E-0F8875D3AF99}"/>
              </a:ext>
            </a:extLst>
          </p:cNvPr>
          <p:cNvSpPr txBox="1">
            <a:spLocks/>
          </p:cNvSpPr>
          <p:nvPr/>
        </p:nvSpPr>
        <p:spPr>
          <a:xfrm>
            <a:off x="6583312" y="343620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Hort</a:t>
            </a:r>
            <a:endParaRPr lang="ca-ES" dirty="0"/>
          </a:p>
        </p:txBody>
      </p:sp>
      <p:sp>
        <p:nvSpPr>
          <p:cNvPr id="457" name="Google Shape;495;p61">
            <a:extLst>
              <a:ext uri="{FF2B5EF4-FFF2-40B4-BE49-F238E27FC236}">
                <a16:creationId xmlns:a16="http://schemas.microsoft.com/office/drawing/2014/main" id="{0FF53255-3A17-1E7D-4365-361C80AB299F}"/>
              </a:ext>
            </a:extLst>
          </p:cNvPr>
          <p:cNvSpPr txBox="1">
            <a:spLocks/>
          </p:cNvSpPr>
          <p:nvPr/>
        </p:nvSpPr>
        <p:spPr>
          <a:xfrm>
            <a:off x="7019446" y="4041921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>
                <a:latin typeface="Open Sans" panose="020B0606030504020204" pitchFamily="34" charset="0"/>
              </a:rPr>
              <a:t>Arbres Fruiters</a:t>
            </a:r>
            <a:endParaRPr lang="ca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05D6D645-FC42-F3C7-C383-7151006F82E9}"/>
                  </a:ext>
                </a:extLst>
              </p:cNvPr>
              <p:cNvSpPr txBox="1"/>
              <p:nvPr/>
            </p:nvSpPr>
            <p:spPr>
              <a:xfrm>
                <a:off x="2721881" y="2799619"/>
                <a:ext cx="7669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180 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05D6D645-FC42-F3C7-C383-7151006F8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881" y="2799619"/>
                <a:ext cx="76691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7B0BB892-4434-71A4-C181-ED84EF2921DB}"/>
                  </a:ext>
                </a:extLst>
              </p:cNvPr>
              <p:cNvSpPr txBox="1"/>
              <p:nvPr/>
            </p:nvSpPr>
            <p:spPr>
              <a:xfrm rot="16200000">
                <a:off x="223101" y="2341469"/>
                <a:ext cx="11353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12.315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7B0BB892-4434-71A4-C181-ED84EF292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101" y="2341469"/>
                <a:ext cx="113534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1" name="Google Shape;9208;p146">
            <a:extLst>
              <a:ext uri="{FF2B5EF4-FFF2-40B4-BE49-F238E27FC236}">
                <a16:creationId xmlns:a16="http://schemas.microsoft.com/office/drawing/2014/main" id="{D2311178-3640-73D4-462E-1CAEFD476860}"/>
              </a:ext>
            </a:extLst>
          </p:cNvPr>
          <p:cNvGrpSpPr/>
          <p:nvPr/>
        </p:nvGrpSpPr>
        <p:grpSpPr>
          <a:xfrm>
            <a:off x="944662" y="4294026"/>
            <a:ext cx="486566" cy="414708"/>
            <a:chOff x="-19835275" y="3330250"/>
            <a:chExt cx="329250" cy="280625"/>
          </a:xfrm>
          <a:solidFill>
            <a:schemeClr val="tx1"/>
          </a:solidFill>
        </p:grpSpPr>
        <p:sp>
          <p:nvSpPr>
            <p:cNvPr id="462" name="Google Shape;9209;p146">
              <a:extLst>
                <a:ext uri="{FF2B5EF4-FFF2-40B4-BE49-F238E27FC236}">
                  <a16:creationId xmlns:a16="http://schemas.microsoft.com/office/drawing/2014/main" id="{9C6EBF65-5214-532F-81E3-EFAFEA2F2860}"/>
                </a:ext>
              </a:extLst>
            </p:cNvPr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9210;p146">
              <a:extLst>
                <a:ext uri="{FF2B5EF4-FFF2-40B4-BE49-F238E27FC236}">
                  <a16:creationId xmlns:a16="http://schemas.microsoft.com/office/drawing/2014/main" id="{B5148991-0C10-8152-B793-A208F787FCFA}"/>
                </a:ext>
              </a:extLst>
            </p:cNvPr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9211;p146">
              <a:extLst>
                <a:ext uri="{FF2B5EF4-FFF2-40B4-BE49-F238E27FC236}">
                  <a16:creationId xmlns:a16="http://schemas.microsoft.com/office/drawing/2014/main" id="{7A067BC2-C3FF-FCDA-0B49-79E4798990F9}"/>
                </a:ext>
              </a:extLst>
            </p:cNvPr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576963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Servei d'instal·lació de plaques solars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1009994746"/>
                  </p:ext>
                </p:extLst>
              </p:nvPr>
            </p:nvGraphicFramePr>
            <p:xfrm>
              <a:off x="719999" y="1236563"/>
              <a:ext cx="7897527" cy="332223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096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320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=250€(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𝑝𝑟𝑒𝑢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𝑝𝑙𝑎𝑐𝑎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+50€(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𝐴𝑙𝑡𝑟𝑒𝑠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𝑑𝑒𝑠𝑝𝑒𝑠𝑒𝑠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 algn="l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=250€∗22+50€ ∗22=6600€</m:t>
                              </m:r>
                            </m:oMath>
                          </a14:m>
                          <a:endParaRPr lang="en-US" b="0" i="1" dirty="0">
                            <a:solidFill>
                              <a:schemeClr val="dk1"/>
                            </a:solidFill>
                            <a:latin typeface="Montserrat"/>
                            <a:sym typeface="Montserrat"/>
                          </a:endParaRPr>
                        </a:p>
                        <a:p>
                          <a:pPr marL="0" indent="0" algn="l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=450€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h𝑜𝑛𝑜𝑟𝑎𝑟𝑖𝑠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=450€ ∗22=9900€</m:t>
                              </m:r>
                            </m:oMath>
                          </a14:m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indent="0"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)=150€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=150€∗22=3300€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1009994746"/>
                  </p:ext>
                </p:extLst>
              </p:nvPr>
            </p:nvGraphicFramePr>
            <p:xfrm>
              <a:off x="719999" y="1236563"/>
              <a:ext cx="7897527" cy="332223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096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320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2496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r="-5963" b="-16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3629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t="-119883" r="-5963" b="-102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3629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t="-221176" r="-5963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Google Shape;546;p65">
            <a:extLst>
              <a:ext uri="{FF2B5EF4-FFF2-40B4-BE49-F238E27FC236}">
                <a16:creationId xmlns:a16="http://schemas.microsoft.com/office/drawing/2014/main" id="{04D8EA08-204F-31D5-FCA9-6A2BB028AFAA}"/>
              </a:ext>
            </a:extLst>
          </p:cNvPr>
          <p:cNvSpPr txBox="1">
            <a:spLocks/>
          </p:cNvSpPr>
          <p:nvPr/>
        </p:nvSpPr>
        <p:spPr>
          <a:xfrm>
            <a:off x="5509512" y="2897678"/>
            <a:ext cx="3786887" cy="707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ES" dirty="0"/>
          </a:p>
          <a:p>
            <a:r>
              <a:rPr lang="ca-ES" sz="1100" i="1" dirty="0">
                <a:latin typeface="Montserrat" panose="00000500000000000000" pitchFamily="2" charset="0"/>
              </a:rPr>
              <a:t>(On x és el nombre de plaques solars</a:t>
            </a:r>
            <a:r>
              <a:rPr lang="es-ES" sz="1100" i="1" dirty="0">
                <a:latin typeface="Montserrat" panose="00000500000000000000" pitchFamily="2" charset="0"/>
              </a:rPr>
              <a:t>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46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Servei d'instal·lació sistema de control de temperatura i humitat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312356713"/>
                  </p:ext>
                </p:extLst>
              </p:nvPr>
            </p:nvGraphicFramePr>
            <p:xfrm>
              <a:off x="526474" y="1499798"/>
              <a:ext cx="8091053" cy="332223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417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847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45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14153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indent="0" algn="l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=20€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𝑝𝑟𝑒𝑢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𝑠𝑒𝑛𝑠𝑜𝑟𝑠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+25€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𝑃𝑟𝑒𝑢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𝑠𝑒𝑛𝑠𝑜𝑟𝑠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+500€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𝑀𝑎𝑞𝑢𝑖𝑛𝑒𝑠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𝑑𝑒𝑠𝑝𝑒𝑠𝑒𝑠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 algn="l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=20€+25€+500€=545€</m:t>
                                </m:r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dk1"/>
                            </a:solidFill>
                            <a:latin typeface="Montserrat"/>
                            <a:sym typeface="Montserrat"/>
                          </a:endParaRPr>
                        </a:p>
                        <a:p>
                          <a:pPr marL="0" indent="0" algn="l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4663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=750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h𝑜𝑛𝑜𝑟𝑎𝑟𝑖𝑠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=750€∗1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=750€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4663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=205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∗205€ = 205€</m:t>
                              </m:r>
                            </m:oMath>
                          </a14:m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312356713"/>
                  </p:ext>
                </p:extLst>
              </p:nvPr>
            </p:nvGraphicFramePr>
            <p:xfrm>
              <a:off x="526474" y="1499798"/>
              <a:ext cx="8091053" cy="332223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417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847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45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2496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088" t="-488" r="-6011" b="-168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3629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088" t="-120468" r="-6011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3629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088" t="-221765" r="-6011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Google Shape;546;p65">
            <a:extLst>
              <a:ext uri="{FF2B5EF4-FFF2-40B4-BE49-F238E27FC236}">
                <a16:creationId xmlns:a16="http://schemas.microsoft.com/office/drawing/2014/main" id="{04D8EA08-204F-31D5-FCA9-6A2BB028AFAA}"/>
              </a:ext>
            </a:extLst>
          </p:cNvPr>
          <p:cNvSpPr txBox="1">
            <a:spLocks/>
          </p:cNvSpPr>
          <p:nvPr/>
        </p:nvSpPr>
        <p:spPr>
          <a:xfrm>
            <a:off x="5204712" y="3209404"/>
            <a:ext cx="3786887" cy="707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ES" dirty="0"/>
          </a:p>
          <a:p>
            <a:r>
              <a:rPr lang="ca-ES" sz="1100" i="1" dirty="0">
                <a:latin typeface="Montserrat" panose="00000500000000000000" pitchFamily="2" charset="0"/>
              </a:rPr>
              <a:t>(On x és el nombre d’espais a controlar</a:t>
            </a:r>
            <a:r>
              <a:rPr lang="es-ES" sz="1100" i="1" dirty="0">
                <a:latin typeface="Montserrat" panose="00000500000000000000" pitchFamily="2" charset="0"/>
              </a:rPr>
              <a:t>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73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Instal·lació bassa d'aigua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1952255883"/>
                  </p:ext>
                </p:extLst>
              </p:nvPr>
            </p:nvGraphicFramePr>
            <p:xfrm>
              <a:off x="719999" y="1236563"/>
              <a:ext cx="7897527" cy="332223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096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320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=18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ca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ca-E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ca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𝑙𝑜𝑛𝑎</m:t>
                                  </m:r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𝐸𝑃𝐷𝑀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+10€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𝑑𝑒𝑠𝑝𝑒𝑠𝑒𝑠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(2051)=18€∗2051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+10€∗2051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=57.428€</m:t>
                                </m:r>
                              </m:oMath>
                            </m:oMathPara>
                          </a14:m>
                          <a:endParaRPr lang="ca-ES" dirty="0">
                            <a:latin typeface="Montserrat" panose="00000500000000000000" pitchFamily="2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=40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h𝑜𝑛𝑜𝑟𝑎𝑟𝑖𝑠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b="0" dirty="0"/>
                        </a:p>
                        <a:p>
                          <a:pPr marL="0" indent="0">
                            <a:buNone/>
                          </a:pPr>
                          <a:endParaRPr lang="en-US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€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∗2051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=82.040€ </m:t>
                                </m:r>
                              </m:oMath>
                            </m:oMathPara>
                          </a14:m>
                          <a:endParaRPr lang="ca-ES" dirty="0">
                            <a:latin typeface="Montserrat" panose="00000500000000000000" pitchFamily="2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ca-ES" b="0" dirty="0">
                              <a:latin typeface="Montserrat" panose="00000500000000000000" pitchFamily="2" charset="0"/>
                            </a:rPr>
                            <a:t>   r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= 12</m:t>
                              </m:r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2051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=12€∗2051= </m:t>
                                </m:r>
                                <m:r>
                                  <a:rPr lang="ca-ES" b="0" i="1" smtClean="0">
                                    <a:latin typeface="Cambria Math" panose="02040503050406030204" pitchFamily="18" charset="0"/>
                                  </a:rPr>
                                  <m:t>24.612€ </m:t>
                                </m:r>
                              </m:oMath>
                            </m:oMathPara>
                          </a14:m>
                          <a:endParaRPr lang="ca-ES" b="0" i="1" dirty="0">
                            <a:latin typeface="Montserrat" panose="000005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1952255883"/>
                  </p:ext>
                </p:extLst>
              </p:nvPr>
            </p:nvGraphicFramePr>
            <p:xfrm>
              <a:off x="719999" y="1236563"/>
              <a:ext cx="7897527" cy="332223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096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320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2496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r="-5963" b="-16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3629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t="-119883" r="-5963" b="-102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3629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t="-221176" r="-5963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Google Shape;546;p65">
            <a:extLst>
              <a:ext uri="{FF2B5EF4-FFF2-40B4-BE49-F238E27FC236}">
                <a16:creationId xmlns:a16="http://schemas.microsoft.com/office/drawing/2014/main" id="{04D8EA08-204F-31D5-FCA9-6A2BB028AFAA}"/>
              </a:ext>
            </a:extLst>
          </p:cNvPr>
          <p:cNvSpPr txBox="1">
            <a:spLocks/>
          </p:cNvSpPr>
          <p:nvPr/>
        </p:nvSpPr>
        <p:spPr>
          <a:xfrm>
            <a:off x="5287839" y="2980805"/>
            <a:ext cx="3786887" cy="707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ES" dirty="0"/>
          </a:p>
          <a:p>
            <a:r>
              <a:rPr lang="ca-ES" sz="1100" i="1" dirty="0">
                <a:latin typeface="Montserrat" panose="00000500000000000000" pitchFamily="2" charset="0"/>
              </a:rPr>
              <a:t>(On x són els m2 de superfície del casquet</a:t>
            </a:r>
            <a:r>
              <a:rPr lang="es-ES" sz="1100" i="1" dirty="0">
                <a:latin typeface="Montserrat" panose="00000500000000000000" pitchFamily="2" charset="0"/>
              </a:rPr>
              <a:t>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746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Instal·lació sistema de reg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3767960592"/>
                  </p:ext>
                </p:extLst>
              </p:nvPr>
            </p:nvGraphicFramePr>
            <p:xfrm>
              <a:off x="719999" y="1236563"/>
              <a:ext cx="7897527" cy="2927784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096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320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=2€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𝑑𝑒𝑠𝑝𝑒𝑠𝑒𝑠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)+30€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6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+3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+30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1000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∗1,373</m:t>
                                  </m:r>
                                </m:e>
                              </m:d>
                            </m:oMath>
                          </a14:m>
                          <a:endParaRPr lang="en-US" b="0" i="1" dirty="0">
                            <a:latin typeface="Montserrat" panose="00000500000000000000" pitchFamily="2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Montserrat" panose="00000500000000000000" pitchFamily="2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b="0" i="1" baseline="0" dirty="0">
                              <a:latin typeface="Montserrat" panose="00000500000000000000" pitchFamily="2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=2€∗31739+30€∗247.25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=70.895.5€ </m:t>
                              </m:r>
                            </m:oMath>
                          </a14:m>
                          <a:endParaRPr lang="en-US" b="0" i="1" dirty="0">
                            <a:latin typeface="Montserrat" panose="00000500000000000000" pitchFamily="2" charset="0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=5€</m:t>
                              </m:r>
                              <m:d>
                                <m:d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h𝑜𝑛𝑜𝑟𝑎𝑟𝑖𝑠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+ 30€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6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+3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+30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1000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∗1,373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latin typeface="Montserrat" panose="00000500000000000000" pitchFamily="2" charset="0"/>
                            </a:rPr>
                            <a:t> 166.382.5€</a:t>
                          </a:r>
                        </a:p>
                        <a:p>
                          <a:pPr marL="0" indent="0"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=3€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=95379€ 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3767960592"/>
                  </p:ext>
                </p:extLst>
              </p:nvPr>
            </p:nvGraphicFramePr>
            <p:xfrm>
              <a:off x="719999" y="1236563"/>
              <a:ext cx="7897527" cy="2927784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13096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320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447262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r="-5963" b="-105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75572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t="-165278" r="-5963" b="-7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1114" t="-382000" r="-5963" b="-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BAE49AE-4102-9B83-C50B-E25DFA503577}"/>
              </a:ext>
            </a:extLst>
          </p:cNvPr>
          <p:cNvSpPr txBox="1"/>
          <p:nvPr/>
        </p:nvSpPr>
        <p:spPr>
          <a:xfrm>
            <a:off x="2085109" y="4258086"/>
            <a:ext cx="59453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a-ES" sz="1100" i="1" dirty="0">
                <a:latin typeface="Montserrat" panose="00000500000000000000" pitchFamily="2" charset="0"/>
              </a:rPr>
              <a:t>On x són els m2 de terreny, y els m2 de jardí, z els m2 d’hort i w els m2 d’arbres fruiters. 1,373 és l'àrea del cilindre en m per cada m3 d’aigua.</a:t>
            </a:r>
            <a:endParaRPr lang="ca-ES" sz="1100" b="0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03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Facturació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3563137731"/>
                  </p:ext>
                </p:extLst>
              </p:nvPr>
            </p:nvGraphicFramePr>
            <p:xfrm>
              <a:off x="719999" y="1236563"/>
              <a:ext cx="7897527" cy="246879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2134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76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 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𝐶𝑇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=545€+6600€+57.428€+70.895.5€ = 135.468,5€</m:t>
                              </m:r>
                            </m:oMath>
                          </a14:m>
                          <a:endParaRPr lang="ca-ES" dirty="0">
                            <a:latin typeface="Montserrat" panose="000005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i="1" dirty="0">
                            <a:solidFill>
                              <a:schemeClr val="dk1"/>
                            </a:solidFill>
                            <a:latin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dk1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𝐼𝑇</m:t>
                                </m:r>
                                <m:r>
                                  <a:rPr lang="en-US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 = 750€ +9900€+82.040€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166.382.5€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=259.072,5€</m:t>
                                </m:r>
                              </m:oMath>
                            </m:oMathPara>
                          </a14:m>
                          <a:endParaRPr lang="en-US" dirty="0">
                            <a:latin typeface="Montserrat" panose="000005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ontserrat"/>
                            <a:cs typeface="Arial"/>
                            <a:sym typeface="Arial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Arial"/>
                                  <a:sym typeface="Arial"/>
                                </a:rPr>
                                <m:t>𝐵𝑇</m:t>
                              </m:r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Arial"/>
                                  <a:sym typeface="Arial"/>
                                </a:rPr>
                                <m:t>=205€+3300€+24.612€+95379€=123.496€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dk1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3563137731"/>
                  </p:ext>
                </p:extLst>
              </p:nvPr>
            </p:nvGraphicFramePr>
            <p:xfrm>
              <a:off x="719999" y="1236563"/>
              <a:ext cx="7897527" cy="246879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2134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76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 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r="-6869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Preu: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99265" r="-686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200741" r="-6869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649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Cost fix de l'empresa (mensual)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1047331516"/>
                  </p:ext>
                </p:extLst>
              </p:nvPr>
            </p:nvGraphicFramePr>
            <p:xfrm>
              <a:off x="719999" y="1236563"/>
              <a:ext cx="7897527" cy="338316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2134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76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5 Departaments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𝑒𝑚𝑝𝑙𝑒𝑎𝑡𝑠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)∗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272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57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 = 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11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.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362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85</m:t>
                              </m:r>
                              <m:r>
                                <a:rPr lang="en-US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Montserrat"/>
                                </a:rPr>
                                <m:t>€</m:t>
                              </m:r>
                            </m:oMath>
                          </a14:m>
                          <a:endParaRPr lang="en-US" b="0" i="1" dirty="0">
                            <a:solidFill>
                              <a:schemeClr val="dk1"/>
                            </a:solidFill>
                            <a:latin typeface="Montserrat"/>
                            <a:sym typeface="Montserra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i="1" dirty="0">
                            <a:solidFill>
                              <a:schemeClr val="dk1"/>
                            </a:solidFill>
                            <a:latin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10 tècnics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dk1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𝐶</m:t>
                                </m:r>
                                <m:r>
                                  <a:rPr lang="en-US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𝑇</m:t>
                                </m:r>
                                <m:r>
                                  <a:rPr lang="en-US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 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10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 ∗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1500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15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.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000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Local </a:t>
                          </a:r>
                          <a:endParaRPr lang="en-US" sz="2200" dirty="0">
                            <a:solidFill>
                              <a:schemeClr val="accent1"/>
                            </a:solidFill>
                            <a:latin typeface="Vidaloka"/>
                            <a:ea typeface="Vidaloka"/>
                            <a:cs typeface="Vidaloka"/>
                            <a:sym typeface="Vidaloka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ontserrat"/>
                            <a:cs typeface="Arial"/>
                            <a:sym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𝐶𝐿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950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€+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100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1050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 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ca-ES" sz="16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Impostos, assegurances  i altres despeses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𝐶𝐴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=  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1345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   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𝐶𝐹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28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.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757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€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08743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1047331516"/>
                  </p:ext>
                </p:extLst>
              </p:nvPr>
            </p:nvGraphicFramePr>
            <p:xfrm>
              <a:off x="719999" y="1236563"/>
              <a:ext cx="7897527" cy="338316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2134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76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5 Departaments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r="-6869" b="-3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10 tècnics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100000" r="-6869" b="-2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Local </a:t>
                          </a:r>
                          <a:endParaRPr lang="en-US" sz="2200" dirty="0">
                            <a:solidFill>
                              <a:schemeClr val="accent1"/>
                            </a:solidFill>
                            <a:latin typeface="Vidaloka"/>
                            <a:ea typeface="Vidaloka"/>
                            <a:cs typeface="Vidaloka"/>
                            <a:sym typeface="Vidaloka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198529" r="-6869" b="-113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37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ca-ES" sz="16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Impostos, assegurances  i altres despeses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270667" r="-686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08743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40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Facturació mensual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2724496468"/>
                  </p:ext>
                </p:extLst>
              </p:nvPr>
            </p:nvGraphicFramePr>
            <p:xfrm>
              <a:off x="719999" y="1236563"/>
              <a:ext cx="7897527" cy="246879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2134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76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 Total: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 typeface="Arial"/>
                            <a:buNone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𝐶𝑇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=135.468,5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ca-ES" dirty="0">
                              <a:latin typeface="Montserrat" panose="00000500000000000000" pitchFamily="2" charset="0"/>
                            </a:rPr>
                            <a:t> 28.757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i="1" dirty="0">
                            <a:solidFill>
                              <a:schemeClr val="dk1"/>
                            </a:solidFill>
                            <a:latin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Ingrés: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dk1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𝐼𝑇</m:t>
                                </m:r>
                                <m:r>
                                  <a:rPr lang="en-US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 =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259.072,5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>
                            <a:latin typeface="Montserrat" panose="000005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495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ontserrat"/>
                            <a:cs typeface="Arial"/>
                            <a:sym typeface="Arial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Arial"/>
                                  <a:sym typeface="Arial"/>
                                </a:rPr>
                                <m:t>𝐵𝑇</m:t>
                              </m:r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Arial"/>
                                  <a:sym typeface="Arial"/>
                                </a:rPr>
                                <m:t>=123.604</m:t>
                              </m:r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dk1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b="0" dirty="0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8" name="Google Shape;1058;p94"/>
              <p:cNvGraphicFramePr/>
              <p:nvPr>
                <p:extLst>
                  <p:ext uri="{D42A27DB-BD31-4B8C-83A1-F6EECF244321}">
                    <p14:modId xmlns:p14="http://schemas.microsoft.com/office/powerpoint/2010/main" val="2724496468"/>
                  </p:ext>
                </p:extLst>
              </p:nvPr>
            </p:nvGraphicFramePr>
            <p:xfrm>
              <a:off x="719999" y="1236563"/>
              <a:ext cx="7897527" cy="2468790"/>
            </p:xfrm>
            <a:graphic>
              <a:graphicData uri="http://schemas.openxmlformats.org/drawingml/2006/table">
                <a:tbl>
                  <a:tblPr>
                    <a:noFill/>
                    <a:tableStyleId>{284363CB-7A51-478F-B3E0-03CDD63C1755}</a:tableStyleId>
                  </a:tblPr>
                  <a:tblGrid>
                    <a:gridCol w="2134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76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Cost Total: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r="-6869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Ingrés: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99265" r="-686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3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:r>
                            <a:rPr lang="ca-ES" sz="2200" noProof="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Benefici</a:t>
                          </a:r>
                          <a:r>
                            <a:rPr lang="en-US" sz="2200" dirty="0">
                              <a:solidFill>
                                <a:schemeClr val="accent1"/>
                              </a:solidFill>
                              <a:latin typeface="Vidaloka"/>
                              <a:ea typeface="Vidaloka"/>
                              <a:cs typeface="Vidaloka"/>
                              <a:sym typeface="Vidaloka"/>
                            </a:rPr>
                            <a:t>: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9527" t="-200741" r="-6869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solidFill>
                              <a:schemeClr val="dk1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9E9E9E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28575" cap="flat" cmpd="sng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28575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989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408926" y="565150"/>
            <a:ext cx="4944124" cy="1461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Conclusions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74674" y="1280371"/>
                <a:ext cx="4578376" cy="329797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El part de treball ens indica que s’han invertit 680h en el projecte. Deduïm que amb una plantilla de 10 tècnics (2050h/mes) podem fer 3 projectes mensuals.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El màxim benefici mensual que podem obtindré és de 342.055€ amb un ROI del 78.60%. Com a mínim hem de fer tres projectes anuals per arribar al punt de Break Even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Per arribar a aquest benefici inicialment necessitarem invertir com a mínim 450.000€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</a:t>
                </a:r>
                <a:endParaRPr lang="ca-ES" dirty="0"/>
              </a:p>
            </p:txBody>
          </p:sp>
        </mc:Choice>
        <mc:Fallback xmlns="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74674" y="1280371"/>
                <a:ext cx="4578376" cy="3297979"/>
              </a:xfrm>
              <a:prstGeom prst="rect">
                <a:avLst/>
              </a:prstGeom>
              <a:blipFill>
                <a:blip r:embed="rId3"/>
                <a:stretch>
                  <a:fillRect l="-399" b="-4417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FBA16AB0-B806-6834-E3DA-366DA08DC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937" y="930275"/>
            <a:ext cx="29542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0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415276" y="947905"/>
            <a:ext cx="4309123" cy="11926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dirty="0"/>
              <a:t>FPP - Cost d’oportunitat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74675" y="1611791"/>
                <a:ext cx="3713254" cy="329797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Instal·lació del sistema de seguretat 3h/projecte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Instal·lació de sistema de control de   temperatura i humitat. 6h/projecte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x1 Tècnic x 205/mes</a:t>
                </a:r>
              </a:p>
              <a:p>
                <a:pPr marL="0" indent="0"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Increment de factors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x2 Tècnics x 205 =410h/mes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ca-ES" dirty="0">
                    <a:solidFill>
                      <a:srgbClr val="00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ca-E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t-IT" b="0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ca-E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</a:t>
                </a:r>
                <a:endParaRPr lang="ca-ES" dirty="0"/>
              </a:p>
            </p:txBody>
          </p:sp>
        </mc:Choice>
        <mc:Fallback xmlns="">
          <p:sp>
            <p:nvSpPr>
              <p:cNvPr id="2" name="Google Shape;546;p65">
                <a:extLst>
                  <a:ext uri="{FF2B5EF4-FFF2-40B4-BE49-F238E27FC236}">
                    <a16:creationId xmlns:a16="http://schemas.microsoft.com/office/drawing/2014/main" id="{D718A7AB-D260-BBFE-D3B6-D79EC041BF4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74675" y="1611791"/>
                <a:ext cx="3713254" cy="3297979"/>
              </a:xfrm>
              <a:prstGeom prst="rect">
                <a:avLst/>
              </a:prstGeom>
              <a:blipFill>
                <a:blip r:embed="rId3"/>
                <a:stretch>
                  <a:fillRect l="-493" b="-37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F5F39D0-185B-EF72-641D-822166A63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929" y="1809539"/>
            <a:ext cx="4004324" cy="22597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36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23"/>
          <p:cNvSpPr txBox="1">
            <a:spLocks noGrp="1"/>
          </p:cNvSpPr>
          <p:nvPr>
            <p:ph type="title"/>
          </p:nvPr>
        </p:nvSpPr>
        <p:spPr>
          <a:xfrm>
            <a:off x="2840379" y="116595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Gràcies</a:t>
            </a:r>
            <a:endParaRPr dirty="0"/>
          </a:p>
        </p:txBody>
      </p:sp>
      <p:sp>
        <p:nvSpPr>
          <p:cNvPr id="1569" name="Google Shape;1569;p123"/>
          <p:cNvSpPr txBox="1">
            <a:spLocks noGrp="1"/>
          </p:cNvSpPr>
          <p:nvPr>
            <p:ph type="subTitle" idx="1"/>
          </p:nvPr>
        </p:nvSpPr>
        <p:spPr>
          <a:xfrm>
            <a:off x="2983350" y="2131951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 alguna pregunta?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etorrontera@uda.com</a:t>
            </a:r>
            <a:endParaRPr dirty="0"/>
          </a:p>
        </p:txBody>
      </p:sp>
      <p:grpSp>
        <p:nvGrpSpPr>
          <p:cNvPr id="1570" name="Google Shape;1570;p123"/>
          <p:cNvGrpSpPr/>
          <p:nvPr/>
        </p:nvGrpSpPr>
        <p:grpSpPr>
          <a:xfrm>
            <a:off x="4961882" y="2876803"/>
            <a:ext cx="458723" cy="458684"/>
            <a:chOff x="1379798" y="1723250"/>
            <a:chExt cx="397887" cy="397887"/>
          </a:xfrm>
        </p:grpSpPr>
        <p:sp>
          <p:nvSpPr>
            <p:cNvPr id="1571" name="Google Shape;1571;p123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2" name="Google Shape;1572;p123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3" name="Google Shape;1573;p123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4" name="Google Shape;1574;p123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75" name="Google Shape;1575;p123"/>
          <p:cNvGrpSpPr/>
          <p:nvPr/>
        </p:nvGrpSpPr>
        <p:grpSpPr>
          <a:xfrm>
            <a:off x="3721699" y="2876803"/>
            <a:ext cx="458747" cy="458684"/>
            <a:chOff x="266768" y="1721375"/>
            <a:chExt cx="397907" cy="397887"/>
          </a:xfrm>
        </p:grpSpPr>
        <p:sp>
          <p:nvSpPr>
            <p:cNvPr id="1576" name="Google Shape;1576;p123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7" name="Google Shape;1577;p123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78" name="Google Shape;1578;p123"/>
          <p:cNvGrpSpPr/>
          <p:nvPr/>
        </p:nvGrpSpPr>
        <p:grpSpPr>
          <a:xfrm>
            <a:off x="4350135" y="2876803"/>
            <a:ext cx="458699" cy="458684"/>
            <a:chOff x="864491" y="1723250"/>
            <a:chExt cx="397866" cy="397887"/>
          </a:xfrm>
        </p:grpSpPr>
        <p:sp>
          <p:nvSpPr>
            <p:cNvPr id="1579" name="Google Shape;1579;p123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0" name="Google Shape;1580;p123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1" name="Google Shape;1581;p123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</TotalTime>
  <Words>1909</Words>
  <Application>Microsoft Office PowerPoint</Application>
  <PresentationFormat>On-screen Show (16:9)</PresentationFormat>
  <Paragraphs>408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Open Sans</vt:lpstr>
      <vt:lpstr>Montserrat</vt:lpstr>
      <vt:lpstr>Lato</vt:lpstr>
      <vt:lpstr>Arial</vt:lpstr>
      <vt:lpstr>Cambria Math</vt:lpstr>
      <vt:lpstr>Vidaloka</vt:lpstr>
      <vt:lpstr>Minimalist Business Slides XL by Slidesgo</vt:lpstr>
      <vt:lpstr>BINFO1 M2  Repte Fonaments de computadors</vt:lpstr>
      <vt:lpstr>Disseny del problema</vt:lpstr>
      <vt:lpstr>Espais de la finca</vt:lpstr>
      <vt:lpstr>PowerPoint Presentation</vt:lpstr>
      <vt:lpstr>PowerPoint Presentation</vt:lpstr>
      <vt:lpstr>PowerPoint Presentation</vt:lpstr>
      <vt:lpstr>Espais de la finca</vt:lpstr>
      <vt:lpstr>Jardí Interior</vt:lpstr>
      <vt:lpstr>Teulada i orientació</vt:lpstr>
      <vt:lpstr>Rendiment de les plaques solars</vt:lpstr>
      <vt:lpstr>Rendiment de les plaques solars</vt:lpstr>
      <vt:lpstr>Humitat relativa</vt:lpstr>
      <vt:lpstr>Estany (Casquet esfèric)</vt:lpstr>
      <vt:lpstr>Incentre i radi</vt:lpstr>
      <vt:lpstr>PowerPoint Presentation</vt:lpstr>
      <vt:lpstr>PowerPoint Presentation</vt:lpstr>
      <vt:lpstr>Càlculs de volum d’aigua diària </vt:lpstr>
      <vt:lpstr>Creació de dipòsit d’aigua.</vt:lpstr>
      <vt:lpstr>Creació del dipòsit d’aigua.</vt:lpstr>
      <vt:lpstr>Esquema</vt:lpstr>
      <vt:lpstr>Esquema</vt:lpstr>
      <vt:lpstr>Servei d'instal·lació de plaques solars</vt:lpstr>
      <vt:lpstr>Servei d'instal·lació sistema de control de temperatura i humitat</vt:lpstr>
      <vt:lpstr>Instal·lació bassa d'aigua</vt:lpstr>
      <vt:lpstr>Instal·lació sistema de reg</vt:lpstr>
      <vt:lpstr>Facturació</vt:lpstr>
      <vt:lpstr>Cost fix de l'empresa (mensual)</vt:lpstr>
      <vt:lpstr>Facturació mensual</vt:lpstr>
      <vt:lpstr>Conclusions</vt:lpstr>
      <vt:lpstr>FPP - Cost d’oportunitat</vt:lpstr>
      <vt:lpstr>Gràcies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BINFO1 M2  Repte Fonaments de computadors</dc:title>
  <dc:creator>Andormix</dc:creator>
  <cp:lastModifiedBy>Arthas Menethil</cp:lastModifiedBy>
  <cp:revision>47</cp:revision>
  <dcterms:modified xsi:type="dcterms:W3CDTF">2023-01-22T20:35:51Z</dcterms:modified>
</cp:coreProperties>
</file>