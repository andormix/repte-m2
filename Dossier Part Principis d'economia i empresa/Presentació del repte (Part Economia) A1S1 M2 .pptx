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Lst>
  <p:notesMasterIdLst>
    <p:notesMasterId r:id="rId20"/>
  </p:notesMasterIdLst>
  <p:sldIdLst>
    <p:sldId id="346" r:id="rId2"/>
    <p:sldId id="262" r:id="rId3"/>
    <p:sldId id="258" r:id="rId4"/>
    <p:sldId id="349" r:id="rId5"/>
    <p:sldId id="350" r:id="rId6"/>
    <p:sldId id="351" r:id="rId7"/>
    <p:sldId id="352" r:id="rId8"/>
    <p:sldId id="353" r:id="rId9"/>
    <p:sldId id="354" r:id="rId10"/>
    <p:sldId id="355" r:id="rId11"/>
    <p:sldId id="356" r:id="rId12"/>
    <p:sldId id="357" r:id="rId13"/>
    <p:sldId id="360" r:id="rId14"/>
    <p:sldId id="359" r:id="rId15"/>
    <p:sldId id="362" r:id="rId16"/>
    <p:sldId id="363" r:id="rId17"/>
    <p:sldId id="320" r:id="rId18"/>
    <p:sldId id="411" r:id="rId19"/>
  </p:sldIdLst>
  <p:sldSz cx="9144000" cy="5143500" type="screen16x9"/>
  <p:notesSz cx="6858000" cy="9144000"/>
  <p:embeddedFontLst>
    <p:embeddedFont>
      <p:font typeface="Cambria Math" panose="02040503050406030204" pitchFamily="18" charset="0"/>
      <p:regular r:id="rId21"/>
    </p:embeddedFont>
    <p:embeddedFont>
      <p:font typeface="Josefin Sans" pitchFamily="2" charset="0"/>
      <p:regular r:id="rId22"/>
      <p:bold r:id="rId23"/>
    </p:embeddedFont>
    <p:embeddedFont>
      <p:font typeface="Montserrat" panose="00000500000000000000" pitchFamily="2" charset="0"/>
      <p:regular r:id="rId24"/>
      <p:bold r:id="rId25"/>
      <p:italic r:id="rId26"/>
      <p:boldItalic r:id="rId27"/>
    </p:embeddedFont>
    <p:embeddedFont>
      <p:font typeface="Open Sans" panose="020B0606030504020204" pitchFamily="34" charset="0"/>
      <p:regular r:id="rId28"/>
      <p:bold r:id="rId29"/>
      <p:italic r:id="rId30"/>
      <p:boldItalic r:id="rId31"/>
    </p:embeddedFont>
    <p:embeddedFont>
      <p:font typeface="Vidaloka" panose="020B0604020202020204" charset="0"/>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thas Menethil" initials="AM" lastIdx="1" clrIdx="0">
    <p:extLst>
      <p:ext uri="{19B8F6BF-5375-455C-9EA6-DF929625EA0E}">
        <p15:presenceInfo xmlns:p15="http://schemas.microsoft.com/office/powerpoint/2012/main" userId="4f0ba2a323a7baf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D1DB"/>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84363CB-7A51-478F-B3E0-03CDD63C1755}">
  <a:tblStyle styleId="{284363CB-7A51-478F-B3E0-03CDD63C175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27" autoAdjust="0"/>
    <p:restoredTop sz="94660"/>
  </p:normalViewPr>
  <p:slideViewPr>
    <p:cSldViewPr snapToGrid="0">
      <p:cViewPr varScale="1">
        <p:scale>
          <a:sx n="110" d="100"/>
          <a:sy n="110" d="100"/>
        </p:scale>
        <p:origin x="92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10584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01529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107aaa41fe9_0_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107aaa41fe9_0_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4014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07a9a8b46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07a9a8b46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1109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82431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35217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1415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9941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5203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78560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7"/>
        <p:cNvGrpSpPr/>
        <p:nvPr/>
      </p:nvGrpSpPr>
      <p:grpSpPr>
        <a:xfrm>
          <a:off x="0" y="0"/>
          <a:ext cx="0" cy="0"/>
          <a:chOff x="0" y="0"/>
          <a:chExt cx="0" cy="0"/>
        </a:xfrm>
      </p:grpSpPr>
      <p:sp>
        <p:nvSpPr>
          <p:cNvPr id="1478" name="Google Shape;1478;gcc7554a049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9" name="Google Shape;1479;gcc7554a049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95395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58978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9529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73927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4"/>
        <p:cNvGrpSpPr/>
        <p:nvPr/>
      </p:nvGrpSpPr>
      <p:grpSpPr>
        <a:xfrm>
          <a:off x="0" y="0"/>
          <a:ext cx="0" cy="0"/>
          <a:chOff x="0" y="0"/>
          <a:chExt cx="0" cy="0"/>
        </a:xfrm>
      </p:grpSpPr>
      <p:sp>
        <p:nvSpPr>
          <p:cNvPr id="1565" name="Google Shape;1565;gcf7a3c503a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6" name="Google Shape;1566;gcf7a3c503a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8122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45025"/>
            <a:ext cx="5681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5"/>
          <p:cNvSpPr txBox="1">
            <a:spLocks noGrp="1"/>
          </p:cNvSpPr>
          <p:nvPr>
            <p:ph type="subTitle" idx="1"/>
          </p:nvPr>
        </p:nvSpPr>
        <p:spPr>
          <a:xfrm>
            <a:off x="50389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2" name="Google Shape;32;p5"/>
          <p:cNvSpPr txBox="1">
            <a:spLocks noGrp="1"/>
          </p:cNvSpPr>
          <p:nvPr>
            <p:ph type="subTitle" idx="2"/>
          </p:nvPr>
        </p:nvSpPr>
        <p:spPr>
          <a:xfrm>
            <a:off x="50389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 name="Google Shape;33;p5"/>
          <p:cNvSpPr txBox="1">
            <a:spLocks noGrp="1"/>
          </p:cNvSpPr>
          <p:nvPr>
            <p:ph type="subTitle" idx="3"/>
          </p:nvPr>
        </p:nvSpPr>
        <p:spPr>
          <a:xfrm>
            <a:off x="16931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4" name="Google Shape;34;p5"/>
          <p:cNvSpPr txBox="1">
            <a:spLocks noGrp="1"/>
          </p:cNvSpPr>
          <p:nvPr>
            <p:ph type="subTitle" idx="4"/>
          </p:nvPr>
        </p:nvSpPr>
        <p:spPr>
          <a:xfrm>
            <a:off x="16931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5" name="Google Shape;35;p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 name="Google Shape;36;p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7" name="Google Shape;37;p5"/>
          <p:cNvCxnSpPr/>
          <p:nvPr/>
        </p:nvCxnSpPr>
        <p:spPr>
          <a:xfrm flipH="1">
            <a:off x="6935750" y="3931325"/>
            <a:ext cx="2549400" cy="13545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5" name="Google Shape;75;p13"/>
          <p:cNvSpPr txBox="1">
            <a:spLocks noGrp="1"/>
          </p:cNvSpPr>
          <p:nvPr>
            <p:ph type="subTitle" idx="1"/>
          </p:nvPr>
        </p:nvSpPr>
        <p:spPr>
          <a:xfrm>
            <a:off x="50010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6" name="Google Shape;76;p13"/>
          <p:cNvSpPr txBox="1">
            <a:spLocks noGrp="1"/>
          </p:cNvSpPr>
          <p:nvPr>
            <p:ph type="subTitle" idx="2"/>
          </p:nvPr>
        </p:nvSpPr>
        <p:spPr>
          <a:xfrm>
            <a:off x="50010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7" name="Google Shape;77;p13"/>
          <p:cNvSpPr txBox="1">
            <a:spLocks noGrp="1"/>
          </p:cNvSpPr>
          <p:nvPr>
            <p:ph type="subTitle" idx="3"/>
          </p:nvPr>
        </p:nvSpPr>
        <p:spPr>
          <a:xfrm>
            <a:off x="16552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8" name="Google Shape;78;p13"/>
          <p:cNvSpPr txBox="1">
            <a:spLocks noGrp="1"/>
          </p:cNvSpPr>
          <p:nvPr>
            <p:ph type="subTitle" idx="4"/>
          </p:nvPr>
        </p:nvSpPr>
        <p:spPr>
          <a:xfrm>
            <a:off x="16552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9" name="Google Shape;79;p13"/>
          <p:cNvSpPr txBox="1">
            <a:spLocks noGrp="1"/>
          </p:cNvSpPr>
          <p:nvPr>
            <p:ph type="subTitle" idx="5"/>
          </p:nvPr>
        </p:nvSpPr>
        <p:spPr>
          <a:xfrm>
            <a:off x="50010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0" name="Google Shape;80;p13"/>
          <p:cNvSpPr txBox="1">
            <a:spLocks noGrp="1"/>
          </p:cNvSpPr>
          <p:nvPr>
            <p:ph type="subTitle" idx="6"/>
          </p:nvPr>
        </p:nvSpPr>
        <p:spPr>
          <a:xfrm>
            <a:off x="500100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1" name="Google Shape;81;p13"/>
          <p:cNvSpPr txBox="1">
            <a:spLocks noGrp="1"/>
          </p:cNvSpPr>
          <p:nvPr>
            <p:ph type="subTitle" idx="7"/>
          </p:nvPr>
        </p:nvSpPr>
        <p:spPr>
          <a:xfrm>
            <a:off x="16552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2" name="Google Shape;82;p13"/>
          <p:cNvSpPr txBox="1">
            <a:spLocks noGrp="1"/>
          </p:cNvSpPr>
          <p:nvPr>
            <p:ph type="subTitle" idx="8"/>
          </p:nvPr>
        </p:nvSpPr>
        <p:spPr>
          <a:xfrm>
            <a:off x="165525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 name="Google Shape;83;p13"/>
          <p:cNvSpPr txBox="1">
            <a:spLocks noGrp="1"/>
          </p:cNvSpPr>
          <p:nvPr>
            <p:ph type="title" idx="9" hasCustomPrompt="1"/>
          </p:nvPr>
        </p:nvSpPr>
        <p:spPr>
          <a:xfrm>
            <a:off x="23786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a:spLocks noGrp="1"/>
          </p:cNvSpPr>
          <p:nvPr>
            <p:ph type="title" idx="13" hasCustomPrompt="1"/>
          </p:nvPr>
        </p:nvSpPr>
        <p:spPr>
          <a:xfrm>
            <a:off x="57244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a:spLocks noGrp="1"/>
          </p:cNvSpPr>
          <p:nvPr>
            <p:ph type="title" idx="14" hasCustomPrompt="1"/>
          </p:nvPr>
        </p:nvSpPr>
        <p:spPr>
          <a:xfrm>
            <a:off x="237870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a:spLocks noGrp="1"/>
          </p:cNvSpPr>
          <p:nvPr>
            <p:ph type="title" idx="15" hasCustomPrompt="1"/>
          </p:nvPr>
        </p:nvSpPr>
        <p:spPr>
          <a:xfrm>
            <a:off x="572445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Shape 146"/>
        <p:cNvGrpSpPr/>
        <p:nvPr/>
      </p:nvGrpSpPr>
      <p:grpSpPr>
        <a:xfrm>
          <a:off x="0" y="0"/>
          <a:ext cx="0" cy="0"/>
          <a:chOff x="0" y="0"/>
          <a:chExt cx="0" cy="0"/>
        </a:xfrm>
      </p:grpSpPr>
      <p:sp>
        <p:nvSpPr>
          <p:cNvPr id="147" name="Google Shape;147;p20"/>
          <p:cNvSpPr txBox="1">
            <a:spLocks noGrp="1"/>
          </p:cNvSpPr>
          <p:nvPr>
            <p:ph type="title"/>
          </p:nvPr>
        </p:nvSpPr>
        <p:spPr>
          <a:xfrm>
            <a:off x="1677925" y="2511803"/>
            <a:ext cx="3714900" cy="805800"/>
          </a:xfrm>
          <a:prstGeom prst="rect">
            <a:avLst/>
          </a:prstGeom>
          <a:noFill/>
        </p:spPr>
        <p:txBody>
          <a:bodyPr spcFirstLastPara="1" wrap="square" lIns="91425" tIns="91425" rIns="91425" bIns="91425" anchor="t" anchorCtr="0">
            <a:noAutofit/>
          </a:bodyPr>
          <a:lstStyle>
            <a:lvl1pPr lvl="0" algn="r"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8" name="Google Shape;148;p20"/>
          <p:cNvSpPr txBox="1">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49" name="Google Shape;149;p20"/>
          <p:cNvSpPr txBox="1">
            <a:spLocks noGrp="1"/>
          </p:cNvSpPr>
          <p:nvPr>
            <p:ph type="subTitle" idx="1"/>
          </p:nvPr>
        </p:nvSpPr>
        <p:spPr>
          <a:xfrm>
            <a:off x="831625" y="3244000"/>
            <a:ext cx="4561200" cy="393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50" name="Google Shape;150;p20"/>
          <p:cNvCxnSpPr/>
          <p:nvPr/>
        </p:nvCxnSpPr>
        <p:spPr>
          <a:xfrm rot="10800000">
            <a:off x="-30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1" name="Google Shape;151;p20"/>
          <p:cNvCxnSpPr/>
          <p:nvPr/>
        </p:nvCxnSpPr>
        <p:spPr>
          <a:xfrm rot="10800000">
            <a:off x="-30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2" name="Google Shape;152;p20"/>
          <p:cNvCxnSpPr/>
          <p:nvPr/>
        </p:nvCxnSpPr>
        <p:spPr>
          <a:xfrm>
            <a:off x="-11287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3" name="Google Shape;153;p20"/>
          <p:cNvCxnSpPr/>
          <p:nvPr/>
        </p:nvCxnSpPr>
        <p:spPr>
          <a:xfrm>
            <a:off x="790872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1" name="Google Shape;161;p2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2" name="Google Shape;162;p2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3" name="Google Shape;163;p2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4" name="Google Shape;164;p2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5" name="Google Shape;165;p22"/>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66" name="Google Shape;166;p2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Shape 395"/>
        <p:cNvGrpSpPr/>
        <p:nvPr/>
      </p:nvGrpSpPr>
      <p:grpSpPr>
        <a:xfrm>
          <a:off x="0" y="0"/>
          <a:ext cx="0" cy="0"/>
          <a:chOff x="0" y="0"/>
          <a:chExt cx="0" cy="0"/>
        </a:xfrm>
      </p:grpSpPr>
      <p:sp>
        <p:nvSpPr>
          <p:cNvPr id="396" name="Google Shape;396;p43"/>
          <p:cNvSpPr txBox="1">
            <a:spLocks noGrp="1"/>
          </p:cNvSpPr>
          <p:nvPr>
            <p:ph type="title"/>
          </p:nvPr>
        </p:nvSpPr>
        <p:spPr>
          <a:xfrm>
            <a:off x="803750" y="2040496"/>
            <a:ext cx="4087500" cy="673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7" name="Google Shape;397;p43"/>
          <p:cNvSpPr txBox="1">
            <a:spLocks noGrp="1"/>
          </p:cNvSpPr>
          <p:nvPr>
            <p:ph type="subTitle" idx="1"/>
          </p:nvPr>
        </p:nvSpPr>
        <p:spPr>
          <a:xfrm>
            <a:off x="803750" y="2693525"/>
            <a:ext cx="3159300" cy="55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398" name="Google Shape;398;p4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99" name="Google Shape;399;p4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441"/>
        <p:cNvGrpSpPr/>
        <p:nvPr/>
      </p:nvGrpSpPr>
      <p:grpSpPr>
        <a:xfrm>
          <a:off x="0" y="0"/>
          <a:ext cx="0" cy="0"/>
          <a:chOff x="0" y="0"/>
          <a:chExt cx="0" cy="0"/>
        </a:xfrm>
      </p:grpSpPr>
      <p:sp>
        <p:nvSpPr>
          <p:cNvPr id="442" name="Google Shape;442;p49"/>
          <p:cNvSpPr txBox="1">
            <a:spLocks noGrp="1"/>
          </p:cNvSpPr>
          <p:nvPr>
            <p:ph type="title"/>
          </p:nvPr>
        </p:nvSpPr>
        <p:spPr>
          <a:xfrm>
            <a:off x="2832900" y="791200"/>
            <a:ext cx="3478200" cy="92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300"/>
              <a:buNone/>
              <a:defRPr sz="7000"/>
            </a:lvl1pPr>
            <a:lvl2pPr lvl="1" algn="ctr" rtl="0">
              <a:spcBef>
                <a:spcPts val="0"/>
              </a:spcBef>
              <a:spcAft>
                <a:spcPts val="0"/>
              </a:spcAft>
              <a:buSzPts val="3000"/>
              <a:buNone/>
              <a:defRPr>
                <a:latin typeface="Open Sans"/>
                <a:ea typeface="Open Sans"/>
                <a:cs typeface="Open Sans"/>
                <a:sym typeface="Open Sans"/>
              </a:defRPr>
            </a:lvl2pPr>
            <a:lvl3pPr lvl="2" algn="ctr" rtl="0">
              <a:spcBef>
                <a:spcPts val="0"/>
              </a:spcBef>
              <a:spcAft>
                <a:spcPts val="0"/>
              </a:spcAft>
              <a:buSzPts val="3000"/>
              <a:buNone/>
              <a:defRPr>
                <a:latin typeface="Open Sans"/>
                <a:ea typeface="Open Sans"/>
                <a:cs typeface="Open Sans"/>
                <a:sym typeface="Open Sans"/>
              </a:defRPr>
            </a:lvl3pPr>
            <a:lvl4pPr lvl="3" algn="ctr" rtl="0">
              <a:spcBef>
                <a:spcPts val="0"/>
              </a:spcBef>
              <a:spcAft>
                <a:spcPts val="0"/>
              </a:spcAft>
              <a:buSzPts val="3000"/>
              <a:buNone/>
              <a:defRPr>
                <a:latin typeface="Open Sans"/>
                <a:ea typeface="Open Sans"/>
                <a:cs typeface="Open Sans"/>
                <a:sym typeface="Open Sans"/>
              </a:defRPr>
            </a:lvl4pPr>
            <a:lvl5pPr lvl="4" algn="ctr" rtl="0">
              <a:spcBef>
                <a:spcPts val="0"/>
              </a:spcBef>
              <a:spcAft>
                <a:spcPts val="0"/>
              </a:spcAft>
              <a:buSzPts val="3000"/>
              <a:buNone/>
              <a:defRPr>
                <a:latin typeface="Open Sans"/>
                <a:ea typeface="Open Sans"/>
                <a:cs typeface="Open Sans"/>
                <a:sym typeface="Open Sans"/>
              </a:defRPr>
            </a:lvl5pPr>
            <a:lvl6pPr lvl="5" algn="ctr" rtl="0">
              <a:spcBef>
                <a:spcPts val="0"/>
              </a:spcBef>
              <a:spcAft>
                <a:spcPts val="0"/>
              </a:spcAft>
              <a:buSzPts val="3000"/>
              <a:buNone/>
              <a:defRPr>
                <a:latin typeface="Open Sans"/>
                <a:ea typeface="Open Sans"/>
                <a:cs typeface="Open Sans"/>
                <a:sym typeface="Open Sans"/>
              </a:defRPr>
            </a:lvl6pPr>
            <a:lvl7pPr lvl="6" algn="ctr" rtl="0">
              <a:spcBef>
                <a:spcPts val="0"/>
              </a:spcBef>
              <a:spcAft>
                <a:spcPts val="0"/>
              </a:spcAft>
              <a:buSzPts val="3000"/>
              <a:buNone/>
              <a:defRPr>
                <a:latin typeface="Open Sans"/>
                <a:ea typeface="Open Sans"/>
                <a:cs typeface="Open Sans"/>
                <a:sym typeface="Open Sans"/>
              </a:defRPr>
            </a:lvl7pPr>
            <a:lvl8pPr lvl="7" algn="ctr" rtl="0">
              <a:spcBef>
                <a:spcPts val="0"/>
              </a:spcBef>
              <a:spcAft>
                <a:spcPts val="0"/>
              </a:spcAft>
              <a:buSzPts val="3000"/>
              <a:buNone/>
              <a:defRPr>
                <a:latin typeface="Open Sans"/>
                <a:ea typeface="Open Sans"/>
                <a:cs typeface="Open Sans"/>
                <a:sym typeface="Open Sans"/>
              </a:defRPr>
            </a:lvl8pPr>
            <a:lvl9pPr lvl="8" algn="ctr" rtl="0">
              <a:spcBef>
                <a:spcPts val="0"/>
              </a:spcBef>
              <a:spcAft>
                <a:spcPts val="0"/>
              </a:spcAft>
              <a:buSzPts val="3000"/>
              <a:buNone/>
              <a:defRPr>
                <a:latin typeface="Open Sans"/>
                <a:ea typeface="Open Sans"/>
                <a:cs typeface="Open Sans"/>
                <a:sym typeface="Open Sans"/>
              </a:defRPr>
            </a:lvl9pPr>
          </a:lstStyle>
          <a:p>
            <a:endParaRPr/>
          </a:p>
        </p:txBody>
      </p:sp>
      <p:sp>
        <p:nvSpPr>
          <p:cNvPr id="443" name="Google Shape;443;p49"/>
          <p:cNvSpPr txBox="1">
            <a:spLocks noGrp="1"/>
          </p:cNvSpPr>
          <p:nvPr>
            <p:ph type="subTitle" idx="1"/>
          </p:nvPr>
        </p:nvSpPr>
        <p:spPr>
          <a:xfrm>
            <a:off x="2983350" y="1749425"/>
            <a:ext cx="3177300" cy="9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4" name="Google Shape;444;p49"/>
          <p:cNvSpPr txBox="1"/>
          <p:nvPr/>
        </p:nvSpPr>
        <p:spPr>
          <a:xfrm>
            <a:off x="2900450" y="3438275"/>
            <a:ext cx="33432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lang="en" sz="1100" b="1">
                <a:solidFill>
                  <a:schemeClr val="dk2"/>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100">
                <a:solidFill>
                  <a:schemeClr val="dk2"/>
                </a:solidFill>
                <a:latin typeface="Montserrat"/>
                <a:ea typeface="Montserrat"/>
                <a:cs typeface="Montserrat"/>
                <a:sym typeface="Montserrat"/>
              </a:rPr>
              <a:t>, including icons by </a:t>
            </a:r>
            <a:r>
              <a:rPr lang="en" sz="1100" b="1">
                <a:solidFill>
                  <a:schemeClr val="dk2"/>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100">
                <a:solidFill>
                  <a:schemeClr val="dk2"/>
                </a:solidFill>
                <a:latin typeface="Montserrat"/>
                <a:ea typeface="Montserrat"/>
                <a:cs typeface="Montserrat"/>
                <a:sym typeface="Montserrat"/>
              </a:rPr>
              <a:t>, infographics &amp; images by </a:t>
            </a:r>
            <a:r>
              <a:rPr lang="en" sz="1100" b="1">
                <a:solidFill>
                  <a:schemeClr val="dk2"/>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endParaRPr sz="1100" b="1" dirty="0">
              <a:solidFill>
                <a:schemeClr val="dk2"/>
              </a:solidFill>
              <a:latin typeface="Montserrat"/>
              <a:ea typeface="Montserrat"/>
              <a:cs typeface="Montserrat"/>
              <a:sym typeface="Montserrat"/>
            </a:endParaRPr>
          </a:p>
        </p:txBody>
      </p:sp>
      <p:cxnSp>
        <p:nvCxnSpPr>
          <p:cNvPr id="445" name="Google Shape;445;p4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6" name="Google Shape;446;p49"/>
          <p:cNvCxnSpPr/>
          <p:nvPr/>
        </p:nvCxnSpPr>
        <p:spPr>
          <a:xfrm>
            <a:off x="-257975"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47" name="Google Shape;447;p4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8" name="Google Shape;448;p49"/>
          <p:cNvCxnSpPr/>
          <p:nvPr/>
        </p:nvCxnSpPr>
        <p:spPr>
          <a:xfrm>
            <a:off x="6467450"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5" name="Google Shape;465;p5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4163496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5" r:id="rId3"/>
    <p:sldLayoutId id="2147483658" r:id="rId4"/>
    <p:sldLayoutId id="2147483659" r:id="rId5"/>
    <p:sldLayoutId id="2147483666" r:id="rId6"/>
    <p:sldLayoutId id="2147483668" r:id="rId7"/>
    <p:sldLayoutId id="2147483689" r:id="rId8"/>
    <p:sldLayoutId id="2147483695" r:id="rId9"/>
    <p:sldLayoutId id="2147483696" r:id="rId10"/>
    <p:sldLayoutId id="2147483697" r:id="rId11"/>
    <p:sldLayoutId id="2147483698" r:id="rId12"/>
    <p:sldLayoutId id="2147483699" r:id="rId13"/>
    <p:sldLayoutId id="2147483704"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reformesandorra.com/el-jardi-d-henoc-andorra.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9"/>
          <p:cNvSpPr txBox="1">
            <a:spLocks noGrp="1"/>
          </p:cNvSpPr>
          <p:nvPr>
            <p:ph type="ctrTitle"/>
          </p:nvPr>
        </p:nvSpPr>
        <p:spPr>
          <a:xfrm>
            <a:off x="228600" y="1378526"/>
            <a:ext cx="7875475" cy="1499809"/>
          </a:xfrm>
          <a:prstGeom prst="rect">
            <a:avLst/>
          </a:prstGeom>
        </p:spPr>
        <p:txBody>
          <a:bodyPr spcFirstLastPara="1" wrap="square" lIns="91425" tIns="91425" rIns="91425" bIns="91425" anchor="b" anchorCtr="0">
            <a:noAutofit/>
          </a:bodyPr>
          <a:lstStyle/>
          <a:p>
            <a:r>
              <a:rPr lang="pt-BR" sz="5400" dirty="0"/>
              <a:t>BINFO1 M2 </a:t>
            </a:r>
            <a:br>
              <a:rPr lang="pt-BR" sz="5400" dirty="0"/>
            </a:br>
            <a:r>
              <a:rPr lang="pt-BR" sz="3200" dirty="0"/>
              <a:t>Repte Fonaments de computadors</a:t>
            </a:r>
            <a:endParaRPr lang="pt-BR" sz="5400" dirty="0"/>
          </a:p>
        </p:txBody>
      </p:sp>
      <p:sp>
        <p:nvSpPr>
          <p:cNvPr id="483" name="Google Shape;483;p59"/>
          <p:cNvSpPr txBox="1">
            <a:spLocks noGrp="1"/>
          </p:cNvSpPr>
          <p:nvPr>
            <p:ph type="subTitle" idx="1"/>
          </p:nvPr>
        </p:nvSpPr>
        <p:spPr>
          <a:xfrm>
            <a:off x="1040000" y="2982247"/>
            <a:ext cx="70641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solidFill>
                  <a:schemeClr val="dk1"/>
                </a:solidFill>
              </a:rPr>
              <a:t>Alumne: Eric Torrontera Ruiz</a:t>
            </a:r>
          </a:p>
          <a:p>
            <a:pPr marL="0" lvl="0" indent="0" algn="ctr" rtl="0">
              <a:spcBef>
                <a:spcPts val="0"/>
              </a:spcBef>
              <a:spcAft>
                <a:spcPts val="0"/>
              </a:spcAft>
              <a:buClr>
                <a:schemeClr val="dk1"/>
              </a:buClr>
              <a:buSzPts val="1100"/>
              <a:buFont typeface="Arial"/>
              <a:buNone/>
            </a:pPr>
            <a:endParaRPr dirty="0"/>
          </a:p>
        </p:txBody>
      </p:sp>
      <p:sp>
        <p:nvSpPr>
          <p:cNvPr id="2" name="Google Shape;483;p59">
            <a:extLst>
              <a:ext uri="{FF2B5EF4-FFF2-40B4-BE49-F238E27FC236}">
                <a16:creationId xmlns:a16="http://schemas.microsoft.com/office/drawing/2014/main" id="{C59761A6-8A0F-3EFC-2B7C-4BDA854D7EF2}"/>
              </a:ext>
            </a:extLst>
          </p:cNvPr>
          <p:cNvSpPr txBox="1">
            <a:spLocks/>
          </p:cNvSpPr>
          <p:nvPr/>
        </p:nvSpPr>
        <p:spPr>
          <a:xfrm>
            <a:off x="1040005" y="3349393"/>
            <a:ext cx="7064100" cy="441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Montserrat"/>
              <a:buNone/>
              <a:defRPr sz="1600" b="0" i="0" u="none" strike="noStrike" cap="none">
                <a:solidFill>
                  <a:schemeClr val="dk2"/>
                </a:solidFill>
                <a:latin typeface="Montserrat"/>
                <a:ea typeface="Montserrat"/>
                <a:cs typeface="Montserrat"/>
                <a:sym typeface="Montserrat"/>
              </a:defRPr>
            </a:lvl1pPr>
            <a:lvl2pPr marL="914400" marR="0" lvl="1"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2pPr>
            <a:lvl3pPr marL="1371600" marR="0" lvl="2"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3pPr>
            <a:lvl4pPr marL="1828800" marR="0" lvl="3"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4pPr>
            <a:lvl5pPr marL="2286000" marR="0" lvl="4"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5pPr>
            <a:lvl6pPr marL="2743200" marR="0" lvl="5"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6pPr>
            <a:lvl7pPr marL="3200400" marR="0" lvl="6"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7pPr>
            <a:lvl8pPr marL="3657600" marR="0" lvl="7"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8pPr>
            <a:lvl9pPr marL="4114800" marR="0" lvl="8"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9pPr>
          </a:lstStyle>
          <a:p>
            <a:pPr marL="0" indent="0">
              <a:buClr>
                <a:schemeClr val="dk1"/>
              </a:buClr>
              <a:buSzPts val="1100"/>
            </a:pPr>
            <a:r>
              <a:rPr lang="ca-ES" dirty="0">
                <a:solidFill>
                  <a:schemeClr val="dk1"/>
                </a:solidFill>
              </a:rPr>
              <a:t>Professorat: </a:t>
            </a:r>
            <a:r>
              <a:rPr lang="en-US" dirty="0"/>
              <a:t>Yolanda Colom, Lorena Jordana, Miquel Viladrich </a:t>
            </a:r>
          </a:p>
        </p:txBody>
      </p:sp>
    </p:spTree>
    <p:extLst>
      <p:ext uri="{BB962C8B-B14F-4D97-AF65-F5344CB8AC3E}">
        <p14:creationId xmlns:p14="http://schemas.microsoft.com/office/powerpoint/2010/main" val="3637460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anim calcmode="lin" valueType="num">
                                      <p:cBhvr additive="base">
                                        <p:cTn id="7" dur="1000"/>
                                        <p:tgtEl>
                                          <p:spTgt spid="482"/>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483"/>
                                        </p:tgtEl>
                                        <p:attrNameLst>
                                          <p:attrName>style.visibility</p:attrName>
                                        </p:attrNameLst>
                                      </p:cBhvr>
                                      <p:to>
                                        <p:strVal val="visible"/>
                                      </p:to>
                                    </p:set>
                                    <p:anim calcmode="lin" valueType="num">
                                      <p:cBhvr additive="base">
                                        <p:cTn id="10" dur="1000"/>
                                        <p:tgtEl>
                                          <p:spTgt spid="483"/>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1000"/>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895949" y="1350818"/>
            <a:ext cx="4444977" cy="271108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sz="1600" dirty="0">
                <a:effectLst/>
                <a:latin typeface="Arial" panose="020B0604020202020204" pitchFamily="34" charset="0"/>
                <a:ea typeface="Times New Roman" panose="02020603050405020304" pitchFamily="18" charset="0"/>
              </a:rPr>
              <a:t>Petita empresa de nova creació i d’àmbit nacional radicada a Santa Coloma. El seu objectiu és comercialitzar </a:t>
            </a:r>
            <a:r>
              <a:rPr lang="ca-ES" sz="1600" dirty="0">
                <a:latin typeface="Arial" panose="020B0604020202020204" pitchFamily="34" charset="0"/>
                <a:ea typeface="Times New Roman" panose="02020603050405020304" pitchFamily="18" charset="0"/>
              </a:rPr>
              <a:t>diferents sistemes de control </a:t>
            </a:r>
            <a:r>
              <a:rPr lang="ca-ES" sz="1600" dirty="0">
                <a:effectLst/>
                <a:latin typeface="Arial" panose="020B0604020202020204" pitchFamily="34" charset="0"/>
                <a:ea typeface="Times New Roman" panose="02020603050405020304" pitchFamily="18" charset="0"/>
              </a:rPr>
              <a:t>per a particulars</a:t>
            </a:r>
            <a:r>
              <a:rPr lang="ca-ES" sz="1600" dirty="0">
                <a:latin typeface="Arial" panose="020B0604020202020204" pitchFamily="34" charset="0"/>
                <a:ea typeface="Times New Roman" panose="02020603050405020304" pitchFamily="18" charset="0"/>
              </a:rPr>
              <a:t> (Seguretat, Reg i Temperatura/Humitat).</a:t>
            </a:r>
          </a:p>
          <a:p>
            <a:pPr marL="0" lvl="0" indent="0" algn="l" rtl="0">
              <a:spcBef>
                <a:spcPts val="0"/>
              </a:spcBef>
              <a:spcAft>
                <a:spcPts val="0"/>
              </a:spcAft>
              <a:buNone/>
            </a:pPr>
            <a:endParaRPr lang="ca-ES" sz="1600" dirty="0">
              <a:effectLst/>
              <a:latin typeface="Arial" panose="020B0604020202020204" pitchFamily="34" charset="0"/>
              <a:ea typeface="Times New Roman" panose="02020603050405020304" pitchFamily="18" charset="0"/>
            </a:endParaRPr>
          </a:p>
          <a:p>
            <a:pPr marL="0" lvl="0" indent="0" algn="l" rtl="0">
              <a:spcBef>
                <a:spcPts val="0"/>
              </a:spcBef>
              <a:spcAft>
                <a:spcPts val="0"/>
              </a:spcAft>
              <a:buNone/>
            </a:pPr>
            <a:r>
              <a:rPr lang="ca-ES" sz="1600" dirty="0">
                <a:latin typeface="Arial" panose="020B0604020202020204" pitchFamily="34" charset="0"/>
                <a:ea typeface="Times New Roman" panose="02020603050405020304" pitchFamily="18" charset="0"/>
              </a:rPr>
              <a:t>En funció del sistema de control, utilitzarà </a:t>
            </a:r>
            <a:r>
              <a:rPr lang="ca-ES" sz="1600" dirty="0">
                <a:effectLst/>
                <a:latin typeface="Arial" panose="020B0604020202020204" pitchFamily="34" charset="0"/>
                <a:ea typeface="Times New Roman" panose="02020603050405020304" pitchFamily="18" charset="0"/>
              </a:rPr>
              <a:t> l’energia solar o sistemes que captin, emmagatzemin i distribueixin l’aigua de la pluja per tal de contribuir als ODS (Objectius de Desenvolupament Sostenibles). </a:t>
            </a:r>
            <a:endParaRPr lang="ca-ES" sz="1200" dirty="0"/>
          </a:p>
        </p:txBody>
      </p:sp>
      <p:sp>
        <p:nvSpPr>
          <p:cNvPr id="547" name="Google Shape;547;p65"/>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ECOTERRA.SL</a:t>
            </a:r>
            <a:endParaRPr dirty="0"/>
          </a:p>
        </p:txBody>
      </p:sp>
      <p:pic>
        <p:nvPicPr>
          <p:cNvPr id="3" name="Picture 2">
            <a:extLst>
              <a:ext uri="{FF2B5EF4-FFF2-40B4-BE49-F238E27FC236}">
                <a16:creationId xmlns:a16="http://schemas.microsoft.com/office/drawing/2014/main" id="{F5A6A218-D7D4-994A-DF4E-ACF7EEE0B03F}"/>
              </a:ext>
            </a:extLst>
          </p:cNvPr>
          <p:cNvPicPr>
            <a:picLocks noChangeAspect="1"/>
          </p:cNvPicPr>
          <p:nvPr/>
        </p:nvPicPr>
        <p:blipFill>
          <a:blip r:embed="rId3"/>
          <a:stretch>
            <a:fillRect/>
          </a:stretch>
        </p:blipFill>
        <p:spPr>
          <a:xfrm>
            <a:off x="5393749" y="1520395"/>
            <a:ext cx="3224154" cy="21027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5" y="445025"/>
            <a:ext cx="798050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Objectius de Desenvolupament Sostenibles</a:t>
            </a:r>
          </a:p>
        </p:txBody>
      </p:sp>
      <p:sp>
        <p:nvSpPr>
          <p:cNvPr id="495" name="Google Shape;495;p61"/>
          <p:cNvSpPr txBox="1">
            <a:spLocks noGrp="1"/>
          </p:cNvSpPr>
          <p:nvPr>
            <p:ph type="subTitle" idx="3"/>
          </p:nvPr>
        </p:nvSpPr>
        <p:spPr>
          <a:xfrm>
            <a:off x="4786472" y="1880582"/>
            <a:ext cx="4205139" cy="35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ca-ES" dirty="0"/>
              <a:t>Aigua neta i sanejament </a:t>
            </a:r>
          </a:p>
        </p:txBody>
      </p:sp>
      <p:sp>
        <p:nvSpPr>
          <p:cNvPr id="498" name="Google Shape;498;p61"/>
          <p:cNvSpPr txBox="1">
            <a:spLocks noGrp="1"/>
          </p:cNvSpPr>
          <p:nvPr>
            <p:ph type="subTitle" idx="4"/>
          </p:nvPr>
        </p:nvSpPr>
        <p:spPr>
          <a:xfrm>
            <a:off x="4786472" y="2206610"/>
            <a:ext cx="4205139" cy="7836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ca-ES" b="0" i="0" dirty="0">
                <a:solidFill>
                  <a:srgbClr val="000000"/>
                </a:solidFill>
                <a:effectLst/>
                <a:latin typeface="Open Sans" panose="020B0606030504020204" pitchFamily="34" charset="0"/>
              </a:rPr>
              <a:t>Ajudant a la sostenibilitat de l'aigua potable mitjançant l'ús de recursos hídrics.</a:t>
            </a:r>
            <a:endParaRPr lang="ca-ES" dirty="0"/>
          </a:p>
        </p:txBody>
      </p:sp>
      <p:sp>
        <p:nvSpPr>
          <p:cNvPr id="503" name="Google Shape;503;p61"/>
          <p:cNvSpPr txBox="1">
            <a:spLocks noGrp="1"/>
          </p:cNvSpPr>
          <p:nvPr>
            <p:ph type="title" idx="9"/>
          </p:nvPr>
        </p:nvSpPr>
        <p:spPr>
          <a:xfrm>
            <a:off x="5720670" y="1271378"/>
            <a:ext cx="2381893"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ODS 06</a:t>
            </a:r>
            <a:endParaRPr dirty="0"/>
          </a:p>
        </p:txBody>
      </p:sp>
      <p:sp>
        <p:nvSpPr>
          <p:cNvPr id="10" name="Google Shape;495;p61">
            <a:extLst>
              <a:ext uri="{FF2B5EF4-FFF2-40B4-BE49-F238E27FC236}">
                <a16:creationId xmlns:a16="http://schemas.microsoft.com/office/drawing/2014/main" id="{46F5CF95-D069-AB1F-BDDF-F794B73E15C9}"/>
              </a:ext>
            </a:extLst>
          </p:cNvPr>
          <p:cNvSpPr txBox="1">
            <a:spLocks/>
          </p:cNvSpPr>
          <p:nvPr/>
        </p:nvSpPr>
        <p:spPr>
          <a:xfrm>
            <a:off x="429213" y="1783592"/>
            <a:ext cx="4205139" cy="357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100"/>
              <a:buFont typeface="Montserrat"/>
              <a:buNone/>
              <a:defRPr sz="2400" b="0" i="0" u="none" strike="noStrike" cap="none">
                <a:solidFill>
                  <a:schemeClr val="dk2"/>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9pPr>
          </a:lstStyle>
          <a:p>
            <a:pPr marL="0" indent="0"/>
            <a:r>
              <a:rPr lang="ca-ES" dirty="0"/>
              <a:t>Fam zero </a:t>
            </a:r>
          </a:p>
        </p:txBody>
      </p:sp>
      <p:sp>
        <p:nvSpPr>
          <p:cNvPr id="11" name="Google Shape;498;p61">
            <a:extLst>
              <a:ext uri="{FF2B5EF4-FFF2-40B4-BE49-F238E27FC236}">
                <a16:creationId xmlns:a16="http://schemas.microsoft.com/office/drawing/2014/main" id="{B7F76FE7-97DC-E291-9D7D-77435085E126}"/>
              </a:ext>
            </a:extLst>
          </p:cNvPr>
          <p:cNvSpPr txBox="1">
            <a:spLocks/>
          </p:cNvSpPr>
          <p:nvPr/>
        </p:nvSpPr>
        <p:spPr>
          <a:xfrm>
            <a:off x="429213" y="2095766"/>
            <a:ext cx="4205139" cy="7836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r>
              <a:rPr lang="ca-ES" b="0" i="0" dirty="0">
                <a:solidFill>
                  <a:srgbClr val="000000"/>
                </a:solidFill>
                <a:effectLst/>
                <a:latin typeface="Open Sans" panose="020B0606030504020204" pitchFamily="34" charset="0"/>
              </a:rPr>
              <a:t>Augmentar la productivitat agrícola i els ingressos dels productors d'aliments de petita escala (Reducció de costos derivats de l'aigua i l'energia)</a:t>
            </a:r>
            <a:endParaRPr lang="ca-ES" dirty="0"/>
          </a:p>
        </p:txBody>
      </p:sp>
      <p:sp>
        <p:nvSpPr>
          <p:cNvPr id="12" name="Google Shape;503;p61">
            <a:extLst>
              <a:ext uri="{FF2B5EF4-FFF2-40B4-BE49-F238E27FC236}">
                <a16:creationId xmlns:a16="http://schemas.microsoft.com/office/drawing/2014/main" id="{27C146F2-FC47-0E9D-DBD5-FD0C060BF80F}"/>
              </a:ext>
            </a:extLst>
          </p:cNvPr>
          <p:cNvSpPr txBox="1">
            <a:spLocks/>
          </p:cNvSpPr>
          <p:nvPr/>
        </p:nvSpPr>
        <p:spPr>
          <a:xfrm>
            <a:off x="1287211" y="1188242"/>
            <a:ext cx="2381893" cy="66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4000"/>
              <a:buFont typeface="Vidaloka"/>
              <a:buNone/>
              <a:defRPr sz="3800" b="0" i="0" u="none" strike="noStrike" cap="none">
                <a:solidFill>
                  <a:schemeClr val="accent1"/>
                </a:solidFill>
                <a:latin typeface="Vidaloka"/>
                <a:ea typeface="Vidaloka"/>
                <a:cs typeface="Vidaloka"/>
                <a:sym typeface="Vidaloka"/>
              </a:defRPr>
            </a:lvl1pPr>
            <a:lvl2pPr marR="0" lvl="1"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9pPr>
          </a:lstStyle>
          <a:p>
            <a:r>
              <a:rPr lang="en-US" dirty="0"/>
              <a:t>ODS 02</a:t>
            </a:r>
          </a:p>
        </p:txBody>
      </p:sp>
      <p:sp>
        <p:nvSpPr>
          <p:cNvPr id="25" name="Google Shape;495;p61">
            <a:extLst>
              <a:ext uri="{FF2B5EF4-FFF2-40B4-BE49-F238E27FC236}">
                <a16:creationId xmlns:a16="http://schemas.microsoft.com/office/drawing/2014/main" id="{1A4A0F4C-0E86-2329-5845-808961111A05}"/>
              </a:ext>
            </a:extLst>
          </p:cNvPr>
          <p:cNvSpPr txBox="1">
            <a:spLocks/>
          </p:cNvSpPr>
          <p:nvPr/>
        </p:nvSpPr>
        <p:spPr>
          <a:xfrm>
            <a:off x="366867" y="3660880"/>
            <a:ext cx="4205139" cy="357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100"/>
              <a:buFont typeface="Montserrat"/>
              <a:buNone/>
              <a:defRPr sz="2400" b="0" i="0" u="none" strike="noStrike" cap="none">
                <a:solidFill>
                  <a:schemeClr val="dk2"/>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9pPr>
          </a:lstStyle>
          <a:p>
            <a:pPr marL="0" indent="0"/>
            <a:r>
              <a:rPr lang="ca-ES" dirty="0"/>
              <a:t>Energia neta i assequible </a:t>
            </a:r>
          </a:p>
        </p:txBody>
      </p:sp>
      <p:sp>
        <p:nvSpPr>
          <p:cNvPr id="26" name="Google Shape;498;p61">
            <a:extLst>
              <a:ext uri="{FF2B5EF4-FFF2-40B4-BE49-F238E27FC236}">
                <a16:creationId xmlns:a16="http://schemas.microsoft.com/office/drawing/2014/main" id="{3581BC3E-03FA-4667-8777-C10A53C5CAEA}"/>
              </a:ext>
            </a:extLst>
          </p:cNvPr>
          <p:cNvSpPr txBox="1">
            <a:spLocks/>
          </p:cNvSpPr>
          <p:nvPr/>
        </p:nvSpPr>
        <p:spPr>
          <a:xfrm>
            <a:off x="366867" y="3973054"/>
            <a:ext cx="4205139" cy="7836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r>
              <a:rPr lang="ca-ES" b="0" i="0" dirty="0">
                <a:solidFill>
                  <a:srgbClr val="000000"/>
                </a:solidFill>
                <a:effectLst/>
                <a:latin typeface="Open Sans" panose="020B0606030504020204" pitchFamily="34" charset="0"/>
              </a:rPr>
              <a:t>Augmentant la producció d'energia renovable en el conjunt de fons d'energia</a:t>
            </a:r>
            <a:endParaRPr lang="ca-ES" dirty="0"/>
          </a:p>
        </p:txBody>
      </p:sp>
      <p:sp>
        <p:nvSpPr>
          <p:cNvPr id="27" name="Google Shape;503;p61">
            <a:extLst>
              <a:ext uri="{FF2B5EF4-FFF2-40B4-BE49-F238E27FC236}">
                <a16:creationId xmlns:a16="http://schemas.microsoft.com/office/drawing/2014/main" id="{D4A2D7D5-023E-F8DD-96C9-6D786FD488AB}"/>
              </a:ext>
            </a:extLst>
          </p:cNvPr>
          <p:cNvSpPr txBox="1">
            <a:spLocks/>
          </p:cNvSpPr>
          <p:nvPr/>
        </p:nvSpPr>
        <p:spPr>
          <a:xfrm>
            <a:off x="1224865" y="3065530"/>
            <a:ext cx="2381893" cy="66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4000"/>
              <a:buFont typeface="Vidaloka"/>
              <a:buNone/>
              <a:defRPr sz="3800" b="0" i="0" u="none" strike="noStrike" cap="none">
                <a:solidFill>
                  <a:schemeClr val="accent1"/>
                </a:solidFill>
                <a:latin typeface="Vidaloka"/>
                <a:ea typeface="Vidaloka"/>
                <a:cs typeface="Vidaloka"/>
                <a:sym typeface="Vidaloka"/>
              </a:defRPr>
            </a:lvl1pPr>
            <a:lvl2pPr marR="0" lvl="1"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9pPr>
          </a:lstStyle>
          <a:p>
            <a:r>
              <a:rPr lang="en-US" dirty="0"/>
              <a:t>ODS 07</a:t>
            </a:r>
          </a:p>
        </p:txBody>
      </p:sp>
      <p:sp>
        <p:nvSpPr>
          <p:cNvPr id="28" name="Google Shape;495;p61">
            <a:extLst>
              <a:ext uri="{FF2B5EF4-FFF2-40B4-BE49-F238E27FC236}">
                <a16:creationId xmlns:a16="http://schemas.microsoft.com/office/drawing/2014/main" id="{91BAF864-A5C1-F517-9C76-3329ECB94163}"/>
              </a:ext>
            </a:extLst>
          </p:cNvPr>
          <p:cNvSpPr txBox="1">
            <a:spLocks/>
          </p:cNvSpPr>
          <p:nvPr/>
        </p:nvSpPr>
        <p:spPr>
          <a:xfrm>
            <a:off x="4412540" y="3695131"/>
            <a:ext cx="4551232" cy="357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100"/>
              <a:buFont typeface="Montserrat"/>
              <a:buNone/>
              <a:defRPr sz="2400" b="0" i="0" u="none" strike="noStrike" cap="none">
                <a:solidFill>
                  <a:schemeClr val="dk2"/>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9pPr>
          </a:lstStyle>
          <a:p>
            <a:pPr marL="0" indent="0"/>
            <a:r>
              <a:rPr lang="ca-ES" dirty="0"/>
              <a:t>Consum i producció responsable </a:t>
            </a:r>
          </a:p>
        </p:txBody>
      </p:sp>
      <p:sp>
        <p:nvSpPr>
          <p:cNvPr id="29" name="Google Shape;498;p61">
            <a:extLst>
              <a:ext uri="{FF2B5EF4-FFF2-40B4-BE49-F238E27FC236}">
                <a16:creationId xmlns:a16="http://schemas.microsoft.com/office/drawing/2014/main" id="{07628F3D-9C40-86CA-005D-BB62CF392CB6}"/>
              </a:ext>
            </a:extLst>
          </p:cNvPr>
          <p:cNvSpPr txBox="1">
            <a:spLocks/>
          </p:cNvSpPr>
          <p:nvPr/>
        </p:nvSpPr>
        <p:spPr>
          <a:xfrm>
            <a:off x="4585587" y="3979981"/>
            <a:ext cx="4205139" cy="7836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r>
              <a:rPr lang="ca-ES" b="0" i="0" dirty="0">
                <a:solidFill>
                  <a:srgbClr val="000000"/>
                </a:solidFill>
                <a:effectLst/>
                <a:latin typeface="Open Sans" panose="020B0606030504020204" pitchFamily="34" charset="0"/>
              </a:rPr>
              <a:t>Adoptant pràctiques sostenibles i fomentant estils de vida en harmonia amb la natura.</a:t>
            </a:r>
            <a:endParaRPr lang="ca-ES" dirty="0"/>
          </a:p>
        </p:txBody>
      </p:sp>
      <p:sp>
        <p:nvSpPr>
          <p:cNvPr id="30" name="Google Shape;503;p61">
            <a:extLst>
              <a:ext uri="{FF2B5EF4-FFF2-40B4-BE49-F238E27FC236}">
                <a16:creationId xmlns:a16="http://schemas.microsoft.com/office/drawing/2014/main" id="{A69EDEEF-8B34-C93A-0026-31BB6CF2BA2E}"/>
              </a:ext>
            </a:extLst>
          </p:cNvPr>
          <p:cNvSpPr txBox="1">
            <a:spLocks/>
          </p:cNvSpPr>
          <p:nvPr/>
        </p:nvSpPr>
        <p:spPr>
          <a:xfrm>
            <a:off x="5443585" y="3072457"/>
            <a:ext cx="2381893" cy="66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4000"/>
              <a:buFont typeface="Vidaloka"/>
              <a:buNone/>
              <a:defRPr sz="3800" b="0" i="0" u="none" strike="noStrike" cap="none">
                <a:solidFill>
                  <a:schemeClr val="accent1"/>
                </a:solidFill>
                <a:latin typeface="Vidaloka"/>
                <a:ea typeface="Vidaloka"/>
                <a:cs typeface="Vidaloka"/>
                <a:sym typeface="Vidaloka"/>
              </a:defRPr>
            </a:lvl1pPr>
            <a:lvl2pPr marR="0" lvl="1"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9pPr>
          </a:lstStyle>
          <a:p>
            <a:r>
              <a:rPr lang="en-US" dirty="0"/>
              <a:t>ODS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895950" y="1524000"/>
            <a:ext cx="5497175" cy="305492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ca-ES" dirty="0"/>
          </a:p>
          <a:p>
            <a:pPr marL="0" lvl="0" indent="0" algn="l" rtl="0">
              <a:spcBef>
                <a:spcPts val="0"/>
              </a:spcBef>
              <a:spcAft>
                <a:spcPts val="0"/>
              </a:spcAft>
              <a:buNone/>
            </a:pPr>
            <a:endParaRPr lang="ca-ES" dirty="0"/>
          </a:p>
          <a:p>
            <a:pPr marL="0" lvl="0" indent="0" algn="l" rtl="0">
              <a:spcBef>
                <a:spcPts val="0"/>
              </a:spcBef>
              <a:spcAft>
                <a:spcPts val="0"/>
              </a:spcAft>
              <a:buNone/>
            </a:pPr>
            <a:r>
              <a:rPr lang="ca-ES" dirty="0"/>
              <a:t>Dissenyada per empreses petites i mitjanes, amb un mínim d'un soci. La direcció la poden exercir els socis o altres persones contractades per a desenvolupar les tasques de direcció.</a:t>
            </a:r>
          </a:p>
          <a:p>
            <a:pPr marL="0" lvl="0" indent="0" algn="l" rtl="0">
              <a:spcBef>
                <a:spcPts val="0"/>
              </a:spcBef>
              <a:spcAft>
                <a:spcPts val="0"/>
              </a:spcAft>
              <a:buNone/>
            </a:pPr>
            <a:endParaRPr lang="ca-ES" dirty="0"/>
          </a:p>
          <a:p>
            <a:pPr marL="0" lvl="0" indent="0" algn="l" rtl="0">
              <a:spcBef>
                <a:spcPts val="0"/>
              </a:spcBef>
              <a:spcAft>
                <a:spcPts val="0"/>
              </a:spcAft>
              <a:buNone/>
            </a:pPr>
            <a:r>
              <a:rPr lang="ca-ES" dirty="0"/>
              <a:t>En aquest cas la responsabilitat dels socis estarà limitada al capital aportat. El capital social mínim és de 3.000€ i està dividit en participacions nominals. Inicialment, aportarem un capital de 50.000€ dividit en accions al 50%.</a:t>
            </a:r>
          </a:p>
          <a:p>
            <a:pPr marL="0" lvl="0" indent="0" algn="l" rtl="0">
              <a:spcBef>
                <a:spcPts val="0"/>
              </a:spcBef>
              <a:spcAft>
                <a:spcPts val="0"/>
              </a:spcAft>
              <a:buNone/>
            </a:pPr>
            <a:endParaRPr lang="ca-ES" dirty="0"/>
          </a:p>
          <a:p>
            <a:pPr marL="0" lvl="0" indent="0" algn="l" rtl="0">
              <a:spcBef>
                <a:spcPts val="0"/>
              </a:spcBef>
              <a:spcAft>
                <a:spcPts val="0"/>
              </a:spcAft>
              <a:buNone/>
            </a:pPr>
            <a:r>
              <a:rPr lang="ca-ES" dirty="0"/>
              <a:t> Posteriorment ingressarem al registre mercantil d'Andorra.</a:t>
            </a:r>
          </a:p>
        </p:txBody>
      </p:sp>
      <p:sp>
        <p:nvSpPr>
          <p:cNvPr id="547" name="Google Shape;547;p65"/>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Forma Jurídica</a:t>
            </a:r>
            <a:endParaRPr dirty="0"/>
          </a:p>
        </p:txBody>
      </p:sp>
      <p:sp>
        <p:nvSpPr>
          <p:cNvPr id="2" name="Google Shape;503;p61">
            <a:extLst>
              <a:ext uri="{FF2B5EF4-FFF2-40B4-BE49-F238E27FC236}">
                <a16:creationId xmlns:a16="http://schemas.microsoft.com/office/drawing/2014/main" id="{0E8F5A3E-5A64-D7E9-C48C-76C55D6D60FD}"/>
              </a:ext>
            </a:extLst>
          </p:cNvPr>
          <p:cNvSpPr txBox="1">
            <a:spLocks/>
          </p:cNvSpPr>
          <p:nvPr/>
        </p:nvSpPr>
        <p:spPr>
          <a:xfrm>
            <a:off x="895951" y="1243661"/>
            <a:ext cx="5019940" cy="66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4000"/>
              <a:buFont typeface="Vidaloka"/>
              <a:buNone/>
              <a:defRPr sz="3800" b="0" i="0" u="none" strike="noStrike" cap="none">
                <a:solidFill>
                  <a:schemeClr val="accent1"/>
                </a:solidFill>
                <a:latin typeface="Vidaloka"/>
                <a:ea typeface="Vidaloka"/>
                <a:cs typeface="Vidaloka"/>
                <a:sym typeface="Vidaloka"/>
              </a:defRPr>
            </a:lvl1pPr>
            <a:lvl2pPr marR="0" lvl="1"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9pPr>
          </a:lstStyle>
          <a:p>
            <a:r>
              <a:rPr lang="ca-ES" b="1" i="0" dirty="0">
                <a:solidFill>
                  <a:srgbClr val="333333"/>
                </a:solidFill>
                <a:effectLst/>
                <a:latin typeface="OpenSansRegular"/>
              </a:rPr>
              <a:t>Societat limitada</a:t>
            </a:r>
            <a:r>
              <a:rPr lang="ca-ES" b="1" dirty="0">
                <a:solidFill>
                  <a:srgbClr val="333333"/>
                </a:solidFill>
                <a:latin typeface="OpenSansRegular"/>
              </a:rPr>
              <a:t> (</a:t>
            </a:r>
            <a:r>
              <a:rPr lang="en-US" b="1" dirty="0">
                <a:solidFill>
                  <a:srgbClr val="333333"/>
                </a:solidFill>
                <a:latin typeface="OpenSansRegular"/>
              </a:rPr>
              <a:t>SL)</a:t>
            </a:r>
            <a:endParaRPr lang="en-US" dirty="0"/>
          </a:p>
        </p:txBody>
      </p:sp>
      <p:grpSp>
        <p:nvGrpSpPr>
          <p:cNvPr id="3" name="Google Shape;1727;p124">
            <a:extLst>
              <a:ext uri="{FF2B5EF4-FFF2-40B4-BE49-F238E27FC236}">
                <a16:creationId xmlns:a16="http://schemas.microsoft.com/office/drawing/2014/main" id="{19528D18-438C-B4C7-4A3E-27C7C101DD3B}"/>
              </a:ext>
            </a:extLst>
          </p:cNvPr>
          <p:cNvGrpSpPr/>
          <p:nvPr/>
        </p:nvGrpSpPr>
        <p:grpSpPr>
          <a:xfrm>
            <a:off x="6774438" y="883503"/>
            <a:ext cx="1607562" cy="1610315"/>
            <a:chOff x="4107438" y="2753866"/>
            <a:chExt cx="324803" cy="323903"/>
          </a:xfrm>
        </p:grpSpPr>
        <p:sp>
          <p:nvSpPr>
            <p:cNvPr id="4" name="Google Shape;1728;p124">
              <a:extLst>
                <a:ext uri="{FF2B5EF4-FFF2-40B4-BE49-F238E27FC236}">
                  <a16:creationId xmlns:a16="http://schemas.microsoft.com/office/drawing/2014/main" id="{66F61924-E978-0D27-506B-E400ADC6057D}"/>
                </a:ext>
              </a:extLst>
            </p:cNvPr>
            <p:cNvSpPr/>
            <p:nvPr/>
          </p:nvSpPr>
          <p:spPr>
            <a:xfrm>
              <a:off x="4174582" y="2753866"/>
              <a:ext cx="118575" cy="116755"/>
            </a:xfrm>
            <a:custGeom>
              <a:avLst/>
              <a:gdLst/>
              <a:ahLst/>
              <a:cxnLst/>
              <a:rect l="l" t="t" r="r" b="b"/>
              <a:pathLst>
                <a:path w="6059" h="5966" extrusionOk="0">
                  <a:moveTo>
                    <a:pt x="4641" y="0"/>
                  </a:moveTo>
                  <a:cubicBezTo>
                    <a:pt x="4517" y="0"/>
                    <a:pt x="4392" y="47"/>
                    <a:pt x="4294" y="140"/>
                  </a:cubicBezTo>
                  <a:lnTo>
                    <a:pt x="187" y="4257"/>
                  </a:lnTo>
                  <a:cubicBezTo>
                    <a:pt x="0" y="4444"/>
                    <a:pt x="0" y="4748"/>
                    <a:pt x="187" y="4944"/>
                  </a:cubicBezTo>
                  <a:lnTo>
                    <a:pt x="1069" y="5826"/>
                  </a:lnTo>
                  <a:cubicBezTo>
                    <a:pt x="1162" y="5919"/>
                    <a:pt x="1284" y="5966"/>
                    <a:pt x="1408" y="5966"/>
                  </a:cubicBezTo>
                  <a:cubicBezTo>
                    <a:pt x="1532" y="5966"/>
                    <a:pt x="1657" y="5919"/>
                    <a:pt x="1755" y="5826"/>
                  </a:cubicBezTo>
                  <a:lnTo>
                    <a:pt x="5863" y="1718"/>
                  </a:lnTo>
                  <a:cubicBezTo>
                    <a:pt x="6059" y="1522"/>
                    <a:pt x="6059" y="1218"/>
                    <a:pt x="5863" y="1032"/>
                  </a:cubicBezTo>
                  <a:lnTo>
                    <a:pt x="4980" y="140"/>
                  </a:lnTo>
                  <a:cubicBezTo>
                    <a:pt x="4887" y="47"/>
                    <a:pt x="4765" y="0"/>
                    <a:pt x="4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1729;p124">
              <a:extLst>
                <a:ext uri="{FF2B5EF4-FFF2-40B4-BE49-F238E27FC236}">
                  <a16:creationId xmlns:a16="http://schemas.microsoft.com/office/drawing/2014/main" id="{70E25D3C-E65B-FF69-BE2F-49A109337344}"/>
                </a:ext>
              </a:extLst>
            </p:cNvPr>
            <p:cNvSpPr/>
            <p:nvPr/>
          </p:nvSpPr>
          <p:spPr>
            <a:xfrm>
              <a:off x="4291219" y="2870699"/>
              <a:ext cx="118575" cy="116755"/>
            </a:xfrm>
            <a:custGeom>
              <a:avLst/>
              <a:gdLst/>
              <a:ahLst/>
              <a:cxnLst/>
              <a:rect l="l" t="t" r="r" b="b"/>
              <a:pathLst>
                <a:path w="6059" h="5966" extrusionOk="0">
                  <a:moveTo>
                    <a:pt x="4644" y="1"/>
                  </a:moveTo>
                  <a:cubicBezTo>
                    <a:pt x="4520" y="1"/>
                    <a:pt x="4397" y="47"/>
                    <a:pt x="4304" y="140"/>
                  </a:cubicBezTo>
                  <a:lnTo>
                    <a:pt x="187" y="4257"/>
                  </a:lnTo>
                  <a:cubicBezTo>
                    <a:pt x="1" y="4444"/>
                    <a:pt x="1" y="4748"/>
                    <a:pt x="187" y="4944"/>
                  </a:cubicBezTo>
                  <a:lnTo>
                    <a:pt x="1079" y="5826"/>
                  </a:lnTo>
                  <a:cubicBezTo>
                    <a:pt x="1172" y="5919"/>
                    <a:pt x="1295" y="5966"/>
                    <a:pt x="1418" y="5966"/>
                  </a:cubicBezTo>
                  <a:cubicBezTo>
                    <a:pt x="1542" y="5966"/>
                    <a:pt x="1667" y="5919"/>
                    <a:pt x="1765" y="5826"/>
                  </a:cubicBezTo>
                  <a:lnTo>
                    <a:pt x="5873" y="1719"/>
                  </a:lnTo>
                  <a:cubicBezTo>
                    <a:pt x="6059" y="1522"/>
                    <a:pt x="6059" y="1219"/>
                    <a:pt x="5873" y="1032"/>
                  </a:cubicBezTo>
                  <a:lnTo>
                    <a:pt x="4990" y="140"/>
                  </a:lnTo>
                  <a:cubicBezTo>
                    <a:pt x="4892" y="47"/>
                    <a:pt x="4767" y="1"/>
                    <a:pt x="4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1730;p124">
              <a:extLst>
                <a:ext uri="{FF2B5EF4-FFF2-40B4-BE49-F238E27FC236}">
                  <a16:creationId xmlns:a16="http://schemas.microsoft.com/office/drawing/2014/main" id="{C5D8900F-8CFE-04C8-4EB9-3FDF8D29D675}"/>
                </a:ext>
              </a:extLst>
            </p:cNvPr>
            <p:cNvSpPr/>
            <p:nvPr/>
          </p:nvSpPr>
          <p:spPr>
            <a:xfrm>
              <a:off x="4220807" y="2799386"/>
              <a:ext cx="142567" cy="142548"/>
            </a:xfrm>
            <a:custGeom>
              <a:avLst/>
              <a:gdLst/>
              <a:ahLst/>
              <a:cxnLst/>
              <a:rect l="l" t="t" r="r" b="b"/>
              <a:pathLst>
                <a:path w="7285" h="7284" extrusionOk="0">
                  <a:moveTo>
                    <a:pt x="4255" y="0"/>
                  </a:moveTo>
                  <a:cubicBezTo>
                    <a:pt x="4206" y="69"/>
                    <a:pt x="60" y="4216"/>
                    <a:pt x="1" y="4255"/>
                  </a:cubicBezTo>
                  <a:cubicBezTo>
                    <a:pt x="1491" y="4637"/>
                    <a:pt x="2648" y="5804"/>
                    <a:pt x="3030" y="7284"/>
                  </a:cubicBezTo>
                  <a:cubicBezTo>
                    <a:pt x="3089" y="7225"/>
                    <a:pt x="7235" y="3078"/>
                    <a:pt x="7284" y="3029"/>
                  </a:cubicBezTo>
                  <a:cubicBezTo>
                    <a:pt x="6569" y="2824"/>
                    <a:pt x="5902" y="2451"/>
                    <a:pt x="5363" y="1931"/>
                  </a:cubicBezTo>
                  <a:cubicBezTo>
                    <a:pt x="4745" y="1314"/>
                    <a:pt x="4412" y="520"/>
                    <a:pt x="4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731;p124">
              <a:extLst>
                <a:ext uri="{FF2B5EF4-FFF2-40B4-BE49-F238E27FC236}">
                  <a16:creationId xmlns:a16="http://schemas.microsoft.com/office/drawing/2014/main" id="{825E1006-C2E9-D821-A54D-BE24D9E52929}"/>
                </a:ext>
              </a:extLst>
            </p:cNvPr>
            <p:cNvSpPr/>
            <p:nvPr/>
          </p:nvSpPr>
          <p:spPr>
            <a:xfrm>
              <a:off x="4107438" y="2902402"/>
              <a:ext cx="153116" cy="152196"/>
            </a:xfrm>
            <a:custGeom>
              <a:avLst/>
              <a:gdLst/>
              <a:ahLst/>
              <a:cxnLst/>
              <a:rect l="l" t="t" r="r" b="b"/>
              <a:pathLst>
                <a:path w="7824" h="7777" extrusionOk="0">
                  <a:moveTo>
                    <a:pt x="5764" y="0"/>
                  </a:moveTo>
                  <a:lnTo>
                    <a:pt x="186" y="5578"/>
                  </a:lnTo>
                  <a:cubicBezTo>
                    <a:pt x="0" y="5765"/>
                    <a:pt x="0" y="6069"/>
                    <a:pt x="186" y="6265"/>
                  </a:cubicBezTo>
                  <a:lnTo>
                    <a:pt x="1559" y="7637"/>
                  </a:lnTo>
                  <a:cubicBezTo>
                    <a:pt x="1652" y="7730"/>
                    <a:pt x="1775" y="7777"/>
                    <a:pt x="1898" y="7777"/>
                  </a:cubicBezTo>
                  <a:cubicBezTo>
                    <a:pt x="2022" y="7777"/>
                    <a:pt x="2147" y="7730"/>
                    <a:pt x="2245" y="7637"/>
                  </a:cubicBezTo>
                  <a:lnTo>
                    <a:pt x="7823" y="2059"/>
                  </a:lnTo>
                  <a:cubicBezTo>
                    <a:pt x="7509" y="1079"/>
                    <a:pt x="6745" y="304"/>
                    <a:pt x="5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1732;p124">
              <a:extLst>
                <a:ext uri="{FF2B5EF4-FFF2-40B4-BE49-F238E27FC236}">
                  <a16:creationId xmlns:a16="http://schemas.microsoft.com/office/drawing/2014/main" id="{EEF88770-BC47-5C29-EEDC-4AA2E618C810}"/>
                </a:ext>
              </a:extLst>
            </p:cNvPr>
            <p:cNvSpPr/>
            <p:nvPr/>
          </p:nvSpPr>
          <p:spPr>
            <a:xfrm>
              <a:off x="4299282" y="3020762"/>
              <a:ext cx="132959" cy="57007"/>
            </a:xfrm>
            <a:custGeom>
              <a:avLst/>
              <a:gdLst/>
              <a:ahLst/>
              <a:cxnLst/>
              <a:rect l="l" t="t" r="r" b="b"/>
              <a:pathLst>
                <a:path w="6794" h="2913" extrusionOk="0">
                  <a:moveTo>
                    <a:pt x="5351" y="1"/>
                  </a:moveTo>
                  <a:cubicBezTo>
                    <a:pt x="5345" y="1"/>
                    <a:pt x="5339" y="1"/>
                    <a:pt x="5333" y="1"/>
                  </a:cubicBezTo>
                  <a:lnTo>
                    <a:pt x="1451" y="1"/>
                  </a:lnTo>
                  <a:cubicBezTo>
                    <a:pt x="657" y="1"/>
                    <a:pt x="0" y="648"/>
                    <a:pt x="0" y="1452"/>
                  </a:cubicBezTo>
                  <a:lnTo>
                    <a:pt x="0" y="2422"/>
                  </a:lnTo>
                  <a:cubicBezTo>
                    <a:pt x="0" y="2697"/>
                    <a:pt x="226" y="2912"/>
                    <a:pt x="490" y="2912"/>
                  </a:cubicBezTo>
                  <a:lnTo>
                    <a:pt x="6304" y="2912"/>
                  </a:lnTo>
                  <a:cubicBezTo>
                    <a:pt x="6578" y="2912"/>
                    <a:pt x="6794" y="2697"/>
                    <a:pt x="6794" y="2422"/>
                  </a:cubicBezTo>
                  <a:lnTo>
                    <a:pt x="6794" y="1452"/>
                  </a:lnTo>
                  <a:cubicBezTo>
                    <a:pt x="6794" y="654"/>
                    <a:pt x="6147" y="1"/>
                    <a:pt x="5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727567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9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Departaments</a:t>
            </a:r>
            <a:endParaRPr dirty="0"/>
          </a:p>
        </p:txBody>
      </p:sp>
      <p:cxnSp>
        <p:nvCxnSpPr>
          <p:cNvPr id="970" name="Google Shape;970;p92"/>
          <p:cNvCxnSpPr>
            <a:stCxn id="971" idx="3"/>
            <a:endCxn id="972" idx="1"/>
          </p:cNvCxnSpPr>
          <p:nvPr/>
        </p:nvCxnSpPr>
        <p:spPr>
          <a:xfrm>
            <a:off x="3346950" y="2937480"/>
            <a:ext cx="909300" cy="0"/>
          </a:xfrm>
          <a:prstGeom prst="straightConnector1">
            <a:avLst/>
          </a:prstGeom>
          <a:noFill/>
          <a:ln w="28575" cap="flat" cmpd="sng">
            <a:solidFill>
              <a:schemeClr val="accent1"/>
            </a:solidFill>
            <a:prstDash val="solid"/>
            <a:round/>
            <a:headEnd type="none" w="med" len="med"/>
            <a:tailEnd type="none" w="med" len="med"/>
          </a:ln>
        </p:spPr>
      </p:cxnSp>
      <p:grpSp>
        <p:nvGrpSpPr>
          <p:cNvPr id="975" name="Google Shape;975;p92"/>
          <p:cNvGrpSpPr/>
          <p:nvPr/>
        </p:nvGrpSpPr>
        <p:grpSpPr>
          <a:xfrm>
            <a:off x="4434862" y="2801607"/>
            <a:ext cx="248561" cy="271745"/>
            <a:chOff x="1687350" y="3618725"/>
            <a:chExt cx="270175" cy="295375"/>
          </a:xfrm>
        </p:grpSpPr>
        <p:sp>
          <p:nvSpPr>
            <p:cNvPr id="976" name="Google Shape;976;p92"/>
            <p:cNvSpPr/>
            <p:nvPr/>
          </p:nvSpPr>
          <p:spPr>
            <a:xfrm>
              <a:off x="1829900" y="3808550"/>
              <a:ext cx="18150" cy="35450"/>
            </a:xfrm>
            <a:custGeom>
              <a:avLst/>
              <a:gdLst/>
              <a:ahLst/>
              <a:cxnLst/>
              <a:rect l="l" t="t" r="r" b="b"/>
              <a:pathLst>
                <a:path w="726" h="1418" extrusionOk="0">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7" name="Google Shape;977;p92"/>
            <p:cNvSpPr/>
            <p:nvPr/>
          </p:nvSpPr>
          <p:spPr>
            <a:xfrm>
              <a:off x="1795250" y="3755775"/>
              <a:ext cx="18125" cy="35450"/>
            </a:xfrm>
            <a:custGeom>
              <a:avLst/>
              <a:gdLst/>
              <a:ahLst/>
              <a:cxnLst/>
              <a:rect l="l" t="t" r="r" b="b"/>
              <a:pathLst>
                <a:path w="725" h="1418" extrusionOk="0">
                  <a:moveTo>
                    <a:pt x="378" y="0"/>
                  </a:moveTo>
                  <a:cubicBezTo>
                    <a:pt x="189" y="0"/>
                    <a:pt x="0" y="158"/>
                    <a:pt x="0" y="378"/>
                  </a:cubicBezTo>
                  <a:lnTo>
                    <a:pt x="0" y="1071"/>
                  </a:lnTo>
                  <a:cubicBezTo>
                    <a:pt x="0" y="1260"/>
                    <a:pt x="189" y="1418"/>
                    <a:pt x="378" y="1418"/>
                  </a:cubicBezTo>
                  <a:lnTo>
                    <a:pt x="725" y="1418"/>
                  </a:lnTo>
                  <a:lnTo>
                    <a:pt x="7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8" name="Google Shape;978;p92"/>
            <p:cNvSpPr/>
            <p:nvPr/>
          </p:nvSpPr>
          <p:spPr>
            <a:xfrm>
              <a:off x="1687350" y="3618725"/>
              <a:ext cx="270175" cy="295375"/>
            </a:xfrm>
            <a:custGeom>
              <a:avLst/>
              <a:gdLst/>
              <a:ahLst/>
              <a:cxnLst/>
              <a:rect l="l" t="t" r="r" b="b"/>
              <a:pathLst>
                <a:path w="10807" h="11815" extrusionOk="0">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80" name="Google Shape;980;p92"/>
          <p:cNvSpPr/>
          <p:nvPr/>
        </p:nvSpPr>
        <p:spPr>
          <a:xfrm>
            <a:off x="2946278" y="2805358"/>
            <a:ext cx="230027" cy="264243"/>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cxnSp>
        <p:nvCxnSpPr>
          <p:cNvPr id="984" name="Google Shape;984;p92"/>
          <p:cNvCxnSpPr>
            <a:endCxn id="971" idx="1"/>
          </p:cNvCxnSpPr>
          <p:nvPr/>
        </p:nvCxnSpPr>
        <p:spPr>
          <a:xfrm>
            <a:off x="1848150" y="2927880"/>
            <a:ext cx="906000" cy="9600"/>
          </a:xfrm>
          <a:prstGeom prst="straightConnector1">
            <a:avLst/>
          </a:prstGeom>
          <a:noFill/>
          <a:ln w="28575" cap="flat" cmpd="sng">
            <a:solidFill>
              <a:schemeClr val="accent1"/>
            </a:solidFill>
            <a:prstDash val="solid"/>
            <a:round/>
            <a:headEnd type="none" w="med" len="med"/>
            <a:tailEnd type="none" w="med" len="med"/>
          </a:ln>
        </p:spPr>
      </p:cxnSp>
      <p:cxnSp>
        <p:nvCxnSpPr>
          <p:cNvPr id="988" name="Google Shape;988;p92"/>
          <p:cNvCxnSpPr>
            <a:stCxn id="972" idx="3"/>
            <a:endCxn id="986" idx="1"/>
          </p:cNvCxnSpPr>
          <p:nvPr/>
        </p:nvCxnSpPr>
        <p:spPr>
          <a:xfrm>
            <a:off x="4849162" y="2937480"/>
            <a:ext cx="921900" cy="0"/>
          </a:xfrm>
          <a:prstGeom prst="straightConnector1">
            <a:avLst/>
          </a:prstGeom>
          <a:noFill/>
          <a:ln w="28575" cap="flat" cmpd="sng">
            <a:solidFill>
              <a:schemeClr val="accent1"/>
            </a:solidFill>
            <a:prstDash val="solid"/>
            <a:round/>
            <a:headEnd type="none" w="med" len="med"/>
            <a:tailEnd type="none" w="med" len="med"/>
          </a:ln>
        </p:spPr>
      </p:cxnSp>
      <p:sp>
        <p:nvSpPr>
          <p:cNvPr id="989" name="Google Shape;989;p92"/>
          <p:cNvSpPr/>
          <p:nvPr/>
        </p:nvSpPr>
        <p:spPr>
          <a:xfrm>
            <a:off x="5914989" y="2824069"/>
            <a:ext cx="290377" cy="226822"/>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7" name="Google Shape;987;p92"/>
          <p:cNvSpPr txBox="1"/>
          <p:nvPr/>
        </p:nvSpPr>
        <p:spPr>
          <a:xfrm>
            <a:off x="-320883" y="1449992"/>
            <a:ext cx="3583841"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 financer</a:t>
            </a:r>
            <a:endParaRPr lang="ca-ES" sz="2400" dirty="0">
              <a:solidFill>
                <a:schemeClr val="accent1"/>
              </a:solidFill>
              <a:latin typeface="Vidaloka"/>
              <a:ea typeface="Vidaloka"/>
              <a:cs typeface="Vidaloka"/>
              <a:sym typeface="Vidaloka"/>
            </a:endParaRPr>
          </a:p>
        </p:txBody>
      </p:sp>
      <p:sp>
        <p:nvSpPr>
          <p:cNvPr id="990" name="Google Shape;990;p92"/>
          <p:cNvSpPr txBox="1"/>
          <p:nvPr/>
        </p:nvSpPr>
        <p:spPr>
          <a:xfrm>
            <a:off x="170955" y="1852844"/>
            <a:ext cx="2683360"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Obtenir recursos financers i prendre les decisions de viabilitat d'un projecte.</a:t>
            </a:r>
          </a:p>
        </p:txBody>
      </p:sp>
      <p:cxnSp>
        <p:nvCxnSpPr>
          <p:cNvPr id="991" name="Google Shape;991;p92"/>
          <p:cNvCxnSpPr>
            <a:stCxn id="986" idx="3"/>
            <a:endCxn id="992" idx="1"/>
          </p:cNvCxnSpPr>
          <p:nvPr/>
        </p:nvCxnSpPr>
        <p:spPr>
          <a:xfrm>
            <a:off x="6363803" y="2937480"/>
            <a:ext cx="933900" cy="0"/>
          </a:xfrm>
          <a:prstGeom prst="straightConnector1">
            <a:avLst/>
          </a:prstGeom>
          <a:noFill/>
          <a:ln w="28575" cap="flat" cmpd="sng">
            <a:solidFill>
              <a:schemeClr val="accent1"/>
            </a:solidFill>
            <a:prstDash val="solid"/>
            <a:round/>
            <a:headEnd type="none" w="med" len="med"/>
            <a:tailEnd type="none" w="med" len="med"/>
          </a:ln>
        </p:spPr>
      </p:cxnSp>
      <p:grpSp>
        <p:nvGrpSpPr>
          <p:cNvPr id="998" name="Google Shape;998;p92"/>
          <p:cNvGrpSpPr/>
          <p:nvPr/>
        </p:nvGrpSpPr>
        <p:grpSpPr>
          <a:xfrm>
            <a:off x="1399481" y="2808126"/>
            <a:ext cx="278935" cy="258707"/>
            <a:chOff x="1399485" y="2808126"/>
            <a:chExt cx="278935" cy="258707"/>
          </a:xfrm>
        </p:grpSpPr>
        <p:sp>
          <p:nvSpPr>
            <p:cNvPr id="999" name="Google Shape;999;p92"/>
            <p:cNvSpPr/>
            <p:nvPr/>
          </p:nvSpPr>
          <p:spPr>
            <a:xfrm>
              <a:off x="1489092" y="2876771"/>
              <a:ext cx="189328" cy="190062"/>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0" name="Google Shape;1000;p92"/>
            <p:cNvSpPr/>
            <p:nvPr/>
          </p:nvSpPr>
          <p:spPr>
            <a:xfrm>
              <a:off x="1400219" y="2808126"/>
              <a:ext cx="146692" cy="68667"/>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1" name="Google Shape;1001;p92"/>
            <p:cNvSpPr/>
            <p:nvPr/>
          </p:nvSpPr>
          <p:spPr>
            <a:xfrm>
              <a:off x="1400219" y="2879660"/>
              <a:ext cx="101166" cy="54929"/>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2" name="Google Shape;1002;p92"/>
            <p:cNvSpPr/>
            <p:nvPr/>
          </p:nvSpPr>
          <p:spPr>
            <a:xfrm>
              <a:off x="1400219" y="2992386"/>
              <a:ext cx="97565" cy="54929"/>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3" name="Google Shape;1003;p92"/>
            <p:cNvSpPr/>
            <p:nvPr/>
          </p:nvSpPr>
          <p:spPr>
            <a:xfrm>
              <a:off x="1399485" y="2936012"/>
              <a:ext cx="71557" cy="55663"/>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06" name="Google Shape;1006;p92"/>
          <p:cNvGrpSpPr/>
          <p:nvPr/>
        </p:nvGrpSpPr>
        <p:grpSpPr>
          <a:xfrm>
            <a:off x="7456127" y="2799708"/>
            <a:ext cx="278955" cy="275558"/>
            <a:chOff x="-59869425" y="4102225"/>
            <a:chExt cx="319025" cy="315175"/>
          </a:xfrm>
        </p:grpSpPr>
        <p:sp>
          <p:nvSpPr>
            <p:cNvPr id="1007" name="Google Shape;1007;p92"/>
            <p:cNvSpPr/>
            <p:nvPr/>
          </p:nvSpPr>
          <p:spPr>
            <a:xfrm>
              <a:off x="-59869425" y="4102225"/>
              <a:ext cx="149675" cy="256825"/>
            </a:xfrm>
            <a:custGeom>
              <a:avLst/>
              <a:gdLst/>
              <a:ahLst/>
              <a:cxnLst/>
              <a:rect l="l" t="t" r="r" b="b"/>
              <a:pathLst>
                <a:path w="5987" h="10273" extrusionOk="0">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8" name="Google Shape;1008;p92"/>
            <p:cNvSpPr/>
            <p:nvPr/>
          </p:nvSpPr>
          <p:spPr>
            <a:xfrm>
              <a:off x="-59811125" y="4322075"/>
              <a:ext cx="201650" cy="95325"/>
            </a:xfrm>
            <a:custGeom>
              <a:avLst/>
              <a:gdLst/>
              <a:ahLst/>
              <a:cxnLst/>
              <a:rect l="l" t="t" r="r" b="b"/>
              <a:pathLst>
                <a:path w="8066" h="3813" extrusionOk="0">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9" name="Google Shape;1009;p92"/>
            <p:cNvSpPr/>
            <p:nvPr/>
          </p:nvSpPr>
          <p:spPr>
            <a:xfrm>
              <a:off x="-59700075" y="4102225"/>
              <a:ext cx="149675" cy="256525"/>
            </a:xfrm>
            <a:custGeom>
              <a:avLst/>
              <a:gdLst/>
              <a:ahLst/>
              <a:cxnLst/>
              <a:rect l="l" t="t" r="r" b="b"/>
              <a:pathLst>
                <a:path w="5987" h="10261" extrusionOk="0">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0" name="Google Shape;1010;p92"/>
            <p:cNvSpPr/>
            <p:nvPr/>
          </p:nvSpPr>
          <p:spPr>
            <a:xfrm>
              <a:off x="-59742600" y="4187375"/>
              <a:ext cx="63025" cy="144950"/>
            </a:xfrm>
            <a:custGeom>
              <a:avLst/>
              <a:gdLst/>
              <a:ahLst/>
              <a:cxnLst/>
              <a:rect l="l" t="t" r="r" b="b"/>
              <a:pathLst>
                <a:path w="2521" h="5798" extrusionOk="0">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2" name="Google Shape;987;p92">
            <a:extLst>
              <a:ext uri="{FF2B5EF4-FFF2-40B4-BE49-F238E27FC236}">
                <a16:creationId xmlns:a16="http://schemas.microsoft.com/office/drawing/2014/main" id="{B594E7DF-2057-CEB2-7385-388472E28A19}"/>
              </a:ext>
            </a:extLst>
          </p:cNvPr>
          <p:cNvSpPr txBox="1"/>
          <p:nvPr/>
        </p:nvSpPr>
        <p:spPr>
          <a:xfrm>
            <a:off x="2544496" y="1453031"/>
            <a:ext cx="3583841"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 comercial</a:t>
            </a:r>
          </a:p>
        </p:txBody>
      </p:sp>
      <p:sp>
        <p:nvSpPr>
          <p:cNvPr id="13" name="Google Shape;990;p92">
            <a:extLst>
              <a:ext uri="{FF2B5EF4-FFF2-40B4-BE49-F238E27FC236}">
                <a16:creationId xmlns:a16="http://schemas.microsoft.com/office/drawing/2014/main" id="{38BFC55F-3255-49FD-85D1-3C7A1AC9D0ED}"/>
              </a:ext>
            </a:extLst>
          </p:cNvPr>
          <p:cNvSpPr txBox="1"/>
          <p:nvPr/>
        </p:nvSpPr>
        <p:spPr>
          <a:xfrm>
            <a:off x="2887837" y="1856238"/>
            <a:ext cx="3021500"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Serà el nexe entre l'empresa i el mercat. Estudi del mercat i la demanda dels consumidors</a:t>
            </a:r>
          </a:p>
        </p:txBody>
      </p:sp>
      <p:sp>
        <p:nvSpPr>
          <p:cNvPr id="14" name="Google Shape;987;p92">
            <a:extLst>
              <a:ext uri="{FF2B5EF4-FFF2-40B4-BE49-F238E27FC236}">
                <a16:creationId xmlns:a16="http://schemas.microsoft.com/office/drawing/2014/main" id="{498B66A4-32BB-B0A3-12EF-CA584CFD1B0C}"/>
              </a:ext>
            </a:extLst>
          </p:cNvPr>
          <p:cNvSpPr txBox="1"/>
          <p:nvPr/>
        </p:nvSpPr>
        <p:spPr>
          <a:xfrm>
            <a:off x="443463" y="3331320"/>
            <a:ext cx="3865246"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 administratiu</a:t>
            </a:r>
          </a:p>
        </p:txBody>
      </p:sp>
      <p:sp>
        <p:nvSpPr>
          <p:cNvPr id="15" name="Google Shape;990;p92">
            <a:extLst>
              <a:ext uri="{FF2B5EF4-FFF2-40B4-BE49-F238E27FC236}">
                <a16:creationId xmlns:a16="http://schemas.microsoft.com/office/drawing/2014/main" id="{CE687BD8-1B5E-1533-7D33-96CB30CAEBC8}"/>
              </a:ext>
            </a:extLst>
          </p:cNvPr>
          <p:cNvSpPr txBox="1"/>
          <p:nvPr/>
        </p:nvSpPr>
        <p:spPr>
          <a:xfrm>
            <a:off x="909680" y="3746817"/>
            <a:ext cx="3179445"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planificació, organització, direcció i control de l'empresa. Instruirà la resta de departaments, realitzarà la comptabilitat.</a:t>
            </a:r>
          </a:p>
        </p:txBody>
      </p:sp>
      <p:sp>
        <p:nvSpPr>
          <p:cNvPr id="16" name="Google Shape;987;p92">
            <a:extLst>
              <a:ext uri="{FF2B5EF4-FFF2-40B4-BE49-F238E27FC236}">
                <a16:creationId xmlns:a16="http://schemas.microsoft.com/office/drawing/2014/main" id="{86D09AEE-76C5-7BB9-BA4A-81A37904116E}"/>
              </a:ext>
            </a:extLst>
          </p:cNvPr>
          <p:cNvSpPr txBox="1"/>
          <p:nvPr/>
        </p:nvSpPr>
        <p:spPr>
          <a:xfrm>
            <a:off x="4299847" y="3362249"/>
            <a:ext cx="4470079"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 d'aprovisionament</a:t>
            </a:r>
          </a:p>
        </p:txBody>
      </p:sp>
      <p:sp>
        <p:nvSpPr>
          <p:cNvPr id="17" name="Google Shape;990;p92">
            <a:extLst>
              <a:ext uri="{FF2B5EF4-FFF2-40B4-BE49-F238E27FC236}">
                <a16:creationId xmlns:a16="http://schemas.microsoft.com/office/drawing/2014/main" id="{B8B76EF9-522B-A0E7-E172-28A16C269DDE}"/>
              </a:ext>
            </a:extLst>
          </p:cNvPr>
          <p:cNvSpPr txBox="1"/>
          <p:nvPr/>
        </p:nvSpPr>
        <p:spPr>
          <a:xfrm>
            <a:off x="4766065" y="3777746"/>
            <a:ext cx="3525880"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 S'encarregarà de suplir les necessitats d'estoc. El propòsit serà buscar els productes amb millor preu sense que això afecti la seva qualitat.</a:t>
            </a:r>
          </a:p>
        </p:txBody>
      </p:sp>
      <p:sp>
        <p:nvSpPr>
          <p:cNvPr id="18" name="Google Shape;987;p92">
            <a:extLst>
              <a:ext uri="{FF2B5EF4-FFF2-40B4-BE49-F238E27FC236}">
                <a16:creationId xmlns:a16="http://schemas.microsoft.com/office/drawing/2014/main" id="{BC671397-E3AF-D9A7-290F-78F63493E7C9}"/>
              </a:ext>
            </a:extLst>
          </p:cNvPr>
          <p:cNvSpPr txBox="1"/>
          <p:nvPr/>
        </p:nvSpPr>
        <p:spPr>
          <a:xfrm>
            <a:off x="5346407" y="1439119"/>
            <a:ext cx="3865246"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 de RH</a:t>
            </a:r>
          </a:p>
        </p:txBody>
      </p:sp>
      <p:sp>
        <p:nvSpPr>
          <p:cNvPr id="19" name="Google Shape;990;p92">
            <a:extLst>
              <a:ext uri="{FF2B5EF4-FFF2-40B4-BE49-F238E27FC236}">
                <a16:creationId xmlns:a16="http://schemas.microsoft.com/office/drawing/2014/main" id="{9520AE89-C0C6-110D-B720-7E9E32D8FD8D}"/>
              </a:ext>
            </a:extLst>
          </p:cNvPr>
          <p:cNvSpPr txBox="1"/>
          <p:nvPr/>
        </p:nvSpPr>
        <p:spPr>
          <a:xfrm>
            <a:off x="5771062" y="1813054"/>
            <a:ext cx="3179445"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Analitzarà, avaluarà i planificarà els processos de reclutament, selecció i contractació de persona. Planificació i remuneracions..</a:t>
            </a:r>
          </a:p>
        </p:txBody>
      </p:sp>
    </p:spTree>
    <p:extLst>
      <p:ext uri="{BB962C8B-B14F-4D97-AF65-F5344CB8AC3E}">
        <p14:creationId xmlns:p14="http://schemas.microsoft.com/office/powerpoint/2010/main" val="247124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969"/>
                                        </p:tgtEl>
                                        <p:attrNameLst>
                                          <p:attrName>style.visibility</p:attrName>
                                        </p:attrNameLst>
                                      </p:cBhvr>
                                      <p:to>
                                        <p:strVal val="visible"/>
                                      </p:to>
                                    </p:set>
                                    <p:anim calcmode="lin" valueType="num">
                                      <p:cBhvr additive="base">
                                        <p:cTn id="7" dur="1000"/>
                                        <p:tgtEl>
                                          <p:spTgt spid="969"/>
                                        </p:tgtEl>
                                        <p:attrNameLst>
                                          <p:attrName>ppt_y</p:attrName>
                                        </p:attrNameLst>
                                      </p:cBhvr>
                                      <p:tavLst>
                                        <p:tav tm="0">
                                          <p:val>
                                            <p:strVal val="#ppt_y-1"/>
                                          </p:val>
                                        </p:tav>
                                        <p:tav tm="100000">
                                          <p:val>
                                            <p:strVal val="#ppt_y"/>
                                          </p:val>
                                        </p:tav>
                                      </p:tavLst>
                                    </p:anim>
                                  </p:childTnLst>
                                </p:cTn>
                              </p:par>
                              <p:par>
                                <p:cTn id="8" presetID="2" presetClass="entr" presetSubtype="2" fill="hold" nodeType="withEffect">
                                  <p:stCondLst>
                                    <p:cond delay="0"/>
                                  </p:stCondLst>
                                  <p:childTnLst>
                                    <p:set>
                                      <p:cBhvr>
                                        <p:cTn id="9" dur="1" fill="hold">
                                          <p:stCondLst>
                                            <p:cond delay="0"/>
                                          </p:stCondLst>
                                        </p:cTn>
                                        <p:tgtEl>
                                          <p:spTgt spid="998"/>
                                        </p:tgtEl>
                                        <p:attrNameLst>
                                          <p:attrName>style.visibility</p:attrName>
                                        </p:attrNameLst>
                                      </p:cBhvr>
                                      <p:to>
                                        <p:strVal val="visible"/>
                                      </p:to>
                                    </p:set>
                                    <p:anim calcmode="lin" valueType="num">
                                      <p:cBhvr additive="base">
                                        <p:cTn id="10" dur="1000"/>
                                        <p:tgtEl>
                                          <p:spTgt spid="998"/>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980"/>
                                        </p:tgtEl>
                                        <p:attrNameLst>
                                          <p:attrName>style.visibility</p:attrName>
                                        </p:attrNameLst>
                                      </p:cBhvr>
                                      <p:to>
                                        <p:strVal val="visible"/>
                                      </p:to>
                                    </p:set>
                                    <p:anim calcmode="lin" valueType="num">
                                      <p:cBhvr additive="base">
                                        <p:cTn id="15" dur="1000"/>
                                        <p:tgtEl>
                                          <p:spTgt spid="980"/>
                                        </p:tgtEl>
                                        <p:attrNameLst>
                                          <p:attrName>ppt_x</p:attrName>
                                        </p:attrNameLst>
                                      </p:cBhvr>
                                      <p:tavLst>
                                        <p:tav tm="0">
                                          <p:val>
                                            <p:strVal val="#ppt_x+1"/>
                                          </p:val>
                                        </p:tav>
                                        <p:tav tm="100000">
                                          <p:val>
                                            <p:strVal val="#ppt_x"/>
                                          </p:val>
                                        </p:tav>
                                      </p:tavLst>
                                    </p:anim>
                                  </p:childTnLst>
                                </p:cTn>
                              </p:par>
                              <p:par>
                                <p:cTn id="16" presetID="2" presetClass="entr" presetSubtype="2" fill="hold" nodeType="withEffect">
                                  <p:stCondLst>
                                    <p:cond delay="0"/>
                                  </p:stCondLst>
                                  <p:childTnLst>
                                    <p:set>
                                      <p:cBhvr>
                                        <p:cTn id="17" dur="1" fill="hold">
                                          <p:stCondLst>
                                            <p:cond delay="0"/>
                                          </p:stCondLst>
                                        </p:cTn>
                                        <p:tgtEl>
                                          <p:spTgt spid="984"/>
                                        </p:tgtEl>
                                        <p:attrNameLst>
                                          <p:attrName>style.visibility</p:attrName>
                                        </p:attrNameLst>
                                      </p:cBhvr>
                                      <p:to>
                                        <p:strVal val="visible"/>
                                      </p:to>
                                    </p:set>
                                    <p:anim calcmode="lin" valueType="num">
                                      <p:cBhvr additive="base">
                                        <p:cTn id="18" dur="1000"/>
                                        <p:tgtEl>
                                          <p:spTgt spid="984"/>
                                        </p:tgtEl>
                                        <p:attrNameLst>
                                          <p:attrName>ppt_x</p:attrName>
                                        </p:attrNameLst>
                                      </p:cBhvr>
                                      <p:tavLst>
                                        <p:tav tm="0">
                                          <p:val>
                                            <p:strVal val="#ppt_x+1"/>
                                          </p:val>
                                        </p:tav>
                                        <p:tav tm="100000">
                                          <p:val>
                                            <p:strVal val="#ppt_x"/>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970"/>
                                        </p:tgtEl>
                                        <p:attrNameLst>
                                          <p:attrName>style.visibility</p:attrName>
                                        </p:attrNameLst>
                                      </p:cBhvr>
                                      <p:to>
                                        <p:strVal val="visible"/>
                                      </p:to>
                                    </p:set>
                                    <p:anim calcmode="lin" valueType="num">
                                      <p:cBhvr additive="base">
                                        <p:cTn id="23" dur="1000"/>
                                        <p:tgtEl>
                                          <p:spTgt spid="970"/>
                                        </p:tgtEl>
                                        <p:attrNameLst>
                                          <p:attrName>ppt_x</p:attrName>
                                        </p:attrNameLst>
                                      </p:cBhvr>
                                      <p:tavLst>
                                        <p:tav tm="0">
                                          <p:val>
                                            <p:strVal val="#ppt_x+1"/>
                                          </p:val>
                                        </p:tav>
                                        <p:tav tm="100000">
                                          <p:val>
                                            <p:strVal val="#ppt_x"/>
                                          </p:val>
                                        </p:tav>
                                      </p:tavLst>
                                    </p:anim>
                                  </p:childTnLst>
                                </p:cTn>
                              </p:par>
                              <p:par>
                                <p:cTn id="24" presetID="2" presetClass="entr" presetSubtype="2" fill="hold" nodeType="withEffect">
                                  <p:stCondLst>
                                    <p:cond delay="0"/>
                                  </p:stCondLst>
                                  <p:childTnLst>
                                    <p:set>
                                      <p:cBhvr>
                                        <p:cTn id="25" dur="1" fill="hold">
                                          <p:stCondLst>
                                            <p:cond delay="0"/>
                                          </p:stCondLst>
                                        </p:cTn>
                                        <p:tgtEl>
                                          <p:spTgt spid="975"/>
                                        </p:tgtEl>
                                        <p:attrNameLst>
                                          <p:attrName>style.visibility</p:attrName>
                                        </p:attrNameLst>
                                      </p:cBhvr>
                                      <p:to>
                                        <p:strVal val="visible"/>
                                      </p:to>
                                    </p:set>
                                    <p:anim calcmode="lin" valueType="num">
                                      <p:cBhvr additive="base">
                                        <p:cTn id="26" dur="1000"/>
                                        <p:tgtEl>
                                          <p:spTgt spid="975"/>
                                        </p:tgtEl>
                                        <p:attrNameLst>
                                          <p:attrName>ppt_x</p:attrName>
                                        </p:attrNameLst>
                                      </p:cBhvr>
                                      <p:tavLst>
                                        <p:tav tm="0">
                                          <p:val>
                                            <p:strVal val="#ppt_x+1"/>
                                          </p:val>
                                        </p:tav>
                                        <p:tav tm="100000">
                                          <p:val>
                                            <p:strVal val="#ppt_x"/>
                                          </p:val>
                                        </p:tav>
                                      </p:tavLst>
                                    </p:anim>
                                  </p:childTnLst>
                                </p:cTn>
                              </p:par>
                              <p:par>
                                <p:cTn id="27" presetID="2" presetClass="entr" presetSubtype="2" fill="hold" nodeType="withEffect">
                                  <p:stCondLst>
                                    <p:cond delay="0"/>
                                  </p:stCondLst>
                                  <p:childTnLst>
                                    <p:set>
                                      <p:cBhvr>
                                        <p:cTn id="28" dur="1" fill="hold">
                                          <p:stCondLst>
                                            <p:cond delay="0"/>
                                          </p:stCondLst>
                                        </p:cTn>
                                        <p:tgtEl>
                                          <p:spTgt spid="988"/>
                                        </p:tgtEl>
                                        <p:attrNameLst>
                                          <p:attrName>style.visibility</p:attrName>
                                        </p:attrNameLst>
                                      </p:cBhvr>
                                      <p:to>
                                        <p:strVal val="visible"/>
                                      </p:to>
                                    </p:set>
                                    <p:anim calcmode="lin" valueType="num">
                                      <p:cBhvr additive="base">
                                        <p:cTn id="29" dur="1000"/>
                                        <p:tgtEl>
                                          <p:spTgt spid="988"/>
                                        </p:tgtEl>
                                        <p:attrNameLst>
                                          <p:attrName>ppt_x</p:attrName>
                                        </p:attrNameLst>
                                      </p:cBhvr>
                                      <p:tavLst>
                                        <p:tav tm="0">
                                          <p:val>
                                            <p:strVal val="#ppt_x+1"/>
                                          </p:val>
                                        </p:tav>
                                        <p:tav tm="100000">
                                          <p:val>
                                            <p:strVal val="#ppt_x"/>
                                          </p:val>
                                        </p:tav>
                                      </p:tavLst>
                                    </p:anim>
                                  </p:childTnLst>
                                </p:cTn>
                              </p:par>
                              <p:par>
                                <p:cTn id="30" presetID="2" presetClass="entr" presetSubtype="2" fill="hold" nodeType="withEffect">
                                  <p:stCondLst>
                                    <p:cond delay="0"/>
                                  </p:stCondLst>
                                  <p:childTnLst>
                                    <p:set>
                                      <p:cBhvr>
                                        <p:cTn id="31" dur="1" fill="hold">
                                          <p:stCondLst>
                                            <p:cond delay="0"/>
                                          </p:stCondLst>
                                        </p:cTn>
                                        <p:tgtEl>
                                          <p:spTgt spid="989"/>
                                        </p:tgtEl>
                                        <p:attrNameLst>
                                          <p:attrName>style.visibility</p:attrName>
                                        </p:attrNameLst>
                                      </p:cBhvr>
                                      <p:to>
                                        <p:strVal val="visible"/>
                                      </p:to>
                                    </p:set>
                                    <p:anim calcmode="lin" valueType="num">
                                      <p:cBhvr additive="base">
                                        <p:cTn id="32" dur="1000"/>
                                        <p:tgtEl>
                                          <p:spTgt spid="989"/>
                                        </p:tgtEl>
                                        <p:attrNameLst>
                                          <p:attrName>ppt_x</p:attrName>
                                        </p:attrNameLst>
                                      </p:cBhvr>
                                      <p:tavLst>
                                        <p:tav tm="0">
                                          <p:val>
                                            <p:strVal val="#ppt_x+1"/>
                                          </p:val>
                                        </p:tav>
                                        <p:tav tm="100000">
                                          <p:val>
                                            <p:strVal val="#ppt_x"/>
                                          </p:val>
                                        </p:tav>
                                      </p:tavLst>
                                    </p:anim>
                                  </p:childTnLst>
                                </p:cTn>
                              </p:par>
                              <p:par>
                                <p:cTn id="33" presetID="2" presetClass="entr" presetSubtype="2" fill="hold" nodeType="withEffect">
                                  <p:stCondLst>
                                    <p:cond delay="0"/>
                                  </p:stCondLst>
                                  <p:childTnLst>
                                    <p:set>
                                      <p:cBhvr>
                                        <p:cTn id="34" dur="1" fill="hold">
                                          <p:stCondLst>
                                            <p:cond delay="0"/>
                                          </p:stCondLst>
                                        </p:cTn>
                                        <p:tgtEl>
                                          <p:spTgt spid="987"/>
                                        </p:tgtEl>
                                        <p:attrNameLst>
                                          <p:attrName>style.visibility</p:attrName>
                                        </p:attrNameLst>
                                      </p:cBhvr>
                                      <p:to>
                                        <p:strVal val="visible"/>
                                      </p:to>
                                    </p:set>
                                    <p:anim calcmode="lin" valueType="num">
                                      <p:cBhvr additive="base">
                                        <p:cTn id="35" dur="1000"/>
                                        <p:tgtEl>
                                          <p:spTgt spid="987"/>
                                        </p:tgtEl>
                                        <p:attrNameLst>
                                          <p:attrName>ppt_x</p:attrName>
                                        </p:attrNameLst>
                                      </p:cBhvr>
                                      <p:tavLst>
                                        <p:tav tm="0">
                                          <p:val>
                                            <p:strVal val="#ppt_x+1"/>
                                          </p:val>
                                        </p:tav>
                                        <p:tav tm="100000">
                                          <p:val>
                                            <p:strVal val="#ppt_x"/>
                                          </p:val>
                                        </p:tav>
                                      </p:tavLst>
                                    </p:anim>
                                  </p:childTnLst>
                                </p:cTn>
                              </p:par>
                              <p:par>
                                <p:cTn id="36" presetID="2" presetClass="entr" presetSubtype="2" fill="hold" nodeType="withEffect">
                                  <p:stCondLst>
                                    <p:cond delay="0"/>
                                  </p:stCondLst>
                                  <p:childTnLst>
                                    <p:set>
                                      <p:cBhvr>
                                        <p:cTn id="37" dur="1" fill="hold">
                                          <p:stCondLst>
                                            <p:cond delay="0"/>
                                          </p:stCondLst>
                                        </p:cTn>
                                        <p:tgtEl>
                                          <p:spTgt spid="990"/>
                                        </p:tgtEl>
                                        <p:attrNameLst>
                                          <p:attrName>style.visibility</p:attrName>
                                        </p:attrNameLst>
                                      </p:cBhvr>
                                      <p:to>
                                        <p:strVal val="visible"/>
                                      </p:to>
                                    </p:set>
                                    <p:anim calcmode="lin" valueType="num">
                                      <p:cBhvr additive="base">
                                        <p:cTn id="38" dur="1000"/>
                                        <p:tgtEl>
                                          <p:spTgt spid="990"/>
                                        </p:tgtEl>
                                        <p:attrNameLst>
                                          <p:attrName>ppt_x</p:attrName>
                                        </p:attrNameLst>
                                      </p:cBhvr>
                                      <p:tavLst>
                                        <p:tav tm="0">
                                          <p:val>
                                            <p:strVal val="#ppt_x+1"/>
                                          </p:val>
                                        </p:tav>
                                        <p:tav tm="100000">
                                          <p:val>
                                            <p:strVal val="#ppt_x"/>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991"/>
                                        </p:tgtEl>
                                        <p:attrNameLst>
                                          <p:attrName>style.visibility</p:attrName>
                                        </p:attrNameLst>
                                      </p:cBhvr>
                                      <p:to>
                                        <p:strVal val="visible"/>
                                      </p:to>
                                    </p:set>
                                    <p:anim calcmode="lin" valueType="num">
                                      <p:cBhvr additive="base">
                                        <p:cTn id="43" dur="1000"/>
                                        <p:tgtEl>
                                          <p:spTgt spid="991"/>
                                        </p:tgtEl>
                                        <p:attrNameLst>
                                          <p:attrName>ppt_x</p:attrName>
                                        </p:attrNameLst>
                                      </p:cBhvr>
                                      <p:tavLst>
                                        <p:tav tm="0">
                                          <p:val>
                                            <p:strVal val="#ppt_x+1"/>
                                          </p:val>
                                        </p:tav>
                                        <p:tav tm="100000">
                                          <p:val>
                                            <p:strVal val="#ppt_x"/>
                                          </p:val>
                                        </p:tav>
                                      </p:tavLst>
                                    </p:anim>
                                  </p:childTnLst>
                                </p:cTn>
                              </p:par>
                              <p:par>
                                <p:cTn id="44" presetID="2" presetClass="entr" presetSubtype="2" fill="hold" nodeType="withEffect">
                                  <p:stCondLst>
                                    <p:cond delay="0"/>
                                  </p:stCondLst>
                                  <p:childTnLst>
                                    <p:set>
                                      <p:cBhvr>
                                        <p:cTn id="45" dur="1" fill="hold">
                                          <p:stCondLst>
                                            <p:cond delay="0"/>
                                          </p:stCondLst>
                                        </p:cTn>
                                        <p:tgtEl>
                                          <p:spTgt spid="1006"/>
                                        </p:tgtEl>
                                        <p:attrNameLst>
                                          <p:attrName>style.visibility</p:attrName>
                                        </p:attrNameLst>
                                      </p:cBhvr>
                                      <p:to>
                                        <p:strVal val="visible"/>
                                      </p:to>
                                    </p:set>
                                    <p:anim calcmode="lin" valueType="num">
                                      <p:cBhvr additive="base">
                                        <p:cTn id="46" dur="1000"/>
                                        <p:tgtEl>
                                          <p:spTgt spid="1006"/>
                                        </p:tgtEl>
                                        <p:attrNameLst>
                                          <p:attrName>ppt_x</p:attrName>
                                        </p:attrNameLst>
                                      </p:cBhvr>
                                      <p:tavLst>
                                        <p:tav tm="0">
                                          <p:val>
                                            <p:strVal val="#ppt_x+1"/>
                                          </p:val>
                                        </p:tav>
                                        <p:tav tm="100000">
                                          <p:val>
                                            <p:strVal val="#ppt_x"/>
                                          </p:val>
                                        </p:tav>
                                      </p:tavLst>
                                    </p:anim>
                                  </p:childTnLst>
                                </p:cTn>
                              </p:par>
                              <p:par>
                                <p:cTn id="47" presetID="2" presetClass="entr" presetSubtype="2"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1000"/>
                                        <p:tgtEl>
                                          <p:spTgt spid="12"/>
                                        </p:tgtEl>
                                        <p:attrNameLst>
                                          <p:attrName>ppt_x</p:attrName>
                                        </p:attrNameLst>
                                      </p:cBhvr>
                                      <p:tavLst>
                                        <p:tav tm="0">
                                          <p:val>
                                            <p:strVal val="#ppt_x+1"/>
                                          </p:val>
                                        </p:tav>
                                        <p:tav tm="100000">
                                          <p:val>
                                            <p:strVal val="#ppt_x"/>
                                          </p:val>
                                        </p:tav>
                                      </p:tavLst>
                                    </p:anim>
                                  </p:childTnLst>
                                </p:cTn>
                              </p:par>
                              <p:par>
                                <p:cTn id="50" presetID="2" presetClass="entr" presetSubtype="2"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1000"/>
                                        <p:tgtEl>
                                          <p:spTgt spid="13"/>
                                        </p:tgtEl>
                                        <p:attrNameLst>
                                          <p:attrName>ppt_x</p:attrName>
                                        </p:attrNameLst>
                                      </p:cBhvr>
                                      <p:tavLst>
                                        <p:tav tm="0">
                                          <p:val>
                                            <p:strVal val="#ppt_x+1"/>
                                          </p:val>
                                        </p:tav>
                                        <p:tav tm="100000">
                                          <p:val>
                                            <p:strVal val="#ppt_x"/>
                                          </p:val>
                                        </p:tav>
                                      </p:tavLst>
                                    </p:anim>
                                  </p:childTnLst>
                                </p:cTn>
                              </p:par>
                              <p:par>
                                <p:cTn id="53" presetID="2" presetClass="entr" presetSubtype="2" fill="hold"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1000"/>
                                        <p:tgtEl>
                                          <p:spTgt spid="14"/>
                                        </p:tgtEl>
                                        <p:attrNameLst>
                                          <p:attrName>ppt_x</p:attrName>
                                        </p:attrNameLst>
                                      </p:cBhvr>
                                      <p:tavLst>
                                        <p:tav tm="0">
                                          <p:val>
                                            <p:strVal val="#ppt_x+1"/>
                                          </p:val>
                                        </p:tav>
                                        <p:tav tm="100000">
                                          <p:val>
                                            <p:strVal val="#ppt_x"/>
                                          </p:val>
                                        </p:tav>
                                      </p:tavLst>
                                    </p:anim>
                                  </p:childTnLst>
                                </p:cTn>
                              </p:par>
                              <p:par>
                                <p:cTn id="56" presetID="2" presetClass="entr" presetSubtype="2" fill="hold" nodeType="with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1000"/>
                                        <p:tgtEl>
                                          <p:spTgt spid="15"/>
                                        </p:tgtEl>
                                        <p:attrNameLst>
                                          <p:attrName>ppt_x</p:attrName>
                                        </p:attrNameLst>
                                      </p:cBhvr>
                                      <p:tavLst>
                                        <p:tav tm="0">
                                          <p:val>
                                            <p:strVal val="#ppt_x+1"/>
                                          </p:val>
                                        </p:tav>
                                        <p:tav tm="100000">
                                          <p:val>
                                            <p:strVal val="#ppt_x"/>
                                          </p:val>
                                        </p:tav>
                                      </p:tavLst>
                                    </p:anim>
                                  </p:childTnLst>
                                </p:cTn>
                              </p:par>
                              <p:par>
                                <p:cTn id="59" presetID="2" presetClass="entr" presetSubtype="2" fill="hold" nodeType="with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1000"/>
                                        <p:tgtEl>
                                          <p:spTgt spid="16"/>
                                        </p:tgtEl>
                                        <p:attrNameLst>
                                          <p:attrName>ppt_x</p:attrName>
                                        </p:attrNameLst>
                                      </p:cBhvr>
                                      <p:tavLst>
                                        <p:tav tm="0">
                                          <p:val>
                                            <p:strVal val="#ppt_x+1"/>
                                          </p:val>
                                        </p:tav>
                                        <p:tav tm="100000">
                                          <p:val>
                                            <p:strVal val="#ppt_x"/>
                                          </p:val>
                                        </p:tav>
                                      </p:tavLst>
                                    </p:anim>
                                  </p:childTnLst>
                                </p:cTn>
                              </p:par>
                              <p:par>
                                <p:cTn id="62" presetID="2" presetClass="entr" presetSubtype="2"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1000"/>
                                        <p:tgtEl>
                                          <p:spTgt spid="17"/>
                                        </p:tgtEl>
                                        <p:attrNameLst>
                                          <p:attrName>ppt_x</p:attrName>
                                        </p:attrNameLst>
                                      </p:cBhvr>
                                      <p:tavLst>
                                        <p:tav tm="0">
                                          <p:val>
                                            <p:strVal val="#ppt_x+1"/>
                                          </p:val>
                                        </p:tav>
                                        <p:tav tm="100000">
                                          <p:val>
                                            <p:strVal val="#ppt_x"/>
                                          </p:val>
                                        </p:tav>
                                      </p:tavLst>
                                    </p:anim>
                                  </p:childTnLst>
                                </p:cTn>
                              </p:par>
                              <p:par>
                                <p:cTn id="65" presetID="2" presetClass="entr" presetSubtype="2"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1000"/>
                                        <p:tgtEl>
                                          <p:spTgt spid="18"/>
                                        </p:tgtEl>
                                        <p:attrNameLst>
                                          <p:attrName>ppt_x</p:attrName>
                                        </p:attrNameLst>
                                      </p:cBhvr>
                                      <p:tavLst>
                                        <p:tav tm="0">
                                          <p:val>
                                            <p:strVal val="#ppt_x+1"/>
                                          </p:val>
                                        </p:tav>
                                        <p:tav tm="100000">
                                          <p:val>
                                            <p:strVal val="#ppt_x"/>
                                          </p:val>
                                        </p:tav>
                                      </p:tavLst>
                                    </p:anim>
                                  </p:childTnLst>
                                </p:cTn>
                              </p:par>
                              <p:par>
                                <p:cTn id="68" presetID="2" presetClass="entr" presetSubtype="2" fill="hold" nodeType="withEffect">
                                  <p:stCondLst>
                                    <p:cond delay="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1000"/>
                                        <p:tgtEl>
                                          <p:spTgt spid="1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70"/>
          <p:cNvSpPr txBox="1">
            <a:spLocks noGrp="1"/>
          </p:cNvSpPr>
          <p:nvPr>
            <p:ph type="title"/>
          </p:nvPr>
        </p:nvSpPr>
        <p:spPr>
          <a:xfrm>
            <a:off x="105669" y="725194"/>
            <a:ext cx="8255549" cy="1544437"/>
          </a:xfrm>
          <a:prstGeom prst="rect">
            <a:avLst/>
          </a:prstGeom>
        </p:spPr>
        <p:txBody>
          <a:bodyPr spcFirstLastPara="1" wrap="square" lIns="91425" tIns="91425" rIns="91425" bIns="91425" anchor="t" anchorCtr="0">
            <a:noAutofit/>
          </a:bodyPr>
          <a:lstStyle/>
          <a:p>
            <a:pPr marL="0" lvl="0" indent="0" algn="ctr">
              <a:buClr>
                <a:schemeClr val="dk1"/>
              </a:buClr>
              <a:buSzPts val="1100"/>
            </a:pPr>
            <a:r>
              <a:rPr lang="ca-ES" dirty="0"/>
              <a:t>Anàlisi del microentorn</a:t>
            </a:r>
          </a:p>
        </p:txBody>
      </p:sp>
      <p:sp>
        <p:nvSpPr>
          <p:cNvPr id="581" name="Google Shape;581;p70"/>
          <p:cNvSpPr txBox="1">
            <a:spLocks noGrp="1"/>
          </p:cNvSpPr>
          <p:nvPr>
            <p:ph type="subTitle" idx="1"/>
          </p:nvPr>
        </p:nvSpPr>
        <p:spPr>
          <a:xfrm>
            <a:off x="748145" y="1840141"/>
            <a:ext cx="5029200" cy="2076145"/>
          </a:xfrm>
          <a:prstGeom prst="rect">
            <a:avLst/>
          </a:prstGeom>
        </p:spPr>
        <p:txBody>
          <a:bodyPr spcFirstLastPara="1" wrap="square" lIns="91425" tIns="91425" rIns="91425" bIns="91425" anchor="t" anchorCtr="0">
            <a:noAutofit/>
          </a:bodyPr>
          <a:lstStyle/>
          <a:p>
            <a:pPr marL="0" lvl="0" indent="0" algn="ctr">
              <a:buClr>
                <a:schemeClr val="dk1"/>
              </a:buClr>
              <a:buSzPts val="1100"/>
            </a:pPr>
            <a:endParaRPr lang="en-US" dirty="0"/>
          </a:p>
          <a:p>
            <a:pPr marL="0" lvl="0" indent="0" algn="l">
              <a:buClr>
                <a:schemeClr val="dk1"/>
              </a:buClr>
              <a:buSzPts val="1100"/>
            </a:pPr>
            <a:r>
              <a:rPr lang="ca-ES" dirty="0"/>
              <a:t>El microentorn, entorn específic o entorn intern o competitiu de l'empresa està format</a:t>
            </a:r>
          </a:p>
          <a:p>
            <a:pPr marL="0" lvl="0" indent="0" algn="l">
              <a:buClr>
                <a:schemeClr val="dk1"/>
              </a:buClr>
              <a:buSzPts val="1100"/>
            </a:pPr>
            <a:r>
              <a:rPr lang="ca-ES" dirty="0"/>
              <a:t>per tots aquells elements de l'entorn que tenen una relació directa amb l'empresa. </a:t>
            </a:r>
          </a:p>
          <a:p>
            <a:pPr marL="0" lvl="0" indent="0" algn="l">
              <a:buClr>
                <a:schemeClr val="dk1"/>
              </a:buClr>
              <a:buSzPts val="1100"/>
            </a:pPr>
            <a:endParaRPr lang="ca-ES" dirty="0"/>
          </a:p>
          <a:p>
            <a:pPr marL="0" lvl="0" indent="0" algn="l">
              <a:buClr>
                <a:schemeClr val="dk1"/>
              </a:buClr>
              <a:buSzPts val="1100"/>
            </a:pPr>
            <a:r>
              <a:rPr lang="ca-ES" dirty="0"/>
              <a:t>Per tal de fer anàlisis del microentorn ho farem a través del model de les cinc forces</a:t>
            </a:r>
          </a:p>
          <a:p>
            <a:pPr marL="0" lvl="0" indent="0" algn="l">
              <a:buClr>
                <a:schemeClr val="dk1"/>
              </a:buClr>
              <a:buSzPts val="1100"/>
            </a:pPr>
            <a:r>
              <a:rPr lang="ca-ES" dirty="0"/>
              <a:t>competitives de Porter (1982):</a:t>
            </a:r>
          </a:p>
        </p:txBody>
      </p:sp>
      <p:pic>
        <p:nvPicPr>
          <p:cNvPr id="2100" name="Picture 2099">
            <a:extLst>
              <a:ext uri="{FF2B5EF4-FFF2-40B4-BE49-F238E27FC236}">
                <a16:creationId xmlns:a16="http://schemas.microsoft.com/office/drawing/2014/main" id="{BA6B1B2E-E7F4-87D4-2E24-8021F03B3B77}"/>
              </a:ext>
            </a:extLst>
          </p:cNvPr>
          <p:cNvPicPr>
            <a:picLocks noChangeAspect="1"/>
          </p:cNvPicPr>
          <p:nvPr/>
        </p:nvPicPr>
        <p:blipFill>
          <a:blip r:embed="rId3"/>
          <a:stretch>
            <a:fillRect/>
          </a:stretch>
        </p:blipFill>
        <p:spPr>
          <a:xfrm>
            <a:off x="5708650" y="2571750"/>
            <a:ext cx="2142962" cy="17030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096" name="Google Shape;4195;p136">
            <a:extLst>
              <a:ext uri="{FF2B5EF4-FFF2-40B4-BE49-F238E27FC236}">
                <a16:creationId xmlns:a16="http://schemas.microsoft.com/office/drawing/2014/main" id="{6E0167F5-9488-0D9C-8936-E48AEDBB2318}"/>
              </a:ext>
            </a:extLst>
          </p:cNvPr>
          <p:cNvSpPr/>
          <p:nvPr/>
        </p:nvSpPr>
        <p:spPr>
          <a:xfrm>
            <a:off x="6221485" y="3444240"/>
            <a:ext cx="270755" cy="337704"/>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07310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79"/>
                                        </p:tgtEl>
                                        <p:attrNameLst>
                                          <p:attrName>style.visibility</p:attrName>
                                        </p:attrNameLst>
                                      </p:cBhvr>
                                      <p:to>
                                        <p:strVal val="visible"/>
                                      </p:to>
                                    </p:set>
                                    <p:anim calcmode="lin" valueType="num">
                                      <p:cBhvr additive="base">
                                        <p:cTn id="7" dur="1000"/>
                                        <p:tgtEl>
                                          <p:spTgt spid="579"/>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581"/>
                                        </p:tgtEl>
                                        <p:attrNameLst>
                                          <p:attrName>style.visibility</p:attrName>
                                        </p:attrNameLst>
                                      </p:cBhvr>
                                      <p:to>
                                        <p:strVal val="visible"/>
                                      </p:to>
                                    </p:set>
                                    <p:anim calcmode="lin" valueType="num">
                                      <p:cBhvr additive="base">
                                        <p:cTn id="10" dur="1000"/>
                                        <p:tgtEl>
                                          <p:spTgt spid="58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Forces competitives de Porter (1982):</a:t>
            </a:r>
          </a:p>
        </p:txBody>
      </p:sp>
      <p:sp>
        <p:nvSpPr>
          <p:cNvPr id="622" name="Google Shape;622;p73"/>
          <p:cNvSpPr txBox="1">
            <a:spLocks noGrp="1"/>
          </p:cNvSpPr>
          <p:nvPr>
            <p:ph type="subTitle" idx="3"/>
          </p:nvPr>
        </p:nvSpPr>
        <p:spPr>
          <a:xfrm>
            <a:off x="1036320" y="1472026"/>
            <a:ext cx="6717792" cy="50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ca-ES" dirty="0"/>
              <a:t>Amenaça de competidors actuals: Nivell mitjà</a:t>
            </a:r>
          </a:p>
        </p:txBody>
      </p:sp>
      <p:sp>
        <p:nvSpPr>
          <p:cNvPr id="623" name="Google Shape;623;p73"/>
          <p:cNvSpPr txBox="1">
            <a:spLocks noGrp="1"/>
          </p:cNvSpPr>
          <p:nvPr>
            <p:ph type="subTitle" idx="4"/>
          </p:nvPr>
        </p:nvSpPr>
        <p:spPr>
          <a:xfrm>
            <a:off x="1389888" y="1973326"/>
            <a:ext cx="5843016" cy="13296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Com a competidors tenim empreses de jardineria com Auro Jardiners que ofereixen sistemes de reg. Empreses com Cairo que ofereix instal·lació de sistemes de reg i instal·lació de plaques fotovoltaiques i sistemes de seguretat (Compta amb nombrosos projectes al país d’àmplia índole)</a:t>
            </a:r>
            <a:endParaRPr lang="en-US" dirty="0"/>
          </a:p>
        </p:txBody>
      </p:sp>
    </p:spTree>
    <p:extLst>
      <p:ext uri="{BB962C8B-B14F-4D97-AF65-F5344CB8AC3E}">
        <p14:creationId xmlns:p14="http://schemas.microsoft.com/office/powerpoint/2010/main" val="3732382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Forces competitives de Porter (1982):</a:t>
            </a:r>
          </a:p>
        </p:txBody>
      </p:sp>
      <p:sp>
        <p:nvSpPr>
          <p:cNvPr id="622" name="Google Shape;622;p73"/>
          <p:cNvSpPr txBox="1">
            <a:spLocks noGrp="1"/>
          </p:cNvSpPr>
          <p:nvPr>
            <p:ph type="subTitle" idx="3"/>
          </p:nvPr>
        </p:nvSpPr>
        <p:spPr>
          <a:xfrm>
            <a:off x="1036320" y="1472026"/>
            <a:ext cx="6717792" cy="50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ca-ES" dirty="0"/>
              <a:t>Amenaça de competidors potencials: Nivell mitjà</a:t>
            </a:r>
          </a:p>
        </p:txBody>
      </p:sp>
      <p:sp>
        <p:nvSpPr>
          <p:cNvPr id="623" name="Google Shape;623;p73"/>
          <p:cNvSpPr txBox="1">
            <a:spLocks noGrp="1"/>
          </p:cNvSpPr>
          <p:nvPr>
            <p:ph type="subTitle" idx="4"/>
          </p:nvPr>
        </p:nvSpPr>
        <p:spPr>
          <a:xfrm>
            <a:off x="1215820" y="2040382"/>
            <a:ext cx="5928691" cy="13296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b="0" i="0" dirty="0">
                <a:solidFill>
                  <a:srgbClr val="000000"/>
                </a:solidFill>
                <a:effectLst/>
                <a:latin typeface="Open Sans" panose="020B0606030504020204" pitchFamily="34" charset="0"/>
              </a:rPr>
              <a:t>Considerem que el nostre negoci és fàcilment imitable amb una barrera d'entrada relativament baixa. En aquest sentit, intentarem crear valor amb una estratègia de diferenciació orientada als ODS (Objectius de Desenvolupament Sostenibles).</a:t>
            </a:r>
            <a:endParaRPr lang="ca-ES" dirty="0"/>
          </a:p>
        </p:txBody>
      </p:sp>
    </p:spTree>
    <p:extLst>
      <p:ext uri="{BB962C8B-B14F-4D97-AF65-F5344CB8AC3E}">
        <p14:creationId xmlns:p14="http://schemas.microsoft.com/office/powerpoint/2010/main" val="59414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Forces competitives de Porter (1982):</a:t>
            </a:r>
          </a:p>
        </p:txBody>
      </p:sp>
      <p:sp>
        <p:nvSpPr>
          <p:cNvPr id="622" name="Google Shape;622;p73"/>
          <p:cNvSpPr txBox="1">
            <a:spLocks noGrp="1"/>
          </p:cNvSpPr>
          <p:nvPr>
            <p:ph type="subTitle" idx="3"/>
          </p:nvPr>
        </p:nvSpPr>
        <p:spPr>
          <a:xfrm>
            <a:off x="1036320" y="1472026"/>
            <a:ext cx="671779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Amenaça de productes substituts: Nivell Alt.</a:t>
            </a:r>
          </a:p>
        </p:txBody>
      </p:sp>
      <p:sp>
        <p:nvSpPr>
          <p:cNvPr id="623" name="Google Shape;623;p73"/>
          <p:cNvSpPr txBox="1">
            <a:spLocks noGrp="1"/>
          </p:cNvSpPr>
          <p:nvPr>
            <p:ph type="subTitle" idx="4"/>
          </p:nvPr>
        </p:nvSpPr>
        <p:spPr>
          <a:xfrm>
            <a:off x="1036320" y="2052574"/>
            <a:ext cx="5928691" cy="237312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b="0" i="0" dirty="0">
                <a:solidFill>
                  <a:srgbClr val="000000"/>
                </a:solidFill>
                <a:effectLst/>
                <a:latin typeface="Open Sans" panose="020B0606030504020204" pitchFamily="34" charset="0"/>
              </a:rPr>
              <a:t>Existeixen nombrosos serveis de jardiner i agricultors que ofereixen serveis de manteniment de jardins i horts amb instal·lació de reg automàtic.</a:t>
            </a:r>
            <a:br>
              <a:rPr lang="ca-ES" dirty="0"/>
            </a:br>
            <a:br>
              <a:rPr lang="ca-ES" dirty="0"/>
            </a:br>
            <a:r>
              <a:rPr lang="ca-ES" b="0" i="0" dirty="0">
                <a:solidFill>
                  <a:srgbClr val="000000"/>
                </a:solidFill>
                <a:effectLst/>
                <a:latin typeface="Open Sans" panose="020B0606030504020204" pitchFamily="34" charset="0"/>
              </a:rPr>
              <a:t>E.G El jardí d'Henoc </a:t>
            </a:r>
            <a:r>
              <a:rPr lang="ca-ES" b="0" i="0" dirty="0">
                <a:solidFill>
                  <a:schemeClr val="tx2">
                    <a:lumMod val="50000"/>
                  </a:schemeClr>
                </a:solidFill>
                <a:effectLst/>
                <a:latin typeface="Open Sans" panose="020B0606030504020204" pitchFamily="34" charset="0"/>
                <a:hlinkClick r:id="rId3">
                  <a:extLst>
                    <a:ext uri="{A12FA001-AC4F-418D-AE19-62706E023703}">
                      <ahyp:hlinkClr xmlns:ahyp="http://schemas.microsoft.com/office/drawing/2018/hyperlinkcolor" val="tx"/>
                    </a:ext>
                  </a:extLst>
                </a:hlinkClick>
              </a:rPr>
              <a:t>https://www.reformesandorra.com/el-jardi-d-henoc-andorra.html</a:t>
            </a:r>
            <a:endParaRPr lang="ca-ES" b="0" i="0" dirty="0">
              <a:solidFill>
                <a:schemeClr val="tx2">
                  <a:lumMod val="50000"/>
                </a:schemeClr>
              </a:solidFill>
              <a:effectLst/>
              <a:latin typeface="Open Sans" panose="020B0606030504020204" pitchFamily="34" charset="0"/>
            </a:endParaRPr>
          </a:p>
          <a:p>
            <a:pPr marL="0" lvl="0" indent="0" algn="l" rtl="0">
              <a:spcBef>
                <a:spcPts val="0"/>
              </a:spcBef>
              <a:spcAft>
                <a:spcPts val="0"/>
              </a:spcAft>
              <a:buNone/>
            </a:pPr>
            <a:endParaRPr lang="ca-ES" dirty="0"/>
          </a:p>
          <a:p>
            <a:pPr marL="0" lvl="0" indent="0" algn="l" rtl="0">
              <a:spcBef>
                <a:spcPts val="0"/>
              </a:spcBef>
              <a:spcAft>
                <a:spcPts val="0"/>
              </a:spcAft>
              <a:buNone/>
            </a:pPr>
            <a:r>
              <a:rPr lang="ca-ES" dirty="0"/>
              <a:t>Serveis de seguretat del grup MENTA.</a:t>
            </a:r>
          </a:p>
          <a:p>
            <a:pPr marL="0" lvl="0" indent="0" algn="l" rtl="0">
              <a:spcBef>
                <a:spcPts val="0"/>
              </a:spcBef>
              <a:spcAft>
                <a:spcPts val="0"/>
              </a:spcAft>
              <a:buNone/>
            </a:pPr>
            <a:endParaRPr lang="ca-ES" dirty="0"/>
          </a:p>
          <a:p>
            <a:pPr marL="0" lvl="0" indent="0" algn="l" rtl="0">
              <a:spcBef>
                <a:spcPts val="0"/>
              </a:spcBef>
              <a:spcAft>
                <a:spcPts val="0"/>
              </a:spcAft>
              <a:buNone/>
            </a:pPr>
            <a:endParaRPr lang="ca-ES" dirty="0"/>
          </a:p>
        </p:txBody>
      </p:sp>
    </p:spTree>
    <p:extLst>
      <p:ext uri="{BB962C8B-B14F-4D97-AF65-F5344CB8AC3E}">
        <p14:creationId xmlns:p14="http://schemas.microsoft.com/office/powerpoint/2010/main" val="3296171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Forces competitives de Porter (1982):</a:t>
            </a:r>
          </a:p>
        </p:txBody>
      </p:sp>
      <p:sp>
        <p:nvSpPr>
          <p:cNvPr id="622" name="Google Shape;622;p73"/>
          <p:cNvSpPr txBox="1">
            <a:spLocks noGrp="1"/>
          </p:cNvSpPr>
          <p:nvPr>
            <p:ph type="subTitle" idx="3"/>
          </p:nvPr>
        </p:nvSpPr>
        <p:spPr>
          <a:xfrm>
            <a:off x="1036320" y="1472026"/>
            <a:ext cx="671779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Poder de negociació dels proveïdors: Nivell mitjà.</a:t>
            </a:r>
          </a:p>
        </p:txBody>
      </p:sp>
      <p:sp>
        <p:nvSpPr>
          <p:cNvPr id="623" name="Google Shape;623;p73"/>
          <p:cNvSpPr txBox="1">
            <a:spLocks noGrp="1"/>
          </p:cNvSpPr>
          <p:nvPr>
            <p:ph type="subTitle" idx="4"/>
          </p:nvPr>
        </p:nvSpPr>
        <p:spPr>
          <a:xfrm>
            <a:off x="1036320" y="2052574"/>
            <a:ext cx="5928691" cy="237312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b="0" i="0" dirty="0">
                <a:solidFill>
                  <a:srgbClr val="000000"/>
                </a:solidFill>
                <a:effectLst/>
                <a:latin typeface="Open Sans" panose="020B0606030504020204" pitchFamily="34" charset="0"/>
              </a:rPr>
              <a:t>Considerem que nosaltres som els que desenvolupem el sistemes de control i potser necessitarem inputs com un </a:t>
            </a:r>
            <a:r>
              <a:rPr lang="ca-ES" b="0" i="0" dirty="0" err="1">
                <a:solidFill>
                  <a:srgbClr val="000000"/>
                </a:solidFill>
                <a:effectLst/>
                <a:latin typeface="Open Sans" panose="020B0606030504020204" pitchFamily="34" charset="0"/>
              </a:rPr>
              <a:t>Arduino</a:t>
            </a:r>
            <a:r>
              <a:rPr lang="ca-ES" b="0" i="0" dirty="0">
                <a:solidFill>
                  <a:srgbClr val="000000"/>
                </a:solidFill>
                <a:effectLst/>
                <a:latin typeface="Open Sans" panose="020B0606030504020204" pitchFamily="34" charset="0"/>
              </a:rPr>
              <a:t> o una </a:t>
            </a:r>
            <a:r>
              <a:rPr lang="ca-ES" b="0" i="0" dirty="0" err="1">
                <a:solidFill>
                  <a:srgbClr val="000000"/>
                </a:solidFill>
                <a:effectLst/>
                <a:latin typeface="Open Sans" panose="020B0606030504020204" pitchFamily="34" charset="0"/>
              </a:rPr>
              <a:t>RaspberryPi</a:t>
            </a:r>
            <a:r>
              <a:rPr lang="ca-ES" b="0" i="0" dirty="0">
                <a:solidFill>
                  <a:srgbClr val="000000"/>
                </a:solidFill>
                <a:effectLst/>
                <a:latin typeface="Open Sans" panose="020B0606030504020204" pitchFamily="34" charset="0"/>
              </a:rPr>
              <a:t> i diferents components per dur a terme el sistema de control. Per altra banda, existeix bastant oferta quant als materials bàsics pel sistema de reg.</a:t>
            </a:r>
            <a:endParaRPr lang="ca-ES" dirty="0"/>
          </a:p>
          <a:p>
            <a:pPr marL="0" lvl="0" indent="0" algn="l" rtl="0">
              <a:spcBef>
                <a:spcPts val="0"/>
              </a:spcBef>
              <a:spcAft>
                <a:spcPts val="0"/>
              </a:spcAft>
              <a:buNone/>
            </a:pPr>
            <a:endParaRPr lang="ca-ES" dirty="0"/>
          </a:p>
        </p:txBody>
      </p:sp>
    </p:spTree>
    <p:extLst>
      <p:ext uri="{BB962C8B-B14F-4D97-AF65-F5344CB8AC3E}">
        <p14:creationId xmlns:p14="http://schemas.microsoft.com/office/powerpoint/2010/main" val="2608653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Forces competitives de Porter (1982):</a:t>
            </a:r>
          </a:p>
        </p:txBody>
      </p:sp>
      <p:sp>
        <p:nvSpPr>
          <p:cNvPr id="622" name="Google Shape;622;p73"/>
          <p:cNvSpPr txBox="1">
            <a:spLocks noGrp="1"/>
          </p:cNvSpPr>
          <p:nvPr>
            <p:ph type="subTitle" idx="3"/>
          </p:nvPr>
        </p:nvSpPr>
        <p:spPr>
          <a:xfrm>
            <a:off x="1036320" y="1472026"/>
            <a:ext cx="726643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Poder de negociació dels compradors: Nivell mitjà.</a:t>
            </a:r>
          </a:p>
        </p:txBody>
      </p:sp>
      <p:sp>
        <p:nvSpPr>
          <p:cNvPr id="623" name="Google Shape;623;p73"/>
          <p:cNvSpPr txBox="1">
            <a:spLocks noGrp="1"/>
          </p:cNvSpPr>
          <p:nvPr>
            <p:ph type="subTitle" idx="4"/>
          </p:nvPr>
        </p:nvSpPr>
        <p:spPr>
          <a:xfrm>
            <a:off x="1036320" y="2052574"/>
            <a:ext cx="6638544" cy="237312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b="0" i="0" dirty="0">
                <a:solidFill>
                  <a:srgbClr val="000000"/>
                </a:solidFill>
                <a:effectLst/>
                <a:latin typeface="Open Sans" panose="020B0606030504020204" pitchFamily="34" charset="0"/>
              </a:rPr>
              <a:t>Com els ODS són una iniciativa actualment impulsada pel govern considerem on ens estem diferenciant actualment, considerem que existeix una creixent oportunitat de trobar clients que busquin sistemes de control de reg amb característiques relacionades. Hauríem de fer un estudi de mercat. </a:t>
            </a:r>
          </a:p>
          <a:p>
            <a:pPr marL="0" lvl="0" indent="0" algn="l" rtl="0">
              <a:spcBef>
                <a:spcPts val="0"/>
              </a:spcBef>
              <a:spcAft>
                <a:spcPts val="0"/>
              </a:spcAft>
              <a:buNone/>
            </a:pPr>
            <a:endParaRPr lang="ca-ES" dirty="0">
              <a:solidFill>
                <a:srgbClr val="000000"/>
              </a:solidFill>
              <a:latin typeface="Open Sans" panose="020B0606030504020204" pitchFamily="34" charset="0"/>
            </a:endParaRPr>
          </a:p>
          <a:p>
            <a:pPr marL="0" lvl="0" indent="0" algn="l" rtl="0">
              <a:spcBef>
                <a:spcPts val="0"/>
              </a:spcBef>
              <a:spcAft>
                <a:spcPts val="0"/>
              </a:spcAft>
              <a:buNone/>
            </a:pPr>
            <a:r>
              <a:rPr lang="ca-ES" b="0" i="0" dirty="0">
                <a:solidFill>
                  <a:srgbClr val="000000"/>
                </a:solidFill>
                <a:effectLst/>
                <a:latin typeface="Open Sans" panose="020B0606030504020204" pitchFamily="34" charset="0"/>
              </a:rPr>
              <a:t>No obstant això, el que ens ha fet catalogar-lo com nivell mitjà ha estat que tenim un nivell alt de productes substituts i un nivell mitjà de competidors.</a:t>
            </a:r>
            <a:endParaRPr lang="ca-ES" dirty="0"/>
          </a:p>
        </p:txBody>
      </p:sp>
    </p:spTree>
    <p:extLst>
      <p:ext uri="{BB962C8B-B14F-4D97-AF65-F5344CB8AC3E}">
        <p14:creationId xmlns:p14="http://schemas.microsoft.com/office/powerpoint/2010/main" val="2980114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359681"/>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PESTEL</a:t>
            </a:r>
          </a:p>
        </p:txBody>
      </p:sp>
      <p:sp>
        <p:nvSpPr>
          <p:cNvPr id="622" name="Google Shape;622;p73"/>
          <p:cNvSpPr txBox="1">
            <a:spLocks noGrp="1"/>
          </p:cNvSpPr>
          <p:nvPr>
            <p:ph type="subTitle" idx="3"/>
          </p:nvPr>
        </p:nvSpPr>
        <p:spPr>
          <a:xfrm>
            <a:off x="1036320" y="1118458"/>
            <a:ext cx="726643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Dimensió Política</a:t>
            </a:r>
          </a:p>
        </p:txBody>
      </p:sp>
      <p:sp>
        <p:nvSpPr>
          <p:cNvPr id="623" name="Google Shape;623;p73"/>
          <p:cNvSpPr txBox="1">
            <a:spLocks noGrp="1"/>
          </p:cNvSpPr>
          <p:nvPr>
            <p:ph type="subTitle" idx="4"/>
          </p:nvPr>
        </p:nvSpPr>
        <p:spPr>
          <a:xfrm>
            <a:off x="1036320" y="1583182"/>
            <a:ext cx="6638544" cy="1263650"/>
          </a:xfrm>
          <a:prstGeom prst="rect">
            <a:avLst/>
          </a:prstGeom>
        </p:spPr>
        <p:txBody>
          <a:bodyPr spcFirstLastPara="1" wrap="square" lIns="91425" tIns="91425" rIns="91425" bIns="91425" anchor="t" anchorCtr="0">
            <a:noAutofit/>
          </a:bodyPr>
          <a:lstStyle/>
          <a:p>
            <a:pPr marL="114300" indent="0" algn="l"/>
            <a:r>
              <a:rPr lang="ca-ES" sz="1200" b="1" i="0" dirty="0">
                <a:solidFill>
                  <a:srgbClr val="000000"/>
                </a:solidFill>
                <a:effectLst/>
                <a:latin typeface="Open Sans" panose="020B0606030504020204" pitchFamily="34" charset="0"/>
              </a:rPr>
              <a:t>Riscos: </a:t>
            </a:r>
            <a:r>
              <a:rPr lang="ca-ES" sz="1200" b="0" i="0" dirty="0">
                <a:solidFill>
                  <a:srgbClr val="000000"/>
                </a:solidFill>
                <a:effectLst/>
                <a:latin typeface="Open Sans" panose="020B0606030504020204" pitchFamily="34" charset="0"/>
              </a:rPr>
              <a:t>Possibles canvis en la legislació després de les eleccions.</a:t>
            </a:r>
          </a:p>
          <a:p>
            <a:pPr algn="l">
              <a:buFont typeface="Arial" panose="020B0604020202020204" pitchFamily="34" charset="0"/>
              <a:buChar char="•"/>
            </a:pPr>
            <a:endParaRPr lang="ca-ES" sz="1200" b="0" i="0" dirty="0">
              <a:solidFill>
                <a:srgbClr val="000000"/>
              </a:solidFill>
              <a:effectLst/>
              <a:latin typeface="Open Sans" panose="020B0606030504020204" pitchFamily="34" charset="0"/>
            </a:endParaRPr>
          </a:p>
          <a:p>
            <a:pPr marL="114300" indent="0" algn="l"/>
            <a:r>
              <a:rPr lang="ca-ES" sz="1200" b="1" i="0" dirty="0">
                <a:solidFill>
                  <a:srgbClr val="000000"/>
                </a:solidFill>
                <a:effectLst/>
                <a:latin typeface="Open Sans" panose="020B0606030504020204" pitchFamily="34" charset="0"/>
              </a:rPr>
              <a:t>Oportunitats: </a:t>
            </a:r>
            <a:r>
              <a:rPr lang="ca-ES" sz="1200" b="0" i="0" dirty="0">
                <a:solidFill>
                  <a:srgbClr val="000000"/>
                </a:solidFill>
                <a:effectLst/>
                <a:latin typeface="Open Sans" panose="020B0606030504020204" pitchFamily="34" charset="0"/>
              </a:rPr>
              <a:t>Podem aprofitar els programes i ajuts impulsats pel govern per empreses PIMES de nova creació. Màxim del 10% d'impost de societats sobre els beneficis a Andorra. (Política fiscal)</a:t>
            </a:r>
          </a:p>
        </p:txBody>
      </p:sp>
      <p:sp>
        <p:nvSpPr>
          <p:cNvPr id="2" name="Google Shape;622;p73">
            <a:extLst>
              <a:ext uri="{FF2B5EF4-FFF2-40B4-BE49-F238E27FC236}">
                <a16:creationId xmlns:a16="http://schemas.microsoft.com/office/drawing/2014/main" id="{DFEE502A-394F-6044-1FFD-6B6B8624E4DF}"/>
              </a:ext>
            </a:extLst>
          </p:cNvPr>
          <p:cNvSpPr txBox="1">
            <a:spLocks/>
          </p:cNvSpPr>
          <p:nvPr/>
        </p:nvSpPr>
        <p:spPr>
          <a:xfrm>
            <a:off x="1011936" y="2739994"/>
            <a:ext cx="7266432" cy="501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400"/>
              <a:buFont typeface="Vidaloka"/>
              <a:buNone/>
              <a:defRPr sz="2400" b="0" i="0" u="none" strike="noStrike" cap="none">
                <a:solidFill>
                  <a:schemeClr val="accent1"/>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2pPr>
            <a:lvl3pPr marL="1371600" marR="0" lvl="2"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3pPr>
            <a:lvl4pPr marL="1828800" marR="0" lvl="3"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4pPr>
            <a:lvl5pPr marL="2286000" marR="0" lvl="4"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5pPr>
            <a:lvl6pPr marL="2743200" marR="0" lvl="5"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6pPr>
            <a:lvl7pPr marL="3200400" marR="0" lvl="6"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7pPr>
            <a:lvl8pPr marL="3657600" marR="0" lvl="7"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8pPr>
            <a:lvl9pPr marL="4114800" marR="0" lvl="8"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9pPr>
          </a:lstStyle>
          <a:p>
            <a:pPr marL="0" indent="0" algn="l"/>
            <a:r>
              <a:rPr lang="ca-ES" dirty="0"/>
              <a:t>Dimensió Econòmica</a:t>
            </a:r>
          </a:p>
        </p:txBody>
      </p:sp>
      <p:sp>
        <p:nvSpPr>
          <p:cNvPr id="3" name="Google Shape;623;p73">
            <a:extLst>
              <a:ext uri="{FF2B5EF4-FFF2-40B4-BE49-F238E27FC236}">
                <a16:creationId xmlns:a16="http://schemas.microsoft.com/office/drawing/2014/main" id="{4A2A61F4-59D9-DAB2-9877-F2922606B289}"/>
              </a:ext>
            </a:extLst>
          </p:cNvPr>
          <p:cNvSpPr txBox="1">
            <a:spLocks/>
          </p:cNvSpPr>
          <p:nvPr/>
        </p:nvSpPr>
        <p:spPr>
          <a:xfrm>
            <a:off x="1011936" y="3204718"/>
            <a:ext cx="6638544" cy="12636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114300" indent="0" algn="l"/>
            <a:r>
              <a:rPr lang="ca-ES" sz="1200" b="1" i="0" dirty="0">
                <a:solidFill>
                  <a:srgbClr val="000000"/>
                </a:solidFill>
                <a:effectLst/>
                <a:latin typeface="Open Sans" panose="020B0606030504020204" pitchFamily="34" charset="0"/>
              </a:rPr>
              <a:t>Riscos: </a:t>
            </a:r>
            <a:r>
              <a:rPr lang="ca-ES" sz="1200" b="0" i="0" dirty="0">
                <a:solidFill>
                  <a:srgbClr val="000000"/>
                </a:solidFill>
                <a:effectLst/>
                <a:latin typeface="Open Sans" panose="020B0606030504020204" pitchFamily="34" charset="0"/>
              </a:rPr>
              <a:t>Alta inestabilitat econòmica a causa de la crisi energètica i sanitària. Inflació desmesurada. Incertesa, es comença a parlar de resecció.</a:t>
            </a:r>
          </a:p>
          <a:p>
            <a:pPr marL="114300" indent="0" algn="l"/>
            <a:endParaRPr lang="ca-ES" sz="1200" b="0" i="0" dirty="0">
              <a:solidFill>
                <a:srgbClr val="000000"/>
              </a:solidFill>
              <a:effectLst/>
              <a:latin typeface="Open Sans" panose="020B0606030504020204" pitchFamily="34" charset="0"/>
            </a:endParaRPr>
          </a:p>
          <a:p>
            <a:pPr marL="114300" indent="0" algn="l"/>
            <a:r>
              <a:rPr lang="ca-ES" sz="1200" b="1" i="0" dirty="0">
                <a:solidFill>
                  <a:srgbClr val="000000"/>
                </a:solidFill>
                <a:effectLst/>
                <a:latin typeface="Open Sans" panose="020B0606030504020204" pitchFamily="34" charset="0"/>
              </a:rPr>
              <a:t>Oportunitats: </a:t>
            </a:r>
            <a:r>
              <a:rPr lang="ca-ES" sz="1200" b="0" i="0" dirty="0">
                <a:solidFill>
                  <a:srgbClr val="000000"/>
                </a:solidFill>
                <a:effectLst/>
                <a:latin typeface="Open Sans" panose="020B0606030504020204" pitchFamily="34" charset="0"/>
              </a:rPr>
              <a:t>Si es dona el cas hem d'aprofitar tots els ajuts impulsats pel govern per a les PIMES</a:t>
            </a:r>
            <a:br>
              <a:rPr lang="en-US" sz="1200" dirty="0"/>
            </a:br>
            <a:br>
              <a:rPr lang="en-US" sz="1200" dirty="0"/>
            </a:br>
            <a:r>
              <a:rPr lang="en-US" sz="1200" b="0" i="0" dirty="0">
                <a:solidFill>
                  <a:schemeClr val="tx2">
                    <a:lumMod val="50000"/>
                  </a:schemeClr>
                </a:solidFill>
                <a:effectLst/>
                <a:latin typeface="Open Sans" panose="020B0606030504020204" pitchFamily="34" charset="0"/>
              </a:rPr>
              <a:t>https://www.andorrabusiness.com/creix-andorra/programa-empresarial/subvencions/subvencions-andorra-business-2022/</a:t>
            </a:r>
            <a:endParaRPr lang="ca-ES" sz="1200" b="0" i="0" dirty="0">
              <a:solidFill>
                <a:srgbClr val="000000"/>
              </a:solidFill>
              <a:effectLst/>
              <a:latin typeface="Open Sans" panose="020B0606030504020204" pitchFamily="34" charset="0"/>
            </a:endParaRPr>
          </a:p>
          <a:p>
            <a:pPr marL="114300" indent="0" algn="l"/>
            <a:br>
              <a:rPr lang="ca-ES" sz="1200" dirty="0"/>
            </a:br>
            <a:br>
              <a:rPr lang="en-US" dirty="0"/>
            </a:br>
            <a:endParaRPr lang="ca-ES" dirty="0">
              <a:solidFill>
                <a:srgbClr val="000000"/>
              </a:solidFill>
              <a:latin typeface="Open Sans" panose="020B0606030504020204" pitchFamily="34" charset="0"/>
            </a:endParaRPr>
          </a:p>
        </p:txBody>
      </p:sp>
    </p:spTree>
    <p:extLst>
      <p:ext uri="{BB962C8B-B14F-4D97-AF65-F5344CB8AC3E}">
        <p14:creationId xmlns:p14="http://schemas.microsoft.com/office/powerpoint/2010/main" val="3556533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0"/>
        <p:cNvGrpSpPr/>
        <p:nvPr/>
      </p:nvGrpSpPr>
      <p:grpSpPr>
        <a:xfrm>
          <a:off x="0" y="0"/>
          <a:ext cx="0" cy="0"/>
          <a:chOff x="0" y="0"/>
          <a:chExt cx="0" cy="0"/>
        </a:xfrm>
      </p:grpSpPr>
      <p:grpSp>
        <p:nvGrpSpPr>
          <p:cNvPr id="1483" name="Google Shape;1483;p115"/>
          <p:cNvGrpSpPr/>
          <p:nvPr/>
        </p:nvGrpSpPr>
        <p:grpSpPr>
          <a:xfrm>
            <a:off x="5205650" y="1369751"/>
            <a:ext cx="3017896" cy="2531353"/>
            <a:chOff x="649171" y="238145"/>
            <a:chExt cx="6249525" cy="5241981"/>
          </a:xfrm>
        </p:grpSpPr>
        <p:sp>
          <p:nvSpPr>
            <p:cNvPr id="1484" name="Google Shape;1484;p115"/>
            <p:cNvSpPr/>
            <p:nvPr/>
          </p:nvSpPr>
          <p:spPr>
            <a:xfrm>
              <a:off x="2850275" y="4515119"/>
              <a:ext cx="1849000" cy="810050"/>
            </a:xfrm>
            <a:custGeom>
              <a:avLst/>
              <a:gdLst/>
              <a:ahLst/>
              <a:cxnLst/>
              <a:rect l="l" t="t" r="r" b="b"/>
              <a:pathLst>
                <a:path w="73960" h="32402" extrusionOk="0">
                  <a:moveTo>
                    <a:pt x="7960" y="1"/>
                  </a:moveTo>
                  <a:cubicBezTo>
                    <a:pt x="5284" y="10848"/>
                    <a:pt x="2607" y="21625"/>
                    <a:pt x="1" y="32402"/>
                  </a:cubicBezTo>
                  <a:lnTo>
                    <a:pt x="73960" y="32402"/>
                  </a:lnTo>
                  <a:lnTo>
                    <a:pt x="66071" y="1"/>
                  </a:lnTo>
                  <a:close/>
                </a:path>
              </a:pathLst>
            </a:cu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5" name="Google Shape;1485;p115"/>
            <p:cNvSpPr/>
            <p:nvPr/>
          </p:nvSpPr>
          <p:spPr>
            <a:xfrm>
              <a:off x="2638975" y="5325151"/>
              <a:ext cx="2269850" cy="154975"/>
            </a:xfrm>
            <a:custGeom>
              <a:avLst/>
              <a:gdLst/>
              <a:ahLst/>
              <a:cxnLst/>
              <a:rect l="l" t="t" r="r" b="b"/>
              <a:pathLst>
                <a:path w="90794" h="6199" extrusionOk="0">
                  <a:moveTo>
                    <a:pt x="3875" y="0"/>
                  </a:moveTo>
                  <a:cubicBezTo>
                    <a:pt x="1761" y="0"/>
                    <a:pt x="1" y="2043"/>
                    <a:pt x="1" y="4508"/>
                  </a:cubicBezTo>
                  <a:lnTo>
                    <a:pt x="1" y="6199"/>
                  </a:lnTo>
                  <a:lnTo>
                    <a:pt x="90794" y="6199"/>
                  </a:lnTo>
                  <a:lnTo>
                    <a:pt x="90794" y="4508"/>
                  </a:lnTo>
                  <a:cubicBezTo>
                    <a:pt x="90794" y="2043"/>
                    <a:pt x="89103" y="0"/>
                    <a:pt x="86990" y="0"/>
                  </a:cubicBezTo>
                  <a:close/>
                </a:path>
              </a:pathLst>
            </a:cu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6" name="Google Shape;1486;p115"/>
            <p:cNvSpPr/>
            <p:nvPr/>
          </p:nvSpPr>
          <p:spPr>
            <a:xfrm>
              <a:off x="649171" y="238145"/>
              <a:ext cx="6249525" cy="4250923"/>
            </a:xfrm>
            <a:custGeom>
              <a:avLst/>
              <a:gdLst/>
              <a:ahLst/>
              <a:cxnLst/>
              <a:rect l="l" t="t" r="r" b="b"/>
              <a:pathLst>
                <a:path w="249981" h="157427" extrusionOk="0">
                  <a:moveTo>
                    <a:pt x="6198" y="0"/>
                  </a:moveTo>
                  <a:cubicBezTo>
                    <a:pt x="2817" y="0"/>
                    <a:pt x="0" y="2817"/>
                    <a:pt x="0" y="6198"/>
                  </a:cubicBezTo>
                  <a:lnTo>
                    <a:pt x="0" y="157427"/>
                  </a:lnTo>
                  <a:lnTo>
                    <a:pt x="249980" y="157427"/>
                  </a:lnTo>
                  <a:lnTo>
                    <a:pt x="249980" y="6198"/>
                  </a:lnTo>
                  <a:cubicBezTo>
                    <a:pt x="249980" y="2817"/>
                    <a:pt x="247233" y="0"/>
                    <a:pt x="243782" y="0"/>
                  </a:cubicBezTo>
                  <a:close/>
                </a:path>
              </a:pathLst>
            </a:cu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7" name="Google Shape;1487;p115"/>
            <p:cNvSpPr/>
            <p:nvPr/>
          </p:nvSpPr>
          <p:spPr>
            <a:xfrm>
              <a:off x="904475" y="481125"/>
              <a:ext cx="5738850" cy="3435575"/>
            </a:xfrm>
            <a:custGeom>
              <a:avLst/>
              <a:gdLst/>
              <a:ahLst/>
              <a:cxnLst/>
              <a:rect l="l" t="t" r="r" b="b"/>
              <a:pathLst>
                <a:path w="229554" h="137423" extrusionOk="0">
                  <a:moveTo>
                    <a:pt x="0" y="0"/>
                  </a:moveTo>
                  <a:lnTo>
                    <a:pt x="0" y="137423"/>
                  </a:lnTo>
                  <a:lnTo>
                    <a:pt x="229554" y="137423"/>
                  </a:lnTo>
                  <a:lnTo>
                    <a:pt x="229554" y="0"/>
                  </a:lnTo>
                  <a:close/>
                </a:path>
              </a:pathLst>
            </a:custGeom>
            <a:solidFill>
              <a:schemeClr val="accent1"/>
            </a:solid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 name="Google Shape;619;p73">
            <a:extLst>
              <a:ext uri="{FF2B5EF4-FFF2-40B4-BE49-F238E27FC236}">
                <a16:creationId xmlns:a16="http://schemas.microsoft.com/office/drawing/2014/main" id="{761F59E4-63E9-1C68-2900-67D9DB5F75C2}"/>
              </a:ext>
            </a:extLst>
          </p:cNvPr>
          <p:cNvSpPr txBox="1">
            <a:spLocks/>
          </p:cNvSpPr>
          <p:nvPr/>
        </p:nvSpPr>
        <p:spPr>
          <a:xfrm>
            <a:off x="713225" y="359681"/>
            <a:ext cx="6327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pPr>
              <a:buSzPts val="1100"/>
            </a:pPr>
            <a:r>
              <a:rPr lang="ca-ES"/>
              <a:t>PESTEL</a:t>
            </a:r>
            <a:endParaRPr lang="ca-ES" dirty="0"/>
          </a:p>
        </p:txBody>
      </p:sp>
      <p:sp>
        <p:nvSpPr>
          <p:cNvPr id="8" name="Google Shape;623;p73">
            <a:extLst>
              <a:ext uri="{FF2B5EF4-FFF2-40B4-BE49-F238E27FC236}">
                <a16:creationId xmlns:a16="http://schemas.microsoft.com/office/drawing/2014/main" id="{42058633-1FE2-0BCC-8990-4896024764E0}"/>
              </a:ext>
            </a:extLst>
          </p:cNvPr>
          <p:cNvSpPr txBox="1">
            <a:spLocks/>
          </p:cNvSpPr>
          <p:nvPr/>
        </p:nvSpPr>
        <p:spPr>
          <a:xfrm>
            <a:off x="640080" y="2158573"/>
            <a:ext cx="4285488" cy="126365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r>
              <a:rPr lang="ca-ES" sz="1200" b="1" dirty="0">
                <a:latin typeface="Open Sans" panose="020B0606030504020204" pitchFamily="34" charset="0"/>
              </a:rPr>
              <a:t>Riscos:</a:t>
            </a:r>
            <a:r>
              <a:rPr lang="ca-ES" sz="1200" dirty="0">
                <a:latin typeface="Open Sans" panose="020B0606030504020204" pitchFamily="34" charset="0"/>
              </a:rPr>
              <a:t> Alta presència de webs. Usuaris cada vegada millor informats.</a:t>
            </a:r>
          </a:p>
          <a:p>
            <a:pPr marL="114300"/>
            <a:endParaRPr lang="ca-ES" sz="1200" dirty="0">
              <a:latin typeface="Open Sans" panose="020B0606030504020204" pitchFamily="34" charset="0"/>
            </a:endParaRPr>
          </a:p>
          <a:p>
            <a:pPr marL="114300"/>
            <a:r>
              <a:rPr lang="ca-ES" sz="1200" b="1" dirty="0">
                <a:latin typeface="Open Sans" panose="020B0606030504020204" pitchFamily="34" charset="0"/>
              </a:rPr>
              <a:t>Oportunitats: </a:t>
            </a:r>
            <a:r>
              <a:rPr lang="ca-ES" sz="1200" dirty="0">
                <a:latin typeface="Open Sans" panose="020B0606030504020204" pitchFamily="34" charset="0"/>
              </a:rPr>
              <a:t>Podem aprofitar per crear la nostra web i poder arribar a una major quantitat d'usuaris oferint un servei innovador i d'alta qualitat.</a:t>
            </a:r>
          </a:p>
        </p:txBody>
      </p:sp>
      <p:sp>
        <p:nvSpPr>
          <p:cNvPr id="9" name="Google Shape;622;p73">
            <a:extLst>
              <a:ext uri="{FF2B5EF4-FFF2-40B4-BE49-F238E27FC236}">
                <a16:creationId xmlns:a16="http://schemas.microsoft.com/office/drawing/2014/main" id="{2E8B9282-95FC-3C55-C99C-D7E0C4E5069E}"/>
              </a:ext>
            </a:extLst>
          </p:cNvPr>
          <p:cNvSpPr txBox="1">
            <a:spLocks/>
          </p:cNvSpPr>
          <p:nvPr/>
        </p:nvSpPr>
        <p:spPr>
          <a:xfrm>
            <a:off x="640080" y="1657273"/>
            <a:ext cx="3891637" cy="501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400"/>
              <a:buFont typeface="Vidaloka"/>
              <a:buNone/>
              <a:defRPr sz="2400" b="0" i="0" u="none" strike="noStrike" cap="none">
                <a:solidFill>
                  <a:schemeClr val="accent1"/>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2pPr>
            <a:lvl3pPr marL="1371600" marR="0" lvl="2"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3pPr>
            <a:lvl4pPr marL="1828800" marR="0" lvl="3"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4pPr>
            <a:lvl5pPr marL="2286000" marR="0" lvl="4"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5pPr>
            <a:lvl6pPr marL="2743200" marR="0" lvl="5"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6pPr>
            <a:lvl7pPr marL="3200400" marR="0" lvl="6"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7pPr>
            <a:lvl8pPr marL="3657600" marR="0" lvl="7"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8pPr>
            <a:lvl9pPr marL="4114800" marR="0" lvl="8"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9pPr>
          </a:lstStyle>
          <a:p>
            <a:pPr algn="l"/>
            <a:r>
              <a:rPr lang="ca-ES" dirty="0"/>
              <a:t>Dimensió Tecnològica</a:t>
            </a:r>
          </a:p>
        </p:txBody>
      </p:sp>
      <p:pic>
        <p:nvPicPr>
          <p:cNvPr id="13" name="Picture 12">
            <a:extLst>
              <a:ext uri="{FF2B5EF4-FFF2-40B4-BE49-F238E27FC236}">
                <a16:creationId xmlns:a16="http://schemas.microsoft.com/office/drawing/2014/main" id="{7ED55D1E-98C8-FCE1-AC2F-A1783961AB71}"/>
              </a:ext>
            </a:extLst>
          </p:cNvPr>
          <p:cNvPicPr>
            <a:picLocks noChangeAspect="1"/>
          </p:cNvPicPr>
          <p:nvPr/>
        </p:nvPicPr>
        <p:blipFill>
          <a:blip r:embed="rId3"/>
          <a:stretch>
            <a:fillRect/>
          </a:stretch>
        </p:blipFill>
        <p:spPr>
          <a:xfrm>
            <a:off x="5328936" y="1487086"/>
            <a:ext cx="2771291" cy="1668009"/>
          </a:xfrm>
          <a:prstGeom prst="rect">
            <a:avLst/>
          </a:prstGeom>
        </p:spPr>
      </p:pic>
    </p:spTree>
    <p:extLst>
      <p:ext uri="{BB962C8B-B14F-4D97-AF65-F5344CB8AC3E}">
        <p14:creationId xmlns:p14="http://schemas.microsoft.com/office/powerpoint/2010/main" val="3639423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359681"/>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PESTEL</a:t>
            </a:r>
          </a:p>
        </p:txBody>
      </p:sp>
      <p:sp>
        <p:nvSpPr>
          <p:cNvPr id="622" name="Google Shape;622;p73"/>
          <p:cNvSpPr txBox="1">
            <a:spLocks noGrp="1"/>
          </p:cNvSpPr>
          <p:nvPr>
            <p:ph type="subTitle" idx="3"/>
          </p:nvPr>
        </p:nvSpPr>
        <p:spPr>
          <a:xfrm>
            <a:off x="1036320" y="2831434"/>
            <a:ext cx="726643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Dimensió Legal</a:t>
            </a:r>
          </a:p>
        </p:txBody>
      </p:sp>
      <p:sp>
        <p:nvSpPr>
          <p:cNvPr id="623" name="Google Shape;623;p73"/>
          <p:cNvSpPr txBox="1">
            <a:spLocks noGrp="1"/>
          </p:cNvSpPr>
          <p:nvPr>
            <p:ph type="subTitle" idx="4"/>
          </p:nvPr>
        </p:nvSpPr>
        <p:spPr>
          <a:xfrm>
            <a:off x="1036320" y="3296158"/>
            <a:ext cx="6638544" cy="1263650"/>
          </a:xfrm>
          <a:prstGeom prst="rect">
            <a:avLst/>
          </a:prstGeom>
        </p:spPr>
        <p:txBody>
          <a:bodyPr spcFirstLastPara="1" wrap="square" lIns="91425" tIns="91425" rIns="91425" bIns="91425" anchor="t" anchorCtr="0">
            <a:noAutofit/>
          </a:bodyPr>
          <a:lstStyle/>
          <a:p>
            <a:pPr marL="114300" indent="0" algn="l"/>
            <a:r>
              <a:rPr lang="ca-ES" sz="1200" b="1" i="0" dirty="0">
                <a:solidFill>
                  <a:srgbClr val="000000"/>
                </a:solidFill>
                <a:effectLst/>
                <a:latin typeface="Open Sans" panose="020B0606030504020204" pitchFamily="34" charset="0"/>
              </a:rPr>
              <a:t>Observacions</a:t>
            </a:r>
            <a:r>
              <a:rPr lang="ca-ES" sz="1200" i="0" dirty="0">
                <a:solidFill>
                  <a:srgbClr val="000000"/>
                </a:solidFill>
                <a:effectLst/>
                <a:latin typeface="Open Sans" panose="020B0606030504020204" pitchFamily="34" charset="0"/>
              </a:rPr>
              <a:t>: Hem de complir amb les regulacions laborals i tributàries, ja que el seu no compliment pot comportar multes</a:t>
            </a:r>
          </a:p>
        </p:txBody>
      </p:sp>
      <p:sp>
        <p:nvSpPr>
          <p:cNvPr id="3" name="Google Shape;623;p73">
            <a:extLst>
              <a:ext uri="{FF2B5EF4-FFF2-40B4-BE49-F238E27FC236}">
                <a16:creationId xmlns:a16="http://schemas.microsoft.com/office/drawing/2014/main" id="{4A2A61F4-59D9-DAB2-9877-F2922606B289}"/>
              </a:ext>
            </a:extLst>
          </p:cNvPr>
          <p:cNvSpPr txBox="1">
            <a:spLocks/>
          </p:cNvSpPr>
          <p:nvPr/>
        </p:nvSpPr>
        <p:spPr>
          <a:xfrm>
            <a:off x="1011936" y="3253486"/>
            <a:ext cx="6638544" cy="12636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114300" indent="0" algn="l"/>
            <a:br>
              <a:rPr lang="ca-ES" sz="1200" dirty="0"/>
            </a:br>
            <a:br>
              <a:rPr lang="en-US" dirty="0"/>
            </a:br>
            <a:endParaRPr lang="ca-ES" dirty="0">
              <a:solidFill>
                <a:srgbClr val="000000"/>
              </a:solidFill>
              <a:latin typeface="Open Sans" panose="020B0606030504020204" pitchFamily="34" charset="0"/>
            </a:endParaRPr>
          </a:p>
        </p:txBody>
      </p:sp>
      <p:sp>
        <p:nvSpPr>
          <p:cNvPr id="7" name="Google Shape;622;p73">
            <a:extLst>
              <a:ext uri="{FF2B5EF4-FFF2-40B4-BE49-F238E27FC236}">
                <a16:creationId xmlns:a16="http://schemas.microsoft.com/office/drawing/2014/main" id="{5DBEAC9E-AC73-69DA-A258-3FB615208231}"/>
              </a:ext>
            </a:extLst>
          </p:cNvPr>
          <p:cNvSpPr txBox="1">
            <a:spLocks/>
          </p:cNvSpPr>
          <p:nvPr/>
        </p:nvSpPr>
        <p:spPr>
          <a:xfrm>
            <a:off x="1054608" y="1033114"/>
            <a:ext cx="7266432" cy="501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400"/>
              <a:buFont typeface="Vidaloka"/>
              <a:buNone/>
              <a:defRPr sz="2400" b="0" i="0" u="none" strike="noStrike" cap="none">
                <a:solidFill>
                  <a:schemeClr val="accent1"/>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2pPr>
            <a:lvl3pPr marL="1371600" marR="0" lvl="2"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3pPr>
            <a:lvl4pPr marL="1828800" marR="0" lvl="3"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4pPr>
            <a:lvl5pPr marL="2286000" marR="0" lvl="4"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5pPr>
            <a:lvl6pPr marL="2743200" marR="0" lvl="5"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6pPr>
            <a:lvl7pPr marL="3200400" marR="0" lvl="6"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7pPr>
            <a:lvl8pPr marL="3657600" marR="0" lvl="7"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8pPr>
            <a:lvl9pPr marL="4114800" marR="0" lvl="8"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9pPr>
          </a:lstStyle>
          <a:p>
            <a:pPr marL="0" indent="0" algn="l"/>
            <a:r>
              <a:rPr lang="ca-ES" dirty="0"/>
              <a:t>Dimensió Ecològica</a:t>
            </a:r>
          </a:p>
        </p:txBody>
      </p:sp>
      <p:sp>
        <p:nvSpPr>
          <p:cNvPr id="8" name="Google Shape;623;p73">
            <a:extLst>
              <a:ext uri="{FF2B5EF4-FFF2-40B4-BE49-F238E27FC236}">
                <a16:creationId xmlns:a16="http://schemas.microsoft.com/office/drawing/2014/main" id="{779900C8-504D-5CB6-3EC5-2C1973128D48}"/>
              </a:ext>
            </a:extLst>
          </p:cNvPr>
          <p:cNvSpPr txBox="1">
            <a:spLocks/>
          </p:cNvSpPr>
          <p:nvPr/>
        </p:nvSpPr>
        <p:spPr>
          <a:xfrm>
            <a:off x="1054608" y="1564894"/>
            <a:ext cx="6638544" cy="12636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114300" indent="0" algn="l"/>
            <a:r>
              <a:rPr lang="ca-ES" sz="1200" b="1" dirty="0"/>
              <a:t>Riscos: </a:t>
            </a:r>
            <a:r>
              <a:rPr lang="ca-ES" sz="1200" dirty="0"/>
              <a:t>Ús d'energies renovables. Comença a desenvolupar-se la consciència ecològica entre els ciutadans. Quan una empresa adopta o no mesures ecològiques és percebuda de forma diferent. Tendències de 0 plàstics.</a:t>
            </a:r>
          </a:p>
          <a:p>
            <a:pPr marL="114300" indent="0" algn="l"/>
            <a:endParaRPr lang="ca-ES" sz="1200" dirty="0"/>
          </a:p>
          <a:p>
            <a:pPr marL="114300" indent="0" algn="l"/>
            <a:r>
              <a:rPr lang="ca-ES" sz="1200" b="1" dirty="0"/>
              <a:t>Oportunitats: </a:t>
            </a:r>
            <a:r>
              <a:rPr lang="ca-ES" sz="1200" dirty="0"/>
              <a:t>Evitarem al màxim la generació de residus i aportarem valor aprofitant els ODS proposats per l'ONU.</a:t>
            </a:r>
            <a:br>
              <a:rPr lang="ca-ES" sz="1200" dirty="0"/>
            </a:br>
            <a:br>
              <a:rPr lang="en-US" dirty="0"/>
            </a:br>
            <a:endParaRPr lang="ca-ES" dirty="0">
              <a:solidFill>
                <a:srgbClr val="000000"/>
              </a:solidFill>
              <a:latin typeface="Open Sans" panose="020B0606030504020204" pitchFamily="34" charset="0"/>
            </a:endParaRPr>
          </a:p>
        </p:txBody>
      </p:sp>
      <p:grpSp>
        <p:nvGrpSpPr>
          <p:cNvPr id="9" name="Google Shape;1854;p125">
            <a:extLst>
              <a:ext uri="{FF2B5EF4-FFF2-40B4-BE49-F238E27FC236}">
                <a16:creationId xmlns:a16="http://schemas.microsoft.com/office/drawing/2014/main" id="{C478AA92-DA9E-1944-C00F-E5343580079C}"/>
              </a:ext>
            </a:extLst>
          </p:cNvPr>
          <p:cNvGrpSpPr/>
          <p:nvPr/>
        </p:nvGrpSpPr>
        <p:grpSpPr>
          <a:xfrm>
            <a:off x="7295241" y="932381"/>
            <a:ext cx="1330599" cy="1254629"/>
            <a:chOff x="5381400" y="2809980"/>
            <a:chExt cx="1623330" cy="1462687"/>
          </a:xfrm>
        </p:grpSpPr>
        <p:sp>
          <p:nvSpPr>
            <p:cNvPr id="10" name="Google Shape;1855;p125">
              <a:extLst>
                <a:ext uri="{FF2B5EF4-FFF2-40B4-BE49-F238E27FC236}">
                  <a16:creationId xmlns:a16="http://schemas.microsoft.com/office/drawing/2014/main" id="{0690947E-8E87-441A-3DE9-15FFED6E5224}"/>
                </a:ext>
              </a:extLst>
            </p:cNvPr>
            <p:cNvSpPr/>
            <p:nvPr/>
          </p:nvSpPr>
          <p:spPr>
            <a:xfrm>
              <a:off x="5381400" y="2809980"/>
              <a:ext cx="795055" cy="711131"/>
            </a:xfrm>
            <a:custGeom>
              <a:avLst/>
              <a:gdLst/>
              <a:ahLst/>
              <a:cxnLst/>
              <a:rect l="l" t="t" r="r" b="b"/>
              <a:pathLst>
                <a:path w="15006" h="13422" extrusionOk="0">
                  <a:moveTo>
                    <a:pt x="1" y="0"/>
                  </a:moveTo>
                  <a:lnTo>
                    <a:pt x="1" y="4738"/>
                  </a:lnTo>
                  <a:cubicBezTo>
                    <a:pt x="1" y="9530"/>
                    <a:pt x="3892" y="13421"/>
                    <a:pt x="8684" y="13421"/>
                  </a:cubicBezTo>
                  <a:lnTo>
                    <a:pt x="15006" y="13421"/>
                  </a:lnTo>
                  <a:lnTo>
                    <a:pt x="15006" y="8670"/>
                  </a:lnTo>
                  <a:cubicBezTo>
                    <a:pt x="15006" y="3878"/>
                    <a:pt x="11115" y="0"/>
                    <a:pt x="6336" y="0"/>
                  </a:cubicBez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856;p125">
              <a:extLst>
                <a:ext uri="{FF2B5EF4-FFF2-40B4-BE49-F238E27FC236}">
                  <a16:creationId xmlns:a16="http://schemas.microsoft.com/office/drawing/2014/main" id="{814337C3-F651-C142-30FE-F3FD1ED7408D}"/>
                </a:ext>
              </a:extLst>
            </p:cNvPr>
            <p:cNvSpPr/>
            <p:nvPr/>
          </p:nvSpPr>
          <p:spPr>
            <a:xfrm>
              <a:off x="6209674" y="2809980"/>
              <a:ext cx="795055" cy="711131"/>
            </a:xfrm>
            <a:custGeom>
              <a:avLst/>
              <a:gdLst/>
              <a:ahLst/>
              <a:cxnLst/>
              <a:rect l="l" t="t" r="r" b="b"/>
              <a:pathLst>
                <a:path w="15006" h="13422" extrusionOk="0">
                  <a:moveTo>
                    <a:pt x="8671" y="0"/>
                  </a:moveTo>
                  <a:cubicBezTo>
                    <a:pt x="3892" y="0"/>
                    <a:pt x="1" y="3878"/>
                    <a:pt x="1" y="8670"/>
                  </a:cubicBezTo>
                  <a:lnTo>
                    <a:pt x="1" y="13421"/>
                  </a:lnTo>
                  <a:lnTo>
                    <a:pt x="6322" y="13421"/>
                  </a:lnTo>
                  <a:cubicBezTo>
                    <a:pt x="11115" y="13421"/>
                    <a:pt x="15006" y="9530"/>
                    <a:pt x="15006" y="4738"/>
                  </a:cubicBezTo>
                  <a:lnTo>
                    <a:pt x="15006" y="0"/>
                  </a:ln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857;p125">
              <a:extLst>
                <a:ext uri="{FF2B5EF4-FFF2-40B4-BE49-F238E27FC236}">
                  <a16:creationId xmlns:a16="http://schemas.microsoft.com/office/drawing/2014/main" id="{4AB5BF08-8C1F-C062-D364-8951B0E400F9}"/>
                </a:ext>
              </a:extLst>
            </p:cNvPr>
            <p:cNvSpPr/>
            <p:nvPr/>
          </p:nvSpPr>
          <p:spPr>
            <a:xfrm>
              <a:off x="5381400" y="3561536"/>
              <a:ext cx="795055" cy="711131"/>
            </a:xfrm>
            <a:custGeom>
              <a:avLst/>
              <a:gdLst/>
              <a:ahLst/>
              <a:cxnLst/>
              <a:rect l="l" t="t" r="r" b="b"/>
              <a:pathLst>
                <a:path w="15006" h="13422" extrusionOk="0">
                  <a:moveTo>
                    <a:pt x="8684" y="1"/>
                  </a:moveTo>
                  <a:cubicBezTo>
                    <a:pt x="3892" y="1"/>
                    <a:pt x="1" y="3878"/>
                    <a:pt x="1" y="8670"/>
                  </a:cubicBezTo>
                  <a:lnTo>
                    <a:pt x="1" y="13422"/>
                  </a:lnTo>
                  <a:lnTo>
                    <a:pt x="6336" y="13422"/>
                  </a:lnTo>
                  <a:cubicBezTo>
                    <a:pt x="11115" y="13422"/>
                    <a:pt x="15006" y="9531"/>
                    <a:pt x="15006" y="4752"/>
                  </a:cubicBezTo>
                  <a:lnTo>
                    <a:pt x="15006" y="1"/>
                  </a:ln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858;p125">
              <a:extLst>
                <a:ext uri="{FF2B5EF4-FFF2-40B4-BE49-F238E27FC236}">
                  <a16:creationId xmlns:a16="http://schemas.microsoft.com/office/drawing/2014/main" id="{3DDE8355-4ED8-52B4-92BE-AC273C0DB291}"/>
                </a:ext>
              </a:extLst>
            </p:cNvPr>
            <p:cNvSpPr/>
            <p:nvPr/>
          </p:nvSpPr>
          <p:spPr>
            <a:xfrm>
              <a:off x="6209674" y="3561536"/>
              <a:ext cx="795055" cy="711131"/>
            </a:xfrm>
            <a:custGeom>
              <a:avLst/>
              <a:gdLst/>
              <a:ahLst/>
              <a:cxnLst/>
              <a:rect l="l" t="t" r="r" b="b"/>
              <a:pathLst>
                <a:path w="15006" h="13422" extrusionOk="0">
                  <a:moveTo>
                    <a:pt x="1" y="1"/>
                  </a:moveTo>
                  <a:lnTo>
                    <a:pt x="1" y="4752"/>
                  </a:lnTo>
                  <a:cubicBezTo>
                    <a:pt x="1" y="9531"/>
                    <a:pt x="3892" y="13422"/>
                    <a:pt x="8671" y="13422"/>
                  </a:cubicBezTo>
                  <a:lnTo>
                    <a:pt x="15006" y="13422"/>
                  </a:lnTo>
                  <a:lnTo>
                    <a:pt x="15006" y="8670"/>
                  </a:lnTo>
                  <a:cubicBezTo>
                    <a:pt x="15006" y="3878"/>
                    <a:pt x="11115" y="1"/>
                    <a:pt x="6322" y="1"/>
                  </a:cubicBez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859;p125">
              <a:extLst>
                <a:ext uri="{FF2B5EF4-FFF2-40B4-BE49-F238E27FC236}">
                  <a16:creationId xmlns:a16="http://schemas.microsoft.com/office/drawing/2014/main" id="{8FAF1959-7B30-EBC4-5FA4-98C765C96170}"/>
                </a:ext>
              </a:extLst>
            </p:cNvPr>
            <p:cNvSpPr/>
            <p:nvPr/>
          </p:nvSpPr>
          <p:spPr>
            <a:xfrm>
              <a:off x="5850188" y="3198394"/>
              <a:ext cx="685805" cy="685805"/>
            </a:xfrm>
            <a:custGeom>
              <a:avLst/>
              <a:gdLst/>
              <a:ahLst/>
              <a:cxnLst/>
              <a:rect l="l" t="t" r="r" b="b"/>
              <a:pathLst>
                <a:path w="12944" h="12944" extrusionOk="0">
                  <a:moveTo>
                    <a:pt x="12944" y="6472"/>
                  </a:moveTo>
                  <a:cubicBezTo>
                    <a:pt x="12944" y="10050"/>
                    <a:pt x="10049" y="12944"/>
                    <a:pt x="6472" y="12944"/>
                  </a:cubicBezTo>
                  <a:cubicBezTo>
                    <a:pt x="2895" y="12944"/>
                    <a:pt x="0" y="10050"/>
                    <a:pt x="0" y="6472"/>
                  </a:cubicBezTo>
                  <a:cubicBezTo>
                    <a:pt x="0" y="2895"/>
                    <a:pt x="2895" y="1"/>
                    <a:pt x="6472" y="1"/>
                  </a:cubicBezTo>
                  <a:cubicBezTo>
                    <a:pt x="10049" y="1"/>
                    <a:pt x="12944" y="2895"/>
                    <a:pt x="12944" y="6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2975133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921043" y="1155229"/>
            <a:ext cx="1607411"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DAFO</a:t>
            </a:r>
          </a:p>
        </p:txBody>
      </p:sp>
      <p:pic>
        <p:nvPicPr>
          <p:cNvPr id="6" name="Picture 5">
            <a:extLst>
              <a:ext uri="{FF2B5EF4-FFF2-40B4-BE49-F238E27FC236}">
                <a16:creationId xmlns:a16="http://schemas.microsoft.com/office/drawing/2014/main" id="{8AE497FD-4724-4203-AC00-A2B285566B34}"/>
              </a:ext>
            </a:extLst>
          </p:cNvPr>
          <p:cNvPicPr>
            <a:picLocks noChangeAspect="1"/>
          </p:cNvPicPr>
          <p:nvPr/>
        </p:nvPicPr>
        <p:blipFill>
          <a:blip r:embed="rId3"/>
          <a:stretch>
            <a:fillRect/>
          </a:stretch>
        </p:blipFill>
        <p:spPr>
          <a:xfrm>
            <a:off x="713225" y="1155229"/>
            <a:ext cx="7088764" cy="3290348"/>
          </a:xfrm>
          <a:prstGeom prst="rect">
            <a:avLst/>
          </a:prstGeom>
        </p:spPr>
      </p:pic>
    </p:spTree>
    <p:extLst>
      <p:ext uri="{BB962C8B-B14F-4D97-AF65-F5344CB8AC3E}">
        <p14:creationId xmlns:p14="http://schemas.microsoft.com/office/powerpoint/2010/main" val="3016625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3172407" y="796099"/>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ESTRATÈGIA</a:t>
            </a:r>
          </a:p>
        </p:txBody>
      </p:sp>
      <p:sp>
        <p:nvSpPr>
          <p:cNvPr id="7" name="Google Shape;622;p73">
            <a:extLst>
              <a:ext uri="{FF2B5EF4-FFF2-40B4-BE49-F238E27FC236}">
                <a16:creationId xmlns:a16="http://schemas.microsoft.com/office/drawing/2014/main" id="{5DBEAC9E-AC73-69DA-A258-3FB615208231}"/>
              </a:ext>
            </a:extLst>
          </p:cNvPr>
          <p:cNvSpPr txBox="1">
            <a:spLocks/>
          </p:cNvSpPr>
          <p:nvPr/>
        </p:nvSpPr>
        <p:spPr>
          <a:xfrm>
            <a:off x="1054608" y="1033114"/>
            <a:ext cx="7266432" cy="501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400"/>
              <a:buFont typeface="Vidaloka"/>
              <a:buNone/>
              <a:defRPr sz="2400" b="0" i="0" u="none" strike="noStrike" cap="none">
                <a:solidFill>
                  <a:schemeClr val="accent1"/>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2pPr>
            <a:lvl3pPr marL="1371600" marR="0" lvl="2"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3pPr>
            <a:lvl4pPr marL="1828800" marR="0" lvl="3"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4pPr>
            <a:lvl5pPr marL="2286000" marR="0" lvl="4"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5pPr>
            <a:lvl6pPr marL="2743200" marR="0" lvl="5"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6pPr>
            <a:lvl7pPr marL="3200400" marR="0" lvl="6"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7pPr>
            <a:lvl8pPr marL="3657600" marR="0" lvl="7"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8pPr>
            <a:lvl9pPr marL="4114800" marR="0" lvl="8"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9pPr>
          </a:lstStyle>
          <a:p>
            <a:pPr marL="0" indent="0" algn="l"/>
            <a:endParaRPr lang="ca-ES" dirty="0"/>
          </a:p>
        </p:txBody>
      </p:sp>
      <p:sp>
        <p:nvSpPr>
          <p:cNvPr id="4" name="Subtitle 3">
            <a:extLst>
              <a:ext uri="{FF2B5EF4-FFF2-40B4-BE49-F238E27FC236}">
                <a16:creationId xmlns:a16="http://schemas.microsoft.com/office/drawing/2014/main" id="{C06034BB-BA49-A66C-39F3-95EAA368C4EB}"/>
              </a:ext>
            </a:extLst>
          </p:cNvPr>
          <p:cNvSpPr>
            <a:spLocks noGrp="1"/>
          </p:cNvSpPr>
          <p:nvPr>
            <p:ph type="subTitle" idx="4"/>
          </p:nvPr>
        </p:nvSpPr>
        <p:spPr>
          <a:xfrm>
            <a:off x="436419" y="1666110"/>
            <a:ext cx="8167254" cy="2580307"/>
          </a:xfrm>
        </p:spPr>
        <p:txBody>
          <a:bodyPr/>
          <a:lstStyle/>
          <a:p>
            <a:pPr algn="l"/>
            <a:r>
              <a:rPr lang="ca-ES" b="0" i="0" dirty="0">
                <a:solidFill>
                  <a:srgbClr val="000000"/>
                </a:solidFill>
                <a:effectLst/>
                <a:latin typeface="Open Sans" panose="020B0606030504020204" pitchFamily="34" charset="0"/>
              </a:rPr>
              <a:t>       Com a conclusió podem determinar que l'estratègia que a seguir és ofensiva F+O aprofitant les oportunitats de l'entorn. </a:t>
            </a:r>
          </a:p>
          <a:p>
            <a:pPr algn="l"/>
            <a:endParaRPr lang="ca-ES" dirty="0">
              <a:solidFill>
                <a:srgbClr val="000000"/>
              </a:solidFill>
              <a:latin typeface="Open Sans" panose="020B0606030504020204" pitchFamily="34" charset="0"/>
            </a:endParaRPr>
          </a:p>
          <a:p>
            <a:pPr algn="l"/>
            <a:r>
              <a:rPr lang="ca-ES" b="0" i="0" dirty="0">
                <a:solidFill>
                  <a:srgbClr val="000000"/>
                </a:solidFill>
                <a:effectLst/>
                <a:latin typeface="Open Sans" panose="020B0606030504020204" pitchFamily="34" charset="0"/>
              </a:rPr>
              <a:t>       L'estratègia que seguirem és la de diferenciació segmentada, en el segment dels particulars. Mitjançant la diferenciació podrem assolir la innovació amb els nostres sistemes de control.</a:t>
            </a:r>
          </a:p>
          <a:p>
            <a:pPr algn="l"/>
            <a:endParaRPr lang="ca-ES" dirty="0">
              <a:solidFill>
                <a:srgbClr val="000000"/>
              </a:solidFill>
              <a:latin typeface="Open Sans" panose="020B0606030504020204" pitchFamily="34" charset="0"/>
            </a:endParaRPr>
          </a:p>
          <a:p>
            <a:pPr algn="l"/>
            <a:r>
              <a:rPr lang="ca-ES" b="0" i="0" dirty="0">
                <a:solidFill>
                  <a:srgbClr val="000000"/>
                </a:solidFill>
                <a:effectLst/>
                <a:latin typeface="Open Sans" panose="020B0606030504020204" pitchFamily="34" charset="0"/>
              </a:rPr>
              <a:t>        Oferirem un servei personalitzat per a cada client assessorant l'optimització dels recursos hídrics i energètics en funció del seu terreny, i això ens permetrà millorar la nostra imatge social aconseguint els objectius de sostenibilitat proposats per l'ONU. Altrament, la diferenciació ens permetrà com a empresa fixar un preu superior a la competència.</a:t>
            </a:r>
          </a:p>
          <a:p>
            <a:pPr algn="l"/>
            <a:endParaRPr lang="ca-ES" dirty="0">
              <a:solidFill>
                <a:srgbClr val="000000"/>
              </a:solidFill>
              <a:latin typeface="Open Sans" panose="020B0606030504020204" pitchFamily="34" charset="0"/>
            </a:endParaRPr>
          </a:p>
          <a:p>
            <a:pPr algn="l"/>
            <a:r>
              <a:rPr lang="ca-ES" b="0" i="0" dirty="0">
                <a:solidFill>
                  <a:srgbClr val="000000"/>
                </a:solidFill>
                <a:effectLst/>
                <a:latin typeface="Open Sans" panose="020B0606030504020204" pitchFamily="34" charset="0"/>
              </a:rPr>
              <a:t>       </a:t>
            </a:r>
            <a:endParaRPr lang="ca-ES" dirty="0"/>
          </a:p>
        </p:txBody>
      </p:sp>
    </p:spTree>
    <p:extLst>
      <p:ext uri="{BB962C8B-B14F-4D97-AF65-F5344CB8AC3E}">
        <p14:creationId xmlns:p14="http://schemas.microsoft.com/office/powerpoint/2010/main" val="2434908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7"/>
        <p:cNvGrpSpPr/>
        <p:nvPr/>
      </p:nvGrpSpPr>
      <p:grpSpPr>
        <a:xfrm>
          <a:off x="0" y="0"/>
          <a:ext cx="0" cy="0"/>
          <a:chOff x="0" y="0"/>
          <a:chExt cx="0" cy="0"/>
        </a:xfrm>
      </p:grpSpPr>
      <p:sp>
        <p:nvSpPr>
          <p:cNvPr id="1568" name="Google Shape;1568;p123"/>
          <p:cNvSpPr txBox="1">
            <a:spLocks noGrp="1"/>
          </p:cNvSpPr>
          <p:nvPr>
            <p:ph type="title"/>
          </p:nvPr>
        </p:nvSpPr>
        <p:spPr>
          <a:xfrm>
            <a:off x="2840379" y="1165950"/>
            <a:ext cx="3478200" cy="92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Gràcies</a:t>
            </a:r>
            <a:endParaRPr dirty="0"/>
          </a:p>
        </p:txBody>
      </p:sp>
      <p:sp>
        <p:nvSpPr>
          <p:cNvPr id="1569" name="Google Shape;1569;p123"/>
          <p:cNvSpPr txBox="1">
            <a:spLocks noGrp="1"/>
          </p:cNvSpPr>
          <p:nvPr>
            <p:ph type="subTitle" idx="1"/>
          </p:nvPr>
        </p:nvSpPr>
        <p:spPr>
          <a:xfrm>
            <a:off x="2983350" y="2131951"/>
            <a:ext cx="3177300" cy="922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Tens alguna pregunta?</a:t>
            </a:r>
            <a:endParaRPr dirty="0"/>
          </a:p>
          <a:p>
            <a:pPr marL="0" lvl="0" indent="0" algn="ctr" rtl="0">
              <a:spcBef>
                <a:spcPts val="0"/>
              </a:spcBef>
              <a:spcAft>
                <a:spcPts val="0"/>
              </a:spcAft>
              <a:buNone/>
            </a:pPr>
            <a:r>
              <a:rPr lang="en" dirty="0"/>
              <a:t>etorrontera@uda.com</a:t>
            </a:r>
            <a:endParaRPr dirty="0"/>
          </a:p>
        </p:txBody>
      </p:sp>
      <p:grpSp>
        <p:nvGrpSpPr>
          <p:cNvPr id="1570" name="Google Shape;1570;p123"/>
          <p:cNvGrpSpPr/>
          <p:nvPr/>
        </p:nvGrpSpPr>
        <p:grpSpPr>
          <a:xfrm>
            <a:off x="4961882" y="2876803"/>
            <a:ext cx="458723" cy="458684"/>
            <a:chOff x="1379798" y="1723250"/>
            <a:chExt cx="397887" cy="397887"/>
          </a:xfrm>
        </p:grpSpPr>
        <p:sp>
          <p:nvSpPr>
            <p:cNvPr id="1571" name="Google Shape;1571;p123"/>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72" name="Google Shape;1572;p123"/>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73" name="Google Shape;1573;p123"/>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74" name="Google Shape;1574;p123"/>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grpSp>
        <p:nvGrpSpPr>
          <p:cNvPr id="1575" name="Google Shape;1575;p123"/>
          <p:cNvGrpSpPr/>
          <p:nvPr/>
        </p:nvGrpSpPr>
        <p:grpSpPr>
          <a:xfrm>
            <a:off x="3721699" y="2876803"/>
            <a:ext cx="458747" cy="458684"/>
            <a:chOff x="266768" y="1721375"/>
            <a:chExt cx="397907" cy="397887"/>
          </a:xfrm>
        </p:grpSpPr>
        <p:sp>
          <p:nvSpPr>
            <p:cNvPr id="1576" name="Google Shape;1576;p123"/>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77" name="Google Shape;1577;p123"/>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grpSp>
        <p:nvGrpSpPr>
          <p:cNvPr id="1578" name="Google Shape;1578;p123"/>
          <p:cNvGrpSpPr/>
          <p:nvPr/>
        </p:nvGrpSpPr>
        <p:grpSpPr>
          <a:xfrm>
            <a:off x="4350135" y="2876803"/>
            <a:ext cx="458699" cy="458684"/>
            <a:chOff x="864491" y="1723250"/>
            <a:chExt cx="397866" cy="397887"/>
          </a:xfrm>
        </p:grpSpPr>
        <p:sp>
          <p:nvSpPr>
            <p:cNvPr id="1579" name="Google Shape;1579;p123"/>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80" name="Google Shape;1580;p123"/>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81" name="Google Shape;1581;p123"/>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66"/>
          <p:cNvSpPr txBox="1">
            <a:spLocks noGrp="1"/>
          </p:cNvSpPr>
          <p:nvPr>
            <p:ph type="title"/>
          </p:nvPr>
        </p:nvSpPr>
        <p:spPr>
          <a:xfrm>
            <a:off x="415276" y="947905"/>
            <a:ext cx="4309123" cy="1192622"/>
          </a:xfrm>
          <a:prstGeom prst="rect">
            <a:avLst/>
          </a:prstGeom>
        </p:spPr>
        <p:txBody>
          <a:bodyPr spcFirstLastPara="1" wrap="square" lIns="91425" tIns="91425" rIns="91425" bIns="91425" anchor="t" anchorCtr="0">
            <a:noAutofit/>
          </a:bodyPr>
          <a:lstStyle/>
          <a:p>
            <a:pPr lvl="0"/>
            <a:r>
              <a:rPr lang="ca-ES" dirty="0"/>
              <a:t>FPP - Cost d’oportunitat</a:t>
            </a:r>
          </a:p>
        </p:txBody>
      </p:sp>
      <mc:AlternateContent xmlns:mc="http://schemas.openxmlformats.org/markup-compatibility/2006" xmlns:a14="http://schemas.microsoft.com/office/drawing/2010/main">
        <mc:Choice Requires="a14">
          <p:sp>
            <p:nvSpPr>
              <p:cNvPr id="2" name="Google Shape;546;p65">
                <a:extLst>
                  <a:ext uri="{FF2B5EF4-FFF2-40B4-BE49-F238E27FC236}">
                    <a16:creationId xmlns:a16="http://schemas.microsoft.com/office/drawing/2014/main" id="{D718A7AB-D260-BBFE-D3B6-D79EC041BF49}"/>
                  </a:ext>
                </a:extLst>
              </p:cNvPr>
              <p:cNvSpPr txBox="1">
                <a:spLocks noGrp="1"/>
              </p:cNvSpPr>
              <p:nvPr>
                <p:ph type="subTitle" idx="1"/>
              </p:nvPr>
            </p:nvSpPr>
            <p:spPr>
              <a:xfrm>
                <a:off x="774675" y="1611791"/>
                <a:ext cx="3713254" cy="32979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solidFill>
                      <a:srgbClr val="000000"/>
                    </a:solidFill>
                    <a:latin typeface="Open Sans" panose="020B0606030504020204" pitchFamily="34" charset="0"/>
                    <a:ea typeface="Open Sans" panose="020B0606030504020204" pitchFamily="34" charset="0"/>
                    <a:cs typeface="Open Sans" panose="020B0606030504020204" pitchFamily="34" charset="0"/>
                  </a:rPr>
                  <a:t>Instal·lació del sistema de seguretat 3h/projecte</a:t>
                </a:r>
              </a:p>
              <a:p>
                <a:pPr marL="0" lvl="0" indent="0" algn="l" rtl="0">
                  <a:spcBef>
                    <a:spcPts val="0"/>
                  </a:spcBef>
                  <a:spcAft>
                    <a:spcPts val="0"/>
                  </a:spcAft>
                  <a:buNone/>
                </a:pPr>
                <a:endParaRPr lang="ca-ES"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0"/>
                  </a:spcAft>
                  <a:buNone/>
                </a:pPr>
                <a:r>
                  <a:rPr lang="ca-ES" dirty="0">
                    <a:solidFill>
                      <a:srgbClr val="000000"/>
                    </a:solidFill>
                    <a:latin typeface="Open Sans" panose="020B0606030504020204" pitchFamily="34" charset="0"/>
                    <a:ea typeface="Open Sans" panose="020B0606030504020204" pitchFamily="34" charset="0"/>
                    <a:cs typeface="Open Sans" panose="020B0606030504020204" pitchFamily="34" charset="0"/>
                  </a:rPr>
                  <a:t>Instal·lació de sistema de control de   temperatura i humitat. 6h/projecte</a:t>
                </a:r>
              </a:p>
              <a:p>
                <a:pPr marL="0" lvl="0" indent="0" algn="l" rtl="0">
                  <a:spcBef>
                    <a:spcPts val="0"/>
                  </a:spcBef>
                  <a:spcAft>
                    <a:spcPts val="0"/>
                  </a:spcAft>
                  <a:buNone/>
                </a:pPr>
                <a:endParaRPr lang="ca-ES"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ca-ES" dirty="0">
                    <a:solidFill>
                      <a:srgbClr val="000000"/>
                    </a:solidFill>
                    <a:latin typeface="Open Sans" panose="020B0606030504020204" pitchFamily="34" charset="0"/>
                    <a:ea typeface="Open Sans" panose="020B0606030504020204" pitchFamily="34" charset="0"/>
                    <a:cs typeface="Open Sans" panose="020B0606030504020204" pitchFamily="34" charset="0"/>
                  </a:rPr>
                  <a:t>x1 Tècnic x 205/mes</a:t>
                </a:r>
              </a:p>
              <a:p>
                <a:pPr marL="0" indent="0">
                  <a:buNone/>
                </a:pPr>
                <a:endParaRPr lang="ca-ES"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ca-ES" dirty="0">
                    <a:solidFill>
                      <a:srgbClr val="000000"/>
                    </a:solidFill>
                    <a:latin typeface="Open Sans" panose="020B0606030504020204" pitchFamily="34" charset="0"/>
                    <a:ea typeface="Open Sans" panose="020B0606030504020204" pitchFamily="34" charset="0"/>
                    <a:cs typeface="Open Sans" panose="020B0606030504020204" pitchFamily="34" charset="0"/>
                  </a:rPr>
                  <a:t>Increment de factors</a:t>
                </a:r>
              </a:p>
              <a:p>
                <a:pPr marL="0" lvl="0" indent="0" algn="l" rtl="0">
                  <a:spcBef>
                    <a:spcPts val="0"/>
                  </a:spcBef>
                  <a:spcAft>
                    <a:spcPts val="0"/>
                  </a:spcAft>
                  <a:buNone/>
                </a:pPr>
                <a:r>
                  <a:rPr lang="ca-ES" dirty="0">
                    <a:solidFill>
                      <a:srgbClr val="000000"/>
                    </a:solidFill>
                    <a:latin typeface="Open Sans" panose="020B0606030504020204" pitchFamily="34" charset="0"/>
                    <a:ea typeface="Open Sans" panose="020B0606030504020204" pitchFamily="34" charset="0"/>
                    <a:cs typeface="Open Sans" panose="020B0606030504020204" pitchFamily="34" charset="0"/>
                  </a:rPr>
                  <a:t>x2 Tècnics x 205 =410h/mes</a:t>
                </a:r>
              </a:p>
              <a:p>
                <a:pPr marL="0" lvl="0" indent="0" algn="l" rtl="0">
                  <a:spcBef>
                    <a:spcPts val="0"/>
                  </a:spcBef>
                  <a:spcAft>
                    <a:spcPts val="0"/>
                  </a:spcAft>
                  <a:buNone/>
                </a:pPr>
                <a:endParaRPr lang="ca-ES"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0"/>
                  </a:spcAft>
                  <a:buNone/>
                </a:pPr>
                <a:r>
                  <a:rPr lang="ca-ES"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p>
              <a:p>
                <a:pPr marL="0" lvl="0" indent="0" algn="l" rtl="0">
                  <a:spcBef>
                    <a:spcPts val="0"/>
                  </a:spcBef>
                  <a:spcAft>
                    <a:spcPts val="0"/>
                  </a:spcAft>
                  <a:buNone/>
                </a:pPr>
                <a:r>
                  <a:rPr lang="ca-ES"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p>
              <a:p>
                <a:pPr marL="0" lvl="0" indent="0" algn="l" rtl="0">
                  <a:spcBef>
                    <a:spcPts val="0"/>
                  </a:spcBef>
                  <a:spcAft>
                    <a:spcPts val="0"/>
                  </a:spcAft>
                  <a:buNone/>
                </a:pPr>
                <a:endParaRPr lang="ca-ES"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0"/>
                  </a:spcAft>
                  <a:buNone/>
                </a:pPr>
                <a:endParaRPr lang="ca-ES"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0"/>
                  </a:spcAft>
                  <a:buNone/>
                </a:pPr>
                <a:endParaRPr lang="es-ES"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0"/>
                  </a:spcAft>
                  <a:buNone/>
                </a:pPr>
                <a:endParaRPr lang="es-ES"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0"/>
                  </a:spcAft>
                  <a:buNone/>
                </a:pPr>
                <a:endParaRPr lang="es-ES"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0"/>
                  </a:spcAft>
                  <a:buNone/>
                </a:pPr>
                <a:endParaRPr lang="es-ES"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0"/>
                  </a:spcAft>
                  <a:buNone/>
                </a:pPr>
                <a:endParaRPr lang="it-IT"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0" indent="0">
                  <a:buNone/>
                </a:pPr>
                <a14:m>
                  <m:oMathPara xmlns:m="http://schemas.openxmlformats.org/officeDocument/2006/math">
                    <m:oMathParaPr>
                      <m:jc m:val="centerGroup"/>
                    </m:oMathParaPr>
                    <m:oMath xmlns:m="http://schemas.openxmlformats.org/officeDocument/2006/math">
                      <m:r>
                        <a:rPr lang="ca-ES" sz="1400" b="0" i="1" dirty="0" smtClean="0">
                          <a:latin typeface="Cambria Math" panose="02040503050406030204" pitchFamily="18" charset="0"/>
                          <a:ea typeface="Cambria Math" panose="02040503050406030204" pitchFamily="18" charset="0"/>
                          <a:cs typeface="Calibri" panose="020F0502020204030204" pitchFamily="34" charset="0"/>
                        </a:rPr>
                        <m:t> </m:t>
                      </m:r>
                    </m:oMath>
                  </m:oMathPara>
                </a14:m>
                <a:endParaRPr lang="ca-ES" sz="1400" i="1" dirty="0">
                  <a:latin typeface="Cambria Math" panose="02040503050406030204" pitchFamily="18" charset="0"/>
                  <a:ea typeface="Cambria Math" panose="02040503050406030204" pitchFamily="18" charset="0"/>
                  <a:cs typeface="Calibri" panose="020F0502020204030204" pitchFamily="34" charset="0"/>
                </a:endParaRPr>
              </a:p>
              <a:p>
                <a:pPr marL="0" indent="0">
                  <a:buNone/>
                </a:pPr>
                <a:endParaRPr lang="it-IT" b="0" i="0" dirty="0">
                  <a:solidFill>
                    <a:srgbClr val="000000"/>
                  </a:solidFill>
                  <a:effectLst/>
                  <a:latin typeface="Open Sans" panose="020B0606030504020204" pitchFamily="34" charset="0"/>
                </a:endParaRPr>
              </a:p>
              <a:p>
                <a:pPr marL="0" indent="0">
                  <a:buNone/>
                </a:pPr>
                <a:endParaRPr lang="ca-ES" dirty="0">
                  <a:solidFill>
                    <a:srgbClr val="000000"/>
                  </a:solidFill>
                  <a:latin typeface="Open Sans" panose="020B0606030504020204" pitchFamily="34" charset="0"/>
                </a:endParaRPr>
              </a:p>
              <a:p>
                <a:pPr marL="0" indent="0">
                  <a:buNone/>
                </a:pPr>
                <a:endParaRPr lang="ca-ES" dirty="0"/>
              </a:p>
              <a:p>
                <a:pPr marL="0" lvl="0" indent="0" algn="l" rtl="0">
                  <a:spcBef>
                    <a:spcPts val="0"/>
                  </a:spcBef>
                  <a:spcAft>
                    <a:spcPts val="0"/>
                  </a:spcAft>
                  <a:buNone/>
                </a:pPr>
                <a:r>
                  <a:rPr lang="it-IT" b="0" i="0" dirty="0">
                    <a:solidFill>
                      <a:srgbClr val="000000"/>
                    </a:solidFill>
                    <a:effectLst/>
                    <a:latin typeface="Open Sans" panose="020B0606030504020204" pitchFamily="34" charset="0"/>
                  </a:rPr>
                  <a:t> </a:t>
                </a:r>
                <a:endParaRPr lang="ca-ES" dirty="0"/>
              </a:p>
            </p:txBody>
          </p:sp>
        </mc:Choice>
        <mc:Fallback xmlns="">
          <p:sp>
            <p:nvSpPr>
              <p:cNvPr id="2" name="Google Shape;546;p65">
                <a:extLst>
                  <a:ext uri="{FF2B5EF4-FFF2-40B4-BE49-F238E27FC236}">
                    <a16:creationId xmlns:a16="http://schemas.microsoft.com/office/drawing/2014/main" id="{D718A7AB-D260-BBFE-D3B6-D79EC041BF49}"/>
                  </a:ext>
                </a:extLst>
              </p:cNvPr>
              <p:cNvSpPr txBox="1">
                <a:spLocks noGrp="1" noRot="1" noChangeAspect="1" noMove="1" noResize="1" noEditPoints="1" noAdjustHandles="1" noChangeArrowheads="1" noChangeShapeType="1" noTextEdit="1"/>
              </p:cNvSpPr>
              <p:nvPr>
                <p:ph type="subTitle" idx="1"/>
              </p:nvPr>
            </p:nvSpPr>
            <p:spPr>
              <a:xfrm>
                <a:off x="774675" y="1611791"/>
                <a:ext cx="3713254" cy="3297979"/>
              </a:xfrm>
              <a:prstGeom prst="rect">
                <a:avLst/>
              </a:prstGeom>
              <a:blipFill>
                <a:blip r:embed="rId3"/>
                <a:stretch>
                  <a:fillRect l="-493" b="-37708"/>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CF5F39D0-185B-EF72-641D-822166A63FDB}"/>
              </a:ext>
            </a:extLst>
          </p:cNvPr>
          <p:cNvPicPr>
            <a:picLocks noChangeAspect="1"/>
          </p:cNvPicPr>
          <p:nvPr/>
        </p:nvPicPr>
        <p:blipFill>
          <a:blip r:embed="rId4"/>
          <a:stretch>
            <a:fillRect/>
          </a:stretch>
        </p:blipFill>
        <p:spPr>
          <a:xfrm>
            <a:off x="4487929" y="1809539"/>
            <a:ext cx="4004324" cy="22597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8367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554"/>
                                        </p:tgtEl>
                                        <p:attrNameLst>
                                          <p:attrName>style.visibility</p:attrName>
                                        </p:attrNameLst>
                                      </p:cBhvr>
                                      <p:to>
                                        <p:strVal val="visible"/>
                                      </p:to>
                                    </p:set>
                                    <p:anim calcmode="lin" valueType="num">
                                      <p:cBhvr additive="base">
                                        <p:cTn id="7" dur="1000"/>
                                        <p:tgtEl>
                                          <p:spTgt spid="5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2940</TotalTime>
  <Words>1177</Words>
  <Application>Microsoft Office PowerPoint</Application>
  <PresentationFormat>On-screen Show (16:9)</PresentationFormat>
  <Paragraphs>125</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Montserrat</vt:lpstr>
      <vt:lpstr>OpenSansRegular</vt:lpstr>
      <vt:lpstr>Arial</vt:lpstr>
      <vt:lpstr>Josefin Sans</vt:lpstr>
      <vt:lpstr>Open Sans</vt:lpstr>
      <vt:lpstr>Vidaloka</vt:lpstr>
      <vt:lpstr>Cambria Math</vt:lpstr>
      <vt:lpstr>Minimalist Business Slides XL by Slidesgo</vt:lpstr>
      <vt:lpstr>BINFO1 M2  Repte Fonaments de computadors</vt:lpstr>
      <vt:lpstr>ECOTERRA.SL</vt:lpstr>
      <vt:lpstr>Objectius de Desenvolupament Sostenibles</vt:lpstr>
      <vt:lpstr>Forma Jurídica</vt:lpstr>
      <vt:lpstr>Departaments</vt:lpstr>
      <vt:lpstr>Anàlisi del microentorn</vt:lpstr>
      <vt:lpstr>Forces competitives de Porter (1982):</vt:lpstr>
      <vt:lpstr>Forces competitives de Porter (1982):</vt:lpstr>
      <vt:lpstr>Forces competitives de Porter (1982):</vt:lpstr>
      <vt:lpstr>Forces competitives de Porter (1982):</vt:lpstr>
      <vt:lpstr>Forces competitives de Porter (1982):</vt:lpstr>
      <vt:lpstr>PESTEL</vt:lpstr>
      <vt:lpstr>PowerPoint Presentation</vt:lpstr>
      <vt:lpstr>PESTEL</vt:lpstr>
      <vt:lpstr>DAFO</vt:lpstr>
      <vt:lpstr>ESTRATÈGIA</vt:lpstr>
      <vt:lpstr>Gràcies</vt:lpstr>
      <vt:lpstr>FPP - Cost d’oportunitat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BINFO1 M2  Repte Fonaments de computadors</dc:title>
  <dc:creator>Andormix</dc:creator>
  <cp:lastModifiedBy>Arthas Menethil</cp:lastModifiedBy>
  <cp:revision>47</cp:revision>
  <dcterms:modified xsi:type="dcterms:W3CDTF">2023-01-22T20:36:20Z</dcterms:modified>
</cp:coreProperties>
</file>