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omments/comment1.xml" ContentType="application/vnd.openxmlformats-officedocument.presentationml.comment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1"/>
  </p:sldMasterIdLst>
  <p:notesMasterIdLst>
    <p:notesMasterId r:id="rId43"/>
  </p:notesMasterIdLst>
  <p:sldIdLst>
    <p:sldId id="346" r:id="rId2"/>
    <p:sldId id="262" r:id="rId3"/>
    <p:sldId id="258" r:id="rId4"/>
    <p:sldId id="349" r:id="rId5"/>
    <p:sldId id="350" r:id="rId6"/>
    <p:sldId id="351" r:id="rId7"/>
    <p:sldId id="352" r:id="rId8"/>
    <p:sldId id="353" r:id="rId9"/>
    <p:sldId id="354" r:id="rId10"/>
    <p:sldId id="355" r:id="rId11"/>
    <p:sldId id="356" r:id="rId12"/>
    <p:sldId id="357" r:id="rId13"/>
    <p:sldId id="360" r:id="rId14"/>
    <p:sldId id="359" r:id="rId15"/>
    <p:sldId id="362" r:id="rId16"/>
    <p:sldId id="363" r:id="rId17"/>
    <p:sldId id="417" r:id="rId18"/>
    <p:sldId id="348" r:id="rId19"/>
    <p:sldId id="416" r:id="rId20"/>
    <p:sldId id="365" r:id="rId21"/>
    <p:sldId id="384" r:id="rId22"/>
    <p:sldId id="381" r:id="rId23"/>
    <p:sldId id="378" r:id="rId24"/>
    <p:sldId id="382" r:id="rId25"/>
    <p:sldId id="383" r:id="rId26"/>
    <p:sldId id="385" r:id="rId27"/>
    <p:sldId id="418" r:id="rId28"/>
    <p:sldId id="386" r:id="rId29"/>
    <p:sldId id="380" r:id="rId30"/>
    <p:sldId id="369" r:id="rId31"/>
    <p:sldId id="370" r:id="rId32"/>
    <p:sldId id="373" r:id="rId33"/>
    <p:sldId id="375" r:id="rId34"/>
    <p:sldId id="376" r:id="rId35"/>
    <p:sldId id="371" r:id="rId36"/>
    <p:sldId id="377" r:id="rId37"/>
    <p:sldId id="379" r:id="rId38"/>
    <p:sldId id="366" r:id="rId39"/>
    <p:sldId id="367" r:id="rId40"/>
    <p:sldId id="368" r:id="rId41"/>
    <p:sldId id="320" r:id="rId42"/>
  </p:sldIdLst>
  <p:sldSz cx="9144000" cy="5143500" type="screen16x9"/>
  <p:notesSz cx="6858000" cy="9144000"/>
  <p:embeddedFontLst>
    <p:embeddedFont>
      <p:font typeface="Cambria Math" panose="02040503050406030204" pitchFamily="18" charset="0"/>
      <p:regular r:id="rId44"/>
    </p:embeddedFont>
    <p:embeddedFont>
      <p:font typeface="Josefin Sans" pitchFamily="2" charset="0"/>
      <p:regular r:id="rId45"/>
      <p:bold r:id="rId46"/>
    </p:embeddedFont>
    <p:embeddedFont>
      <p:font typeface="Montserrat" panose="00000500000000000000" pitchFamily="2" charset="0"/>
      <p:regular r:id="rId47"/>
      <p:bold r:id="rId48"/>
      <p:italic r:id="rId49"/>
      <p:boldItalic r:id="rId50"/>
    </p:embeddedFont>
    <p:embeddedFont>
      <p:font typeface="Open Sans" panose="020B0606030504020204" pitchFamily="34" charset="0"/>
      <p:regular r:id="rId51"/>
      <p:bold r:id="rId52"/>
      <p:italic r:id="rId53"/>
      <p:boldItalic r:id="rId54"/>
    </p:embeddedFont>
    <p:embeddedFont>
      <p:font typeface="Vidaloka" panose="020B0604020202020204" charset="0"/>
      <p:regular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thas Menethil" initials="AM" lastIdx="1" clrIdx="0">
    <p:extLst>
      <p:ext uri="{19B8F6BF-5375-455C-9EA6-DF929625EA0E}">
        <p15:presenceInfo xmlns:p15="http://schemas.microsoft.com/office/powerpoint/2012/main" userId="4f0ba2a323a7baf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D1DB"/>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84363CB-7A51-478F-B3E0-03CDD63C1755}">
  <a:tblStyle styleId="{284363CB-7A51-478F-B3E0-03CDD63C175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60"/>
  </p:normalViewPr>
  <p:slideViewPr>
    <p:cSldViewPr snapToGrid="0">
      <p:cViewPr varScale="1">
        <p:scale>
          <a:sx n="110" d="100"/>
          <a:sy n="110" d="100"/>
        </p:scale>
        <p:origin x="61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1-16T23:35:42.061" idx="1">
    <p:pos x="10" y="10"/>
    <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10584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01529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107aaa41fe9_0_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107aaa41fe9_0_3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4014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07a9a8b46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07a9a8b46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1109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82431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35217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1415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9941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05203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78560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7"/>
        <p:cNvGrpSpPr/>
        <p:nvPr/>
      </p:nvGrpSpPr>
      <p:grpSpPr>
        <a:xfrm>
          <a:off x="0" y="0"/>
          <a:ext cx="0" cy="0"/>
          <a:chOff x="0" y="0"/>
          <a:chExt cx="0" cy="0"/>
        </a:xfrm>
      </p:grpSpPr>
      <p:sp>
        <p:nvSpPr>
          <p:cNvPr id="1478" name="Google Shape;1478;gcc7554a049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9" name="Google Shape;1479;gcc7554a049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95395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589785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95295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73927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497491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005844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444615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023903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59525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6"/>
        <p:cNvGrpSpPr/>
        <p:nvPr/>
      </p:nvGrpSpPr>
      <p:grpSpPr>
        <a:xfrm>
          <a:off x="0" y="0"/>
          <a:ext cx="0" cy="0"/>
          <a:chOff x="0" y="0"/>
          <a:chExt cx="0" cy="0"/>
        </a:xfrm>
      </p:grpSpPr>
      <p:sp>
        <p:nvSpPr>
          <p:cNvPr id="1167" name="Google Shape;1167;gcc7554a049_0_6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8" name="Google Shape;1168;gcc7554a049_0_6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858362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734302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281515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300808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981896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884387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512884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514685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85521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976220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814605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467421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622057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88504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995379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478367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728429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572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220728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4"/>
        <p:cNvGrpSpPr/>
        <p:nvPr/>
      </p:nvGrpSpPr>
      <p:grpSpPr>
        <a:xfrm>
          <a:off x="0" y="0"/>
          <a:ext cx="0" cy="0"/>
          <a:chOff x="0" y="0"/>
          <a:chExt cx="0" cy="0"/>
        </a:xfrm>
      </p:grpSpPr>
      <p:sp>
        <p:nvSpPr>
          <p:cNvPr id="1565" name="Google Shape;1565;gcf7a3c503a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6" name="Google Shape;1566;gcf7a3c503a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13225" y="445025"/>
            <a:ext cx="56811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5"/>
          <p:cNvSpPr txBox="1">
            <a:spLocks noGrp="1"/>
          </p:cNvSpPr>
          <p:nvPr>
            <p:ph type="subTitle" idx="1"/>
          </p:nvPr>
        </p:nvSpPr>
        <p:spPr>
          <a:xfrm>
            <a:off x="5038975" y="2551449"/>
            <a:ext cx="24861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2" name="Google Shape;32;p5"/>
          <p:cNvSpPr txBox="1">
            <a:spLocks noGrp="1"/>
          </p:cNvSpPr>
          <p:nvPr>
            <p:ph type="subTitle" idx="2"/>
          </p:nvPr>
        </p:nvSpPr>
        <p:spPr>
          <a:xfrm>
            <a:off x="50389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 name="Google Shape;33;p5"/>
          <p:cNvSpPr txBox="1">
            <a:spLocks noGrp="1"/>
          </p:cNvSpPr>
          <p:nvPr>
            <p:ph type="subTitle" idx="3"/>
          </p:nvPr>
        </p:nvSpPr>
        <p:spPr>
          <a:xfrm>
            <a:off x="1693175" y="2551449"/>
            <a:ext cx="24861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4" name="Google Shape;34;p5"/>
          <p:cNvSpPr txBox="1">
            <a:spLocks noGrp="1"/>
          </p:cNvSpPr>
          <p:nvPr>
            <p:ph type="subTitle" idx="4"/>
          </p:nvPr>
        </p:nvSpPr>
        <p:spPr>
          <a:xfrm>
            <a:off x="16931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5" name="Google Shape;35;p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 name="Google Shape;36;p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7" name="Google Shape;37;p5"/>
          <p:cNvCxnSpPr/>
          <p:nvPr/>
        </p:nvCxnSpPr>
        <p:spPr>
          <a:xfrm flipH="1">
            <a:off x="6935750" y="3931325"/>
            <a:ext cx="2549400" cy="13545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cxnSp>
        <p:nvCxnSpPr>
          <p:cNvPr id="40" name="Google Shape;40;p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 name="Google Shape;41;p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5" name="Google Shape;75;p13"/>
          <p:cNvSpPr txBox="1">
            <a:spLocks noGrp="1"/>
          </p:cNvSpPr>
          <p:nvPr>
            <p:ph type="subTitle" idx="1"/>
          </p:nvPr>
        </p:nvSpPr>
        <p:spPr>
          <a:xfrm>
            <a:off x="50010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6" name="Google Shape;76;p13"/>
          <p:cNvSpPr txBox="1">
            <a:spLocks noGrp="1"/>
          </p:cNvSpPr>
          <p:nvPr>
            <p:ph type="subTitle" idx="2"/>
          </p:nvPr>
        </p:nvSpPr>
        <p:spPr>
          <a:xfrm>
            <a:off x="50010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7" name="Google Shape;77;p13"/>
          <p:cNvSpPr txBox="1">
            <a:spLocks noGrp="1"/>
          </p:cNvSpPr>
          <p:nvPr>
            <p:ph type="subTitle" idx="3"/>
          </p:nvPr>
        </p:nvSpPr>
        <p:spPr>
          <a:xfrm>
            <a:off x="16552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8" name="Google Shape;78;p13"/>
          <p:cNvSpPr txBox="1">
            <a:spLocks noGrp="1"/>
          </p:cNvSpPr>
          <p:nvPr>
            <p:ph type="subTitle" idx="4"/>
          </p:nvPr>
        </p:nvSpPr>
        <p:spPr>
          <a:xfrm>
            <a:off x="16552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9" name="Google Shape;79;p13"/>
          <p:cNvSpPr txBox="1">
            <a:spLocks noGrp="1"/>
          </p:cNvSpPr>
          <p:nvPr>
            <p:ph type="subTitle" idx="5"/>
          </p:nvPr>
        </p:nvSpPr>
        <p:spPr>
          <a:xfrm>
            <a:off x="50010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0" name="Google Shape;80;p13"/>
          <p:cNvSpPr txBox="1">
            <a:spLocks noGrp="1"/>
          </p:cNvSpPr>
          <p:nvPr>
            <p:ph type="subTitle" idx="6"/>
          </p:nvPr>
        </p:nvSpPr>
        <p:spPr>
          <a:xfrm>
            <a:off x="500100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1" name="Google Shape;81;p13"/>
          <p:cNvSpPr txBox="1">
            <a:spLocks noGrp="1"/>
          </p:cNvSpPr>
          <p:nvPr>
            <p:ph type="subTitle" idx="7"/>
          </p:nvPr>
        </p:nvSpPr>
        <p:spPr>
          <a:xfrm>
            <a:off x="16552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2" name="Google Shape;82;p13"/>
          <p:cNvSpPr txBox="1">
            <a:spLocks noGrp="1"/>
          </p:cNvSpPr>
          <p:nvPr>
            <p:ph type="subTitle" idx="8"/>
          </p:nvPr>
        </p:nvSpPr>
        <p:spPr>
          <a:xfrm>
            <a:off x="165525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3" name="Google Shape;83;p13"/>
          <p:cNvSpPr txBox="1">
            <a:spLocks noGrp="1"/>
          </p:cNvSpPr>
          <p:nvPr>
            <p:ph type="title" idx="9" hasCustomPrompt="1"/>
          </p:nvPr>
        </p:nvSpPr>
        <p:spPr>
          <a:xfrm>
            <a:off x="23786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a:spLocks noGrp="1"/>
          </p:cNvSpPr>
          <p:nvPr>
            <p:ph type="title" idx="13" hasCustomPrompt="1"/>
          </p:nvPr>
        </p:nvSpPr>
        <p:spPr>
          <a:xfrm>
            <a:off x="57244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a:spLocks noGrp="1"/>
          </p:cNvSpPr>
          <p:nvPr>
            <p:ph type="title" idx="14" hasCustomPrompt="1"/>
          </p:nvPr>
        </p:nvSpPr>
        <p:spPr>
          <a:xfrm>
            <a:off x="237870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a:spLocks noGrp="1"/>
          </p:cNvSpPr>
          <p:nvPr>
            <p:ph type="title" idx="15" hasCustomPrompt="1"/>
          </p:nvPr>
        </p:nvSpPr>
        <p:spPr>
          <a:xfrm>
            <a:off x="572445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8" name="Google Shape;88;p1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Shape 137"/>
        <p:cNvGrpSpPr/>
        <p:nvPr/>
      </p:nvGrpSpPr>
      <p:grpSpPr>
        <a:xfrm>
          <a:off x="0" y="0"/>
          <a:ext cx="0" cy="0"/>
          <a:chOff x="0" y="0"/>
          <a:chExt cx="0" cy="0"/>
        </a:xfrm>
      </p:grpSpPr>
      <p:sp>
        <p:nvSpPr>
          <p:cNvPr id="138" name="Google Shape;138;p19"/>
          <p:cNvSpPr txBox="1">
            <a:spLocks noGrp="1"/>
          </p:cNvSpPr>
          <p:nvPr>
            <p:ph type="title"/>
          </p:nvPr>
        </p:nvSpPr>
        <p:spPr>
          <a:xfrm>
            <a:off x="3742850" y="1549875"/>
            <a:ext cx="4545000" cy="1291200"/>
          </a:xfrm>
          <a:prstGeom prst="rect">
            <a:avLst/>
          </a:prstGeom>
        </p:spPr>
        <p:txBody>
          <a:bodyPr spcFirstLastPara="1" wrap="square" lIns="91425" tIns="91425" rIns="91425" bIns="91425" anchor="t" anchorCtr="0">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a:endParaRPr/>
          </a:p>
        </p:txBody>
      </p:sp>
      <p:sp>
        <p:nvSpPr>
          <p:cNvPr id="139" name="Google Shape;139;p19"/>
          <p:cNvSpPr txBox="1">
            <a:spLocks noGrp="1"/>
          </p:cNvSpPr>
          <p:nvPr>
            <p:ph type="subTitle" idx="1"/>
          </p:nvPr>
        </p:nvSpPr>
        <p:spPr>
          <a:xfrm>
            <a:off x="3742850" y="3039213"/>
            <a:ext cx="45450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cxnSp>
        <p:nvCxnSpPr>
          <p:cNvPr id="140" name="Google Shape;140;p1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1" name="Google Shape;141;p1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2" name="Google Shape;142;p1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3" name="Google Shape;143;p1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4" name="Google Shape;144;p19"/>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5" name="Google Shape;145;p19"/>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Shape 146"/>
        <p:cNvGrpSpPr/>
        <p:nvPr/>
      </p:nvGrpSpPr>
      <p:grpSpPr>
        <a:xfrm>
          <a:off x="0" y="0"/>
          <a:ext cx="0" cy="0"/>
          <a:chOff x="0" y="0"/>
          <a:chExt cx="0" cy="0"/>
        </a:xfrm>
      </p:grpSpPr>
      <p:sp>
        <p:nvSpPr>
          <p:cNvPr id="147" name="Google Shape;147;p20"/>
          <p:cNvSpPr txBox="1">
            <a:spLocks noGrp="1"/>
          </p:cNvSpPr>
          <p:nvPr>
            <p:ph type="title"/>
          </p:nvPr>
        </p:nvSpPr>
        <p:spPr>
          <a:xfrm>
            <a:off x="1677925" y="2511803"/>
            <a:ext cx="3714900" cy="805800"/>
          </a:xfrm>
          <a:prstGeom prst="rect">
            <a:avLst/>
          </a:prstGeom>
          <a:noFill/>
        </p:spPr>
        <p:txBody>
          <a:bodyPr spcFirstLastPara="1" wrap="square" lIns="91425" tIns="91425" rIns="91425" bIns="91425" anchor="t" anchorCtr="0">
            <a:noAutofit/>
          </a:bodyPr>
          <a:lstStyle>
            <a:lvl1pPr lvl="0" algn="r" rtl="0">
              <a:spcBef>
                <a:spcPts val="0"/>
              </a:spcBef>
              <a:spcAft>
                <a:spcPts val="0"/>
              </a:spcAft>
              <a:buClr>
                <a:schemeClr val="accent4"/>
              </a:buClr>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8" name="Google Shape;148;p20"/>
          <p:cNvSpPr txBox="1">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49" name="Google Shape;149;p20"/>
          <p:cNvSpPr txBox="1">
            <a:spLocks noGrp="1"/>
          </p:cNvSpPr>
          <p:nvPr>
            <p:ph type="subTitle" idx="1"/>
          </p:nvPr>
        </p:nvSpPr>
        <p:spPr>
          <a:xfrm>
            <a:off x="831625" y="3244000"/>
            <a:ext cx="4561200" cy="393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50" name="Google Shape;150;p20"/>
          <p:cNvCxnSpPr/>
          <p:nvPr/>
        </p:nvCxnSpPr>
        <p:spPr>
          <a:xfrm rot="10800000">
            <a:off x="-30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1" name="Google Shape;151;p20"/>
          <p:cNvCxnSpPr/>
          <p:nvPr/>
        </p:nvCxnSpPr>
        <p:spPr>
          <a:xfrm rot="10800000">
            <a:off x="-30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2" name="Google Shape;152;p20"/>
          <p:cNvCxnSpPr/>
          <p:nvPr/>
        </p:nvCxnSpPr>
        <p:spPr>
          <a:xfrm>
            <a:off x="-11287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3" name="Google Shape;153;p20"/>
          <p:cNvCxnSpPr/>
          <p:nvPr/>
        </p:nvCxnSpPr>
        <p:spPr>
          <a:xfrm>
            <a:off x="790872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Shape 159"/>
        <p:cNvGrpSpPr/>
        <p:nvPr/>
      </p:nvGrpSpPr>
      <p:grpSpPr>
        <a:xfrm>
          <a:off x="0" y="0"/>
          <a:ext cx="0" cy="0"/>
          <a:chOff x="0" y="0"/>
          <a:chExt cx="0" cy="0"/>
        </a:xfrm>
      </p:grpSpPr>
      <p:cxnSp>
        <p:nvCxnSpPr>
          <p:cNvPr id="160" name="Google Shape;160;p2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1" name="Google Shape;161;p2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2" name="Google Shape;162;p2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3" name="Google Shape;163;p2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4" name="Google Shape;164;p2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5" name="Google Shape;165;p22"/>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66" name="Google Shape;166;p22"/>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Shape 395"/>
        <p:cNvGrpSpPr/>
        <p:nvPr/>
      </p:nvGrpSpPr>
      <p:grpSpPr>
        <a:xfrm>
          <a:off x="0" y="0"/>
          <a:ext cx="0" cy="0"/>
          <a:chOff x="0" y="0"/>
          <a:chExt cx="0" cy="0"/>
        </a:xfrm>
      </p:grpSpPr>
      <p:sp>
        <p:nvSpPr>
          <p:cNvPr id="396" name="Google Shape;396;p43"/>
          <p:cNvSpPr txBox="1">
            <a:spLocks noGrp="1"/>
          </p:cNvSpPr>
          <p:nvPr>
            <p:ph type="title"/>
          </p:nvPr>
        </p:nvSpPr>
        <p:spPr>
          <a:xfrm>
            <a:off x="803750" y="2040496"/>
            <a:ext cx="4087500" cy="673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7" name="Google Shape;397;p43"/>
          <p:cNvSpPr txBox="1">
            <a:spLocks noGrp="1"/>
          </p:cNvSpPr>
          <p:nvPr>
            <p:ph type="subTitle" idx="1"/>
          </p:nvPr>
        </p:nvSpPr>
        <p:spPr>
          <a:xfrm>
            <a:off x="803750" y="2693525"/>
            <a:ext cx="3159300" cy="55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398" name="Google Shape;398;p4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99" name="Google Shape;399;p4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Shape 441"/>
        <p:cNvGrpSpPr/>
        <p:nvPr/>
      </p:nvGrpSpPr>
      <p:grpSpPr>
        <a:xfrm>
          <a:off x="0" y="0"/>
          <a:ext cx="0" cy="0"/>
          <a:chOff x="0" y="0"/>
          <a:chExt cx="0" cy="0"/>
        </a:xfrm>
      </p:grpSpPr>
      <p:sp>
        <p:nvSpPr>
          <p:cNvPr id="442" name="Google Shape;442;p49"/>
          <p:cNvSpPr txBox="1">
            <a:spLocks noGrp="1"/>
          </p:cNvSpPr>
          <p:nvPr>
            <p:ph type="title"/>
          </p:nvPr>
        </p:nvSpPr>
        <p:spPr>
          <a:xfrm>
            <a:off x="2832900" y="791200"/>
            <a:ext cx="3478200" cy="92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300"/>
              <a:buNone/>
              <a:defRPr sz="7000"/>
            </a:lvl1pPr>
            <a:lvl2pPr lvl="1" algn="ctr" rtl="0">
              <a:spcBef>
                <a:spcPts val="0"/>
              </a:spcBef>
              <a:spcAft>
                <a:spcPts val="0"/>
              </a:spcAft>
              <a:buSzPts val="3000"/>
              <a:buNone/>
              <a:defRPr>
                <a:latin typeface="Open Sans"/>
                <a:ea typeface="Open Sans"/>
                <a:cs typeface="Open Sans"/>
                <a:sym typeface="Open Sans"/>
              </a:defRPr>
            </a:lvl2pPr>
            <a:lvl3pPr lvl="2" algn="ctr" rtl="0">
              <a:spcBef>
                <a:spcPts val="0"/>
              </a:spcBef>
              <a:spcAft>
                <a:spcPts val="0"/>
              </a:spcAft>
              <a:buSzPts val="3000"/>
              <a:buNone/>
              <a:defRPr>
                <a:latin typeface="Open Sans"/>
                <a:ea typeface="Open Sans"/>
                <a:cs typeface="Open Sans"/>
                <a:sym typeface="Open Sans"/>
              </a:defRPr>
            </a:lvl3pPr>
            <a:lvl4pPr lvl="3" algn="ctr" rtl="0">
              <a:spcBef>
                <a:spcPts val="0"/>
              </a:spcBef>
              <a:spcAft>
                <a:spcPts val="0"/>
              </a:spcAft>
              <a:buSzPts val="3000"/>
              <a:buNone/>
              <a:defRPr>
                <a:latin typeface="Open Sans"/>
                <a:ea typeface="Open Sans"/>
                <a:cs typeface="Open Sans"/>
                <a:sym typeface="Open Sans"/>
              </a:defRPr>
            </a:lvl4pPr>
            <a:lvl5pPr lvl="4" algn="ctr" rtl="0">
              <a:spcBef>
                <a:spcPts val="0"/>
              </a:spcBef>
              <a:spcAft>
                <a:spcPts val="0"/>
              </a:spcAft>
              <a:buSzPts val="3000"/>
              <a:buNone/>
              <a:defRPr>
                <a:latin typeface="Open Sans"/>
                <a:ea typeface="Open Sans"/>
                <a:cs typeface="Open Sans"/>
                <a:sym typeface="Open Sans"/>
              </a:defRPr>
            </a:lvl5pPr>
            <a:lvl6pPr lvl="5" algn="ctr" rtl="0">
              <a:spcBef>
                <a:spcPts val="0"/>
              </a:spcBef>
              <a:spcAft>
                <a:spcPts val="0"/>
              </a:spcAft>
              <a:buSzPts val="3000"/>
              <a:buNone/>
              <a:defRPr>
                <a:latin typeface="Open Sans"/>
                <a:ea typeface="Open Sans"/>
                <a:cs typeface="Open Sans"/>
                <a:sym typeface="Open Sans"/>
              </a:defRPr>
            </a:lvl6pPr>
            <a:lvl7pPr lvl="6" algn="ctr" rtl="0">
              <a:spcBef>
                <a:spcPts val="0"/>
              </a:spcBef>
              <a:spcAft>
                <a:spcPts val="0"/>
              </a:spcAft>
              <a:buSzPts val="3000"/>
              <a:buNone/>
              <a:defRPr>
                <a:latin typeface="Open Sans"/>
                <a:ea typeface="Open Sans"/>
                <a:cs typeface="Open Sans"/>
                <a:sym typeface="Open Sans"/>
              </a:defRPr>
            </a:lvl7pPr>
            <a:lvl8pPr lvl="7" algn="ctr" rtl="0">
              <a:spcBef>
                <a:spcPts val="0"/>
              </a:spcBef>
              <a:spcAft>
                <a:spcPts val="0"/>
              </a:spcAft>
              <a:buSzPts val="3000"/>
              <a:buNone/>
              <a:defRPr>
                <a:latin typeface="Open Sans"/>
                <a:ea typeface="Open Sans"/>
                <a:cs typeface="Open Sans"/>
                <a:sym typeface="Open Sans"/>
              </a:defRPr>
            </a:lvl8pPr>
            <a:lvl9pPr lvl="8" algn="ctr" rtl="0">
              <a:spcBef>
                <a:spcPts val="0"/>
              </a:spcBef>
              <a:spcAft>
                <a:spcPts val="0"/>
              </a:spcAft>
              <a:buSzPts val="3000"/>
              <a:buNone/>
              <a:defRPr>
                <a:latin typeface="Open Sans"/>
                <a:ea typeface="Open Sans"/>
                <a:cs typeface="Open Sans"/>
                <a:sym typeface="Open Sans"/>
              </a:defRPr>
            </a:lvl9pPr>
          </a:lstStyle>
          <a:p>
            <a:endParaRPr/>
          </a:p>
        </p:txBody>
      </p:sp>
      <p:sp>
        <p:nvSpPr>
          <p:cNvPr id="443" name="Google Shape;443;p49"/>
          <p:cNvSpPr txBox="1">
            <a:spLocks noGrp="1"/>
          </p:cNvSpPr>
          <p:nvPr>
            <p:ph type="subTitle" idx="1"/>
          </p:nvPr>
        </p:nvSpPr>
        <p:spPr>
          <a:xfrm>
            <a:off x="2983350" y="1749425"/>
            <a:ext cx="3177300" cy="9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44" name="Google Shape;444;p49"/>
          <p:cNvSpPr txBox="1"/>
          <p:nvPr/>
        </p:nvSpPr>
        <p:spPr>
          <a:xfrm>
            <a:off x="2900450" y="3438275"/>
            <a:ext cx="33432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lang="en" sz="1100" b="1">
                <a:solidFill>
                  <a:schemeClr val="dk2"/>
                </a:solidFill>
                <a:uFill>
                  <a:noFill/>
                </a:u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100">
                <a:solidFill>
                  <a:schemeClr val="dk2"/>
                </a:solidFill>
                <a:latin typeface="Montserrat"/>
                <a:ea typeface="Montserrat"/>
                <a:cs typeface="Montserrat"/>
                <a:sym typeface="Montserrat"/>
              </a:rPr>
              <a:t>, including icons by </a:t>
            </a:r>
            <a:r>
              <a:rPr lang="en" sz="1100" b="1">
                <a:solidFill>
                  <a:schemeClr val="dk2"/>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100">
                <a:solidFill>
                  <a:schemeClr val="dk2"/>
                </a:solidFill>
                <a:latin typeface="Montserrat"/>
                <a:ea typeface="Montserrat"/>
                <a:cs typeface="Montserrat"/>
                <a:sym typeface="Montserrat"/>
              </a:rPr>
              <a:t>, infographics &amp; images by </a:t>
            </a:r>
            <a:r>
              <a:rPr lang="en" sz="1100" b="1">
                <a:solidFill>
                  <a:schemeClr val="dk2"/>
                </a:solidFill>
                <a:uFill>
                  <a:noFill/>
                </a:u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endParaRPr sz="1100" b="1" dirty="0">
              <a:solidFill>
                <a:schemeClr val="dk2"/>
              </a:solidFill>
              <a:latin typeface="Montserrat"/>
              <a:ea typeface="Montserrat"/>
              <a:cs typeface="Montserrat"/>
              <a:sym typeface="Montserrat"/>
            </a:endParaRPr>
          </a:p>
        </p:txBody>
      </p:sp>
      <p:cxnSp>
        <p:nvCxnSpPr>
          <p:cNvPr id="445" name="Google Shape;445;p4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6" name="Google Shape;446;p49"/>
          <p:cNvCxnSpPr/>
          <p:nvPr/>
        </p:nvCxnSpPr>
        <p:spPr>
          <a:xfrm>
            <a:off x="-257975"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47" name="Google Shape;447;p4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8" name="Google Shape;448;p49"/>
          <p:cNvCxnSpPr/>
          <p:nvPr/>
        </p:nvCxnSpPr>
        <p:spPr>
          <a:xfrm>
            <a:off x="6467450"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1" name="Google Shape;451;p5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5" name="Google Shape;455;p51"/>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56" name="Google Shape;456;p51"/>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9" name="Google Shape;459;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3" name="Google Shape;463;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4" name="Google Shape;464;p5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5" name="Google Shape;465;p5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6" name="Google Shape;466;p5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7" name="Google Shape;467;p53"/>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5" r:id="rId4"/>
    <p:sldLayoutId id="2147483658" r:id="rId5"/>
    <p:sldLayoutId id="2147483659" r:id="rId6"/>
    <p:sldLayoutId id="2147483665" r:id="rId7"/>
    <p:sldLayoutId id="2147483666" r:id="rId8"/>
    <p:sldLayoutId id="2147483668" r:id="rId9"/>
    <p:sldLayoutId id="2147483689" r:id="rId10"/>
    <p:sldLayoutId id="2147483695" r:id="rId11"/>
    <p:sldLayoutId id="2147483696" r:id="rId12"/>
    <p:sldLayoutId id="2147483697" r:id="rId13"/>
    <p:sldLayoutId id="2147483698" r:id="rId14"/>
    <p:sldLayoutId id="2147483699"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reformesandorra.com/el-jardi-d-henoc-andorra.ht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10.png"/><Relationship Id="rId7" Type="http://schemas.openxmlformats.org/officeDocument/2006/relationships/image" Target="../media/image560.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550.png"/><Relationship Id="rId5" Type="http://schemas.openxmlformats.org/officeDocument/2006/relationships/image" Target="../media/image540.png"/><Relationship Id="rId4" Type="http://schemas.openxmlformats.org/officeDocument/2006/relationships/image" Target="../media/image520.png"/></Relationships>
</file>

<file path=ppt/slides/_rels/slide19.xml.rels><?xml version="1.0" encoding="UTF-8" standalone="yes"?>
<Relationships xmlns="http://schemas.openxmlformats.org/package/2006/relationships"><Relationship Id="rId3" Type="http://schemas.openxmlformats.org/officeDocument/2006/relationships/image" Target="../media/image570.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560.png"/></Relationships>
</file>

<file path=ppt/slides/_rels/slide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3" Type="http://schemas.openxmlformats.org/officeDocument/2006/relationships/hyperlink" Target="https://en.wikipedia.org/wiki/Double_dabble"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hyperlink" Target="https://en.wikipedia.org/wiki/Double_dabble" TargetMode="External"/><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comments" Target="../comments/comment1.xml"/><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9"/>
          <p:cNvSpPr txBox="1">
            <a:spLocks noGrp="1"/>
          </p:cNvSpPr>
          <p:nvPr>
            <p:ph type="ctrTitle"/>
          </p:nvPr>
        </p:nvSpPr>
        <p:spPr>
          <a:xfrm>
            <a:off x="228600" y="1378526"/>
            <a:ext cx="7875475" cy="1499809"/>
          </a:xfrm>
          <a:prstGeom prst="rect">
            <a:avLst/>
          </a:prstGeom>
        </p:spPr>
        <p:txBody>
          <a:bodyPr spcFirstLastPara="1" wrap="square" lIns="91425" tIns="91425" rIns="91425" bIns="91425" anchor="b" anchorCtr="0">
            <a:noAutofit/>
          </a:bodyPr>
          <a:lstStyle/>
          <a:p>
            <a:r>
              <a:rPr lang="pt-BR" sz="5400" dirty="0"/>
              <a:t>BINFO1 M2 </a:t>
            </a:r>
            <a:br>
              <a:rPr lang="pt-BR" sz="5400" dirty="0"/>
            </a:br>
            <a:r>
              <a:rPr lang="pt-BR" sz="3200" dirty="0"/>
              <a:t>Repte Fonaments de computadors</a:t>
            </a:r>
            <a:endParaRPr lang="pt-BR" sz="5400" dirty="0"/>
          </a:p>
        </p:txBody>
      </p:sp>
      <p:sp>
        <p:nvSpPr>
          <p:cNvPr id="483" name="Google Shape;483;p59"/>
          <p:cNvSpPr txBox="1">
            <a:spLocks noGrp="1"/>
          </p:cNvSpPr>
          <p:nvPr>
            <p:ph type="subTitle" idx="1"/>
          </p:nvPr>
        </p:nvSpPr>
        <p:spPr>
          <a:xfrm>
            <a:off x="1040000" y="2982247"/>
            <a:ext cx="7064100" cy="44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solidFill>
                  <a:schemeClr val="dk1"/>
                </a:solidFill>
              </a:rPr>
              <a:t>Alumne: Eric Torrontera Ruiz</a:t>
            </a:r>
          </a:p>
          <a:p>
            <a:pPr marL="0" lvl="0" indent="0" algn="ctr" rtl="0">
              <a:spcBef>
                <a:spcPts val="0"/>
              </a:spcBef>
              <a:spcAft>
                <a:spcPts val="0"/>
              </a:spcAft>
              <a:buClr>
                <a:schemeClr val="dk1"/>
              </a:buClr>
              <a:buSzPts val="1100"/>
              <a:buFont typeface="Arial"/>
              <a:buNone/>
            </a:pPr>
            <a:endParaRPr dirty="0"/>
          </a:p>
        </p:txBody>
      </p:sp>
      <p:sp>
        <p:nvSpPr>
          <p:cNvPr id="2" name="Google Shape;483;p59">
            <a:extLst>
              <a:ext uri="{FF2B5EF4-FFF2-40B4-BE49-F238E27FC236}">
                <a16:creationId xmlns:a16="http://schemas.microsoft.com/office/drawing/2014/main" id="{C59761A6-8A0F-3EFC-2B7C-4BDA854D7EF2}"/>
              </a:ext>
            </a:extLst>
          </p:cNvPr>
          <p:cNvSpPr txBox="1">
            <a:spLocks/>
          </p:cNvSpPr>
          <p:nvPr/>
        </p:nvSpPr>
        <p:spPr>
          <a:xfrm>
            <a:off x="1040005" y="3349393"/>
            <a:ext cx="7064100" cy="441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Montserrat"/>
              <a:buNone/>
              <a:defRPr sz="1600" b="0" i="0" u="none" strike="noStrike" cap="none">
                <a:solidFill>
                  <a:schemeClr val="dk2"/>
                </a:solidFill>
                <a:latin typeface="Montserrat"/>
                <a:ea typeface="Montserrat"/>
                <a:cs typeface="Montserrat"/>
                <a:sym typeface="Montserrat"/>
              </a:defRPr>
            </a:lvl1pPr>
            <a:lvl2pPr marL="914400" marR="0" lvl="1"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2pPr>
            <a:lvl3pPr marL="1371600" marR="0" lvl="2"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3pPr>
            <a:lvl4pPr marL="1828800" marR="0" lvl="3"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4pPr>
            <a:lvl5pPr marL="2286000" marR="0" lvl="4"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5pPr>
            <a:lvl6pPr marL="2743200" marR="0" lvl="5"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6pPr>
            <a:lvl7pPr marL="3200400" marR="0" lvl="6"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7pPr>
            <a:lvl8pPr marL="3657600" marR="0" lvl="7"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8pPr>
            <a:lvl9pPr marL="4114800" marR="0" lvl="8"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9pPr>
          </a:lstStyle>
          <a:p>
            <a:pPr marL="0" indent="0">
              <a:buClr>
                <a:schemeClr val="dk1"/>
              </a:buClr>
              <a:buSzPts val="1100"/>
            </a:pPr>
            <a:r>
              <a:rPr lang="ca-ES" dirty="0">
                <a:solidFill>
                  <a:schemeClr val="dk1"/>
                </a:solidFill>
              </a:rPr>
              <a:t>Professorat: </a:t>
            </a:r>
            <a:r>
              <a:rPr lang="en-US" dirty="0"/>
              <a:t>Yolanda Colom, Lorena Jordana, Miquel Viladrich </a:t>
            </a:r>
          </a:p>
        </p:txBody>
      </p:sp>
    </p:spTree>
    <p:extLst>
      <p:ext uri="{BB962C8B-B14F-4D97-AF65-F5344CB8AC3E}">
        <p14:creationId xmlns:p14="http://schemas.microsoft.com/office/powerpoint/2010/main" val="3637460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anim calcmode="lin" valueType="num">
                                      <p:cBhvr additive="base">
                                        <p:cTn id="7" dur="1000"/>
                                        <p:tgtEl>
                                          <p:spTgt spid="482"/>
                                        </p:tgtEl>
                                        <p:attrNameLst>
                                          <p:attrName>ppt_x</p:attrName>
                                        </p:attrNameLst>
                                      </p:cBhvr>
                                      <p:tavLst>
                                        <p:tav tm="0">
                                          <p:val>
                                            <p:strVal val="#ppt_x-1"/>
                                          </p:val>
                                        </p:tav>
                                        <p:tav tm="100000">
                                          <p:val>
                                            <p:strVal val="#ppt_x"/>
                                          </p:val>
                                        </p:tav>
                                      </p:tavLst>
                                    </p:anim>
                                  </p:childTnLst>
                                </p:cTn>
                              </p:par>
                              <p:par>
                                <p:cTn id="8" presetID="2" presetClass="entr" presetSubtype="4" fill="hold" nodeType="withEffect">
                                  <p:stCondLst>
                                    <p:cond delay="0"/>
                                  </p:stCondLst>
                                  <p:childTnLst>
                                    <p:set>
                                      <p:cBhvr>
                                        <p:cTn id="9" dur="1" fill="hold">
                                          <p:stCondLst>
                                            <p:cond delay="0"/>
                                          </p:stCondLst>
                                        </p:cTn>
                                        <p:tgtEl>
                                          <p:spTgt spid="483"/>
                                        </p:tgtEl>
                                        <p:attrNameLst>
                                          <p:attrName>style.visibility</p:attrName>
                                        </p:attrNameLst>
                                      </p:cBhvr>
                                      <p:to>
                                        <p:strVal val="visible"/>
                                      </p:to>
                                    </p:set>
                                    <p:anim calcmode="lin" valueType="num">
                                      <p:cBhvr additive="base">
                                        <p:cTn id="10" dur="1000"/>
                                        <p:tgtEl>
                                          <p:spTgt spid="483"/>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1000"/>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subTitle" idx="1"/>
          </p:nvPr>
        </p:nvSpPr>
        <p:spPr>
          <a:xfrm>
            <a:off x="895949" y="1350818"/>
            <a:ext cx="4444977" cy="271108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sz="1600" dirty="0">
                <a:effectLst/>
                <a:latin typeface="Arial" panose="020B0604020202020204" pitchFamily="34" charset="0"/>
                <a:ea typeface="Times New Roman" panose="02020603050405020304" pitchFamily="18" charset="0"/>
              </a:rPr>
              <a:t>Petita empresa de nova creació d’àmbit nacional radicada a Santa Coloma. El seu objectiu és comercialitzar </a:t>
            </a:r>
            <a:r>
              <a:rPr lang="ca-ES" sz="1600" dirty="0">
                <a:latin typeface="Arial" panose="020B0604020202020204" pitchFamily="34" charset="0"/>
                <a:ea typeface="Times New Roman" panose="02020603050405020304" pitchFamily="18" charset="0"/>
              </a:rPr>
              <a:t>diferents sistemes de control </a:t>
            </a:r>
            <a:r>
              <a:rPr lang="ca-ES" sz="1600" dirty="0">
                <a:effectLst/>
                <a:latin typeface="Arial" panose="020B0604020202020204" pitchFamily="34" charset="0"/>
                <a:ea typeface="Times New Roman" panose="02020603050405020304" pitchFamily="18" charset="0"/>
              </a:rPr>
              <a:t>per a particulars</a:t>
            </a:r>
            <a:r>
              <a:rPr lang="ca-ES" sz="1600" dirty="0">
                <a:latin typeface="Arial" panose="020B0604020202020204" pitchFamily="34" charset="0"/>
                <a:ea typeface="Times New Roman" panose="02020603050405020304" pitchFamily="18" charset="0"/>
              </a:rPr>
              <a:t> (Seguretat, Reg i Temperatura/Humitat).</a:t>
            </a:r>
          </a:p>
          <a:p>
            <a:pPr marL="0" lvl="0" indent="0" algn="l" rtl="0">
              <a:spcBef>
                <a:spcPts val="0"/>
              </a:spcBef>
              <a:spcAft>
                <a:spcPts val="0"/>
              </a:spcAft>
              <a:buNone/>
            </a:pPr>
            <a:endParaRPr lang="ca-ES" sz="1600" dirty="0">
              <a:effectLst/>
              <a:latin typeface="Arial" panose="020B0604020202020204" pitchFamily="34" charset="0"/>
              <a:ea typeface="Times New Roman" panose="02020603050405020304" pitchFamily="18" charset="0"/>
            </a:endParaRPr>
          </a:p>
          <a:p>
            <a:pPr marL="0" lvl="0" indent="0" algn="l" rtl="0">
              <a:spcBef>
                <a:spcPts val="0"/>
              </a:spcBef>
              <a:spcAft>
                <a:spcPts val="0"/>
              </a:spcAft>
              <a:buNone/>
            </a:pPr>
            <a:r>
              <a:rPr lang="ca-ES" sz="1600" dirty="0">
                <a:latin typeface="Arial" panose="020B0604020202020204" pitchFamily="34" charset="0"/>
                <a:ea typeface="Times New Roman" panose="02020603050405020304" pitchFamily="18" charset="0"/>
              </a:rPr>
              <a:t>En funció del sistema de control, utilitzarà </a:t>
            </a:r>
            <a:r>
              <a:rPr lang="ca-ES" sz="1600" dirty="0">
                <a:effectLst/>
                <a:latin typeface="Arial" panose="020B0604020202020204" pitchFamily="34" charset="0"/>
                <a:ea typeface="Times New Roman" panose="02020603050405020304" pitchFamily="18" charset="0"/>
              </a:rPr>
              <a:t> l’energia solar o sistemes que captin, emmagatzemin i distribueixin l’aigua de la pluja per tal de contribuir als ODS (Objectius de Desenvolupament Sostenibles). </a:t>
            </a:r>
            <a:endParaRPr lang="ca-ES" sz="1200" dirty="0"/>
          </a:p>
        </p:txBody>
      </p:sp>
      <p:sp>
        <p:nvSpPr>
          <p:cNvPr id="547" name="Google Shape;547;p65"/>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ECOTERRA.SL</a:t>
            </a:r>
            <a:endParaRPr dirty="0"/>
          </a:p>
        </p:txBody>
      </p:sp>
      <p:pic>
        <p:nvPicPr>
          <p:cNvPr id="3" name="Picture 2">
            <a:extLst>
              <a:ext uri="{FF2B5EF4-FFF2-40B4-BE49-F238E27FC236}">
                <a16:creationId xmlns:a16="http://schemas.microsoft.com/office/drawing/2014/main" id="{F5A6A218-D7D4-994A-DF4E-ACF7EEE0B03F}"/>
              </a:ext>
            </a:extLst>
          </p:cNvPr>
          <p:cNvPicPr>
            <a:picLocks noChangeAspect="1"/>
          </p:cNvPicPr>
          <p:nvPr/>
        </p:nvPicPr>
        <p:blipFill>
          <a:blip r:embed="rId3"/>
          <a:stretch>
            <a:fillRect/>
          </a:stretch>
        </p:blipFill>
        <p:spPr>
          <a:xfrm>
            <a:off x="5393749" y="1520395"/>
            <a:ext cx="3224154" cy="21027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5" y="445025"/>
            <a:ext cx="7980502"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Objectius de Desenvolupament Sostenibles</a:t>
            </a:r>
          </a:p>
        </p:txBody>
      </p:sp>
      <p:sp>
        <p:nvSpPr>
          <p:cNvPr id="495" name="Google Shape;495;p61"/>
          <p:cNvSpPr txBox="1">
            <a:spLocks noGrp="1"/>
          </p:cNvSpPr>
          <p:nvPr>
            <p:ph type="subTitle" idx="3"/>
          </p:nvPr>
        </p:nvSpPr>
        <p:spPr>
          <a:xfrm>
            <a:off x="4786472" y="1880582"/>
            <a:ext cx="4205139" cy="35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ca-ES" dirty="0"/>
              <a:t>Aigua neta i sanejament </a:t>
            </a:r>
          </a:p>
        </p:txBody>
      </p:sp>
      <p:sp>
        <p:nvSpPr>
          <p:cNvPr id="498" name="Google Shape;498;p61"/>
          <p:cNvSpPr txBox="1">
            <a:spLocks noGrp="1"/>
          </p:cNvSpPr>
          <p:nvPr>
            <p:ph type="subTitle" idx="4"/>
          </p:nvPr>
        </p:nvSpPr>
        <p:spPr>
          <a:xfrm>
            <a:off x="4786472" y="2206610"/>
            <a:ext cx="4205139" cy="7836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ca-ES" b="0" i="0" dirty="0">
                <a:solidFill>
                  <a:srgbClr val="000000"/>
                </a:solidFill>
                <a:effectLst/>
                <a:latin typeface="Open Sans" panose="020B0606030504020204" pitchFamily="34" charset="0"/>
              </a:rPr>
              <a:t>Ajudant a la sostenibilitat de l'aigua potable mitjançant l'ús de recursos hídrics.</a:t>
            </a:r>
            <a:endParaRPr lang="ca-ES" dirty="0"/>
          </a:p>
        </p:txBody>
      </p:sp>
      <p:sp>
        <p:nvSpPr>
          <p:cNvPr id="503" name="Google Shape;503;p61"/>
          <p:cNvSpPr txBox="1">
            <a:spLocks noGrp="1"/>
          </p:cNvSpPr>
          <p:nvPr>
            <p:ph type="title" idx="9"/>
          </p:nvPr>
        </p:nvSpPr>
        <p:spPr>
          <a:xfrm>
            <a:off x="5720670" y="1271378"/>
            <a:ext cx="2381893"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ODS 06</a:t>
            </a:r>
            <a:endParaRPr dirty="0"/>
          </a:p>
        </p:txBody>
      </p:sp>
      <p:sp>
        <p:nvSpPr>
          <p:cNvPr id="10" name="Google Shape;495;p61">
            <a:extLst>
              <a:ext uri="{FF2B5EF4-FFF2-40B4-BE49-F238E27FC236}">
                <a16:creationId xmlns:a16="http://schemas.microsoft.com/office/drawing/2014/main" id="{46F5CF95-D069-AB1F-BDDF-F794B73E15C9}"/>
              </a:ext>
            </a:extLst>
          </p:cNvPr>
          <p:cNvSpPr txBox="1">
            <a:spLocks/>
          </p:cNvSpPr>
          <p:nvPr/>
        </p:nvSpPr>
        <p:spPr>
          <a:xfrm>
            <a:off x="429213" y="1783592"/>
            <a:ext cx="4205139" cy="357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100"/>
              <a:buFont typeface="Montserrat"/>
              <a:buNone/>
              <a:defRPr sz="2400" b="0" i="0" u="none" strike="noStrike" cap="none">
                <a:solidFill>
                  <a:schemeClr val="dk2"/>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9pPr>
          </a:lstStyle>
          <a:p>
            <a:pPr marL="0" indent="0"/>
            <a:r>
              <a:rPr lang="ca-ES" dirty="0"/>
              <a:t>Fam zero </a:t>
            </a:r>
          </a:p>
        </p:txBody>
      </p:sp>
      <p:sp>
        <p:nvSpPr>
          <p:cNvPr id="11" name="Google Shape;498;p61">
            <a:extLst>
              <a:ext uri="{FF2B5EF4-FFF2-40B4-BE49-F238E27FC236}">
                <a16:creationId xmlns:a16="http://schemas.microsoft.com/office/drawing/2014/main" id="{B7F76FE7-97DC-E291-9D7D-77435085E126}"/>
              </a:ext>
            </a:extLst>
          </p:cNvPr>
          <p:cNvSpPr txBox="1">
            <a:spLocks/>
          </p:cNvSpPr>
          <p:nvPr/>
        </p:nvSpPr>
        <p:spPr>
          <a:xfrm>
            <a:off x="429213" y="2095766"/>
            <a:ext cx="4205139" cy="7836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r>
              <a:rPr lang="ca-ES" b="0" i="0" dirty="0">
                <a:solidFill>
                  <a:srgbClr val="000000"/>
                </a:solidFill>
                <a:effectLst/>
                <a:latin typeface="Open Sans" panose="020B0606030504020204" pitchFamily="34" charset="0"/>
              </a:rPr>
              <a:t>Augmentar la productivitat agrícola i els ingressos dels productors d'aliments de petita escala (Reducció de costos derivats de l'aigua i l'energia)</a:t>
            </a:r>
            <a:endParaRPr lang="ca-ES" dirty="0"/>
          </a:p>
        </p:txBody>
      </p:sp>
      <p:sp>
        <p:nvSpPr>
          <p:cNvPr id="12" name="Google Shape;503;p61">
            <a:extLst>
              <a:ext uri="{FF2B5EF4-FFF2-40B4-BE49-F238E27FC236}">
                <a16:creationId xmlns:a16="http://schemas.microsoft.com/office/drawing/2014/main" id="{27C146F2-FC47-0E9D-DBD5-FD0C060BF80F}"/>
              </a:ext>
            </a:extLst>
          </p:cNvPr>
          <p:cNvSpPr txBox="1">
            <a:spLocks/>
          </p:cNvSpPr>
          <p:nvPr/>
        </p:nvSpPr>
        <p:spPr>
          <a:xfrm>
            <a:off x="1287211" y="1188242"/>
            <a:ext cx="2381893" cy="667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4000"/>
              <a:buFont typeface="Vidaloka"/>
              <a:buNone/>
              <a:defRPr sz="3800" b="0" i="0" u="none" strike="noStrike" cap="none">
                <a:solidFill>
                  <a:schemeClr val="accent1"/>
                </a:solidFill>
                <a:latin typeface="Vidaloka"/>
                <a:ea typeface="Vidaloka"/>
                <a:cs typeface="Vidaloka"/>
                <a:sym typeface="Vidaloka"/>
              </a:defRPr>
            </a:lvl1pPr>
            <a:lvl2pPr marR="0" lvl="1"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9pPr>
          </a:lstStyle>
          <a:p>
            <a:r>
              <a:rPr lang="en-US" dirty="0"/>
              <a:t>ODS 02</a:t>
            </a:r>
          </a:p>
        </p:txBody>
      </p:sp>
      <p:sp>
        <p:nvSpPr>
          <p:cNvPr id="25" name="Google Shape;495;p61">
            <a:extLst>
              <a:ext uri="{FF2B5EF4-FFF2-40B4-BE49-F238E27FC236}">
                <a16:creationId xmlns:a16="http://schemas.microsoft.com/office/drawing/2014/main" id="{1A4A0F4C-0E86-2329-5845-808961111A05}"/>
              </a:ext>
            </a:extLst>
          </p:cNvPr>
          <p:cNvSpPr txBox="1">
            <a:spLocks/>
          </p:cNvSpPr>
          <p:nvPr/>
        </p:nvSpPr>
        <p:spPr>
          <a:xfrm>
            <a:off x="366867" y="3660880"/>
            <a:ext cx="4205139" cy="357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100"/>
              <a:buFont typeface="Montserrat"/>
              <a:buNone/>
              <a:defRPr sz="2400" b="0" i="0" u="none" strike="noStrike" cap="none">
                <a:solidFill>
                  <a:schemeClr val="dk2"/>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9pPr>
          </a:lstStyle>
          <a:p>
            <a:pPr marL="0" indent="0"/>
            <a:r>
              <a:rPr lang="ca-ES" dirty="0"/>
              <a:t>Energia neta i assequible </a:t>
            </a:r>
          </a:p>
        </p:txBody>
      </p:sp>
      <p:sp>
        <p:nvSpPr>
          <p:cNvPr id="26" name="Google Shape;498;p61">
            <a:extLst>
              <a:ext uri="{FF2B5EF4-FFF2-40B4-BE49-F238E27FC236}">
                <a16:creationId xmlns:a16="http://schemas.microsoft.com/office/drawing/2014/main" id="{3581BC3E-03FA-4667-8777-C10A53C5CAEA}"/>
              </a:ext>
            </a:extLst>
          </p:cNvPr>
          <p:cNvSpPr txBox="1">
            <a:spLocks/>
          </p:cNvSpPr>
          <p:nvPr/>
        </p:nvSpPr>
        <p:spPr>
          <a:xfrm>
            <a:off x="366867" y="3973054"/>
            <a:ext cx="4205139" cy="7836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r>
              <a:rPr lang="ca-ES" b="0" i="0" dirty="0">
                <a:solidFill>
                  <a:srgbClr val="000000"/>
                </a:solidFill>
                <a:effectLst/>
                <a:latin typeface="Open Sans" panose="020B0606030504020204" pitchFamily="34" charset="0"/>
              </a:rPr>
              <a:t>Augmentant la producció d'energia renovable en el conjunt de fons d'energia</a:t>
            </a:r>
            <a:endParaRPr lang="ca-ES" dirty="0"/>
          </a:p>
        </p:txBody>
      </p:sp>
      <p:sp>
        <p:nvSpPr>
          <p:cNvPr id="27" name="Google Shape;503;p61">
            <a:extLst>
              <a:ext uri="{FF2B5EF4-FFF2-40B4-BE49-F238E27FC236}">
                <a16:creationId xmlns:a16="http://schemas.microsoft.com/office/drawing/2014/main" id="{D4A2D7D5-023E-F8DD-96C9-6D786FD488AB}"/>
              </a:ext>
            </a:extLst>
          </p:cNvPr>
          <p:cNvSpPr txBox="1">
            <a:spLocks/>
          </p:cNvSpPr>
          <p:nvPr/>
        </p:nvSpPr>
        <p:spPr>
          <a:xfrm>
            <a:off x="1224865" y="3065530"/>
            <a:ext cx="2381893" cy="667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4000"/>
              <a:buFont typeface="Vidaloka"/>
              <a:buNone/>
              <a:defRPr sz="3800" b="0" i="0" u="none" strike="noStrike" cap="none">
                <a:solidFill>
                  <a:schemeClr val="accent1"/>
                </a:solidFill>
                <a:latin typeface="Vidaloka"/>
                <a:ea typeface="Vidaloka"/>
                <a:cs typeface="Vidaloka"/>
                <a:sym typeface="Vidaloka"/>
              </a:defRPr>
            </a:lvl1pPr>
            <a:lvl2pPr marR="0" lvl="1"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9pPr>
          </a:lstStyle>
          <a:p>
            <a:r>
              <a:rPr lang="en-US" dirty="0"/>
              <a:t>ODS 07</a:t>
            </a:r>
          </a:p>
        </p:txBody>
      </p:sp>
      <p:sp>
        <p:nvSpPr>
          <p:cNvPr id="28" name="Google Shape;495;p61">
            <a:extLst>
              <a:ext uri="{FF2B5EF4-FFF2-40B4-BE49-F238E27FC236}">
                <a16:creationId xmlns:a16="http://schemas.microsoft.com/office/drawing/2014/main" id="{91BAF864-A5C1-F517-9C76-3329ECB94163}"/>
              </a:ext>
            </a:extLst>
          </p:cNvPr>
          <p:cNvSpPr txBox="1">
            <a:spLocks/>
          </p:cNvSpPr>
          <p:nvPr/>
        </p:nvSpPr>
        <p:spPr>
          <a:xfrm>
            <a:off x="4412540" y="3695131"/>
            <a:ext cx="4551232" cy="357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100"/>
              <a:buFont typeface="Montserrat"/>
              <a:buNone/>
              <a:defRPr sz="2400" b="0" i="0" u="none" strike="noStrike" cap="none">
                <a:solidFill>
                  <a:schemeClr val="dk2"/>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9pPr>
          </a:lstStyle>
          <a:p>
            <a:pPr marL="0" indent="0"/>
            <a:r>
              <a:rPr lang="ca-ES" dirty="0"/>
              <a:t>Consum i producció responsable </a:t>
            </a:r>
          </a:p>
        </p:txBody>
      </p:sp>
      <p:sp>
        <p:nvSpPr>
          <p:cNvPr id="29" name="Google Shape;498;p61">
            <a:extLst>
              <a:ext uri="{FF2B5EF4-FFF2-40B4-BE49-F238E27FC236}">
                <a16:creationId xmlns:a16="http://schemas.microsoft.com/office/drawing/2014/main" id="{07628F3D-9C40-86CA-005D-BB62CF392CB6}"/>
              </a:ext>
            </a:extLst>
          </p:cNvPr>
          <p:cNvSpPr txBox="1">
            <a:spLocks/>
          </p:cNvSpPr>
          <p:nvPr/>
        </p:nvSpPr>
        <p:spPr>
          <a:xfrm>
            <a:off x="4585587" y="3979981"/>
            <a:ext cx="4205139" cy="7836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r>
              <a:rPr lang="ca-ES" b="0" i="0" dirty="0">
                <a:solidFill>
                  <a:srgbClr val="000000"/>
                </a:solidFill>
                <a:effectLst/>
                <a:latin typeface="Open Sans" panose="020B0606030504020204" pitchFamily="34" charset="0"/>
              </a:rPr>
              <a:t>Adoptant pràctiques sostenibles i fomentant estils de vida en harmonia amb la natura.</a:t>
            </a:r>
            <a:endParaRPr lang="ca-ES" dirty="0"/>
          </a:p>
        </p:txBody>
      </p:sp>
      <p:sp>
        <p:nvSpPr>
          <p:cNvPr id="30" name="Google Shape;503;p61">
            <a:extLst>
              <a:ext uri="{FF2B5EF4-FFF2-40B4-BE49-F238E27FC236}">
                <a16:creationId xmlns:a16="http://schemas.microsoft.com/office/drawing/2014/main" id="{A69EDEEF-8B34-C93A-0026-31BB6CF2BA2E}"/>
              </a:ext>
            </a:extLst>
          </p:cNvPr>
          <p:cNvSpPr txBox="1">
            <a:spLocks/>
          </p:cNvSpPr>
          <p:nvPr/>
        </p:nvSpPr>
        <p:spPr>
          <a:xfrm>
            <a:off x="5443585" y="3072457"/>
            <a:ext cx="2381893" cy="667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4000"/>
              <a:buFont typeface="Vidaloka"/>
              <a:buNone/>
              <a:defRPr sz="3800" b="0" i="0" u="none" strike="noStrike" cap="none">
                <a:solidFill>
                  <a:schemeClr val="accent1"/>
                </a:solidFill>
                <a:latin typeface="Vidaloka"/>
                <a:ea typeface="Vidaloka"/>
                <a:cs typeface="Vidaloka"/>
                <a:sym typeface="Vidaloka"/>
              </a:defRPr>
            </a:lvl1pPr>
            <a:lvl2pPr marR="0" lvl="1"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9pPr>
          </a:lstStyle>
          <a:p>
            <a:r>
              <a:rPr lang="en-US" dirty="0"/>
              <a:t>ODS 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subTitle" idx="1"/>
          </p:nvPr>
        </p:nvSpPr>
        <p:spPr>
          <a:xfrm>
            <a:off x="895950" y="1524000"/>
            <a:ext cx="5497175" cy="276398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ca-ES" dirty="0"/>
          </a:p>
          <a:p>
            <a:pPr marL="0" lvl="0" indent="0" algn="l" rtl="0">
              <a:spcBef>
                <a:spcPts val="0"/>
              </a:spcBef>
              <a:spcAft>
                <a:spcPts val="0"/>
              </a:spcAft>
              <a:buNone/>
            </a:pPr>
            <a:endParaRPr lang="ca-ES" dirty="0"/>
          </a:p>
          <a:p>
            <a:pPr marL="0" lvl="0" indent="0" algn="l" rtl="0">
              <a:spcBef>
                <a:spcPts val="0"/>
              </a:spcBef>
              <a:spcAft>
                <a:spcPts val="0"/>
              </a:spcAft>
              <a:buNone/>
            </a:pPr>
            <a:r>
              <a:rPr lang="ca-ES" dirty="0"/>
              <a:t>Dissenyada per empreses petites i mitjanes, amb un mínim d'un soci. La direcció la poden exercir els socis o altres persones contractades per a desenvolupar les tasques de direcció.</a:t>
            </a:r>
          </a:p>
          <a:p>
            <a:pPr marL="0" lvl="0" indent="0" algn="l" rtl="0">
              <a:spcBef>
                <a:spcPts val="0"/>
              </a:spcBef>
              <a:spcAft>
                <a:spcPts val="0"/>
              </a:spcAft>
              <a:buNone/>
            </a:pPr>
            <a:endParaRPr lang="ca-ES" dirty="0"/>
          </a:p>
          <a:p>
            <a:pPr marL="0" lvl="0" indent="0" algn="l" rtl="0">
              <a:spcBef>
                <a:spcPts val="0"/>
              </a:spcBef>
              <a:spcAft>
                <a:spcPts val="0"/>
              </a:spcAft>
              <a:buNone/>
            </a:pPr>
            <a:r>
              <a:rPr lang="ca-ES" dirty="0"/>
              <a:t>En aquest cas la responsabilitat dels socis estarà limitada al capital aportat. El capital social mínim és de 3.000€ i està dividit en participacions nominals. Inicialment, aportarem un capital de 50.000€ dividit en accions al 50%.</a:t>
            </a:r>
          </a:p>
          <a:p>
            <a:pPr marL="0" lvl="0" indent="0" algn="l" rtl="0">
              <a:spcBef>
                <a:spcPts val="0"/>
              </a:spcBef>
              <a:spcAft>
                <a:spcPts val="0"/>
              </a:spcAft>
              <a:buNone/>
            </a:pPr>
            <a:endParaRPr lang="ca-ES" dirty="0"/>
          </a:p>
          <a:p>
            <a:pPr marL="0" lvl="0" indent="0" algn="l" rtl="0">
              <a:spcBef>
                <a:spcPts val="0"/>
              </a:spcBef>
              <a:spcAft>
                <a:spcPts val="0"/>
              </a:spcAft>
              <a:buNone/>
            </a:pPr>
            <a:r>
              <a:rPr lang="ca-ES" dirty="0"/>
              <a:t> Posteriorment ingressarem al registre mercantil d'Andorra.</a:t>
            </a:r>
          </a:p>
        </p:txBody>
      </p:sp>
      <p:sp>
        <p:nvSpPr>
          <p:cNvPr id="547" name="Google Shape;547;p65"/>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Forma Jurídica</a:t>
            </a:r>
            <a:endParaRPr dirty="0"/>
          </a:p>
        </p:txBody>
      </p:sp>
      <p:sp>
        <p:nvSpPr>
          <p:cNvPr id="2" name="Google Shape;503;p61">
            <a:extLst>
              <a:ext uri="{FF2B5EF4-FFF2-40B4-BE49-F238E27FC236}">
                <a16:creationId xmlns:a16="http://schemas.microsoft.com/office/drawing/2014/main" id="{0E8F5A3E-5A64-D7E9-C48C-76C55D6D60FD}"/>
              </a:ext>
            </a:extLst>
          </p:cNvPr>
          <p:cNvSpPr txBox="1">
            <a:spLocks/>
          </p:cNvSpPr>
          <p:nvPr/>
        </p:nvSpPr>
        <p:spPr>
          <a:xfrm>
            <a:off x="895951" y="1243661"/>
            <a:ext cx="5019940" cy="667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4000"/>
              <a:buFont typeface="Vidaloka"/>
              <a:buNone/>
              <a:defRPr sz="3800" b="0" i="0" u="none" strike="noStrike" cap="none">
                <a:solidFill>
                  <a:schemeClr val="accent1"/>
                </a:solidFill>
                <a:latin typeface="Vidaloka"/>
                <a:ea typeface="Vidaloka"/>
                <a:cs typeface="Vidaloka"/>
                <a:sym typeface="Vidaloka"/>
              </a:defRPr>
            </a:lvl1pPr>
            <a:lvl2pPr marR="0" lvl="1"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9pPr>
          </a:lstStyle>
          <a:p>
            <a:r>
              <a:rPr lang="ca-ES" b="1" i="0" dirty="0">
                <a:solidFill>
                  <a:srgbClr val="333333"/>
                </a:solidFill>
                <a:effectLst/>
                <a:latin typeface="OpenSansRegular"/>
              </a:rPr>
              <a:t>Societat limitada</a:t>
            </a:r>
            <a:r>
              <a:rPr lang="ca-ES" b="1" dirty="0">
                <a:solidFill>
                  <a:srgbClr val="333333"/>
                </a:solidFill>
                <a:latin typeface="OpenSansRegular"/>
              </a:rPr>
              <a:t> (</a:t>
            </a:r>
            <a:r>
              <a:rPr lang="en-US" b="1" dirty="0">
                <a:solidFill>
                  <a:srgbClr val="333333"/>
                </a:solidFill>
                <a:latin typeface="OpenSansRegular"/>
              </a:rPr>
              <a:t>SL)</a:t>
            </a:r>
            <a:endParaRPr lang="en-US" dirty="0"/>
          </a:p>
        </p:txBody>
      </p:sp>
      <p:grpSp>
        <p:nvGrpSpPr>
          <p:cNvPr id="3" name="Google Shape;1727;p124">
            <a:extLst>
              <a:ext uri="{FF2B5EF4-FFF2-40B4-BE49-F238E27FC236}">
                <a16:creationId xmlns:a16="http://schemas.microsoft.com/office/drawing/2014/main" id="{19528D18-438C-B4C7-4A3E-27C7C101DD3B}"/>
              </a:ext>
            </a:extLst>
          </p:cNvPr>
          <p:cNvGrpSpPr/>
          <p:nvPr/>
        </p:nvGrpSpPr>
        <p:grpSpPr>
          <a:xfrm>
            <a:off x="6774438" y="883503"/>
            <a:ext cx="1607562" cy="1610315"/>
            <a:chOff x="4107438" y="2753866"/>
            <a:chExt cx="324803" cy="323903"/>
          </a:xfrm>
        </p:grpSpPr>
        <p:sp>
          <p:nvSpPr>
            <p:cNvPr id="4" name="Google Shape;1728;p124">
              <a:extLst>
                <a:ext uri="{FF2B5EF4-FFF2-40B4-BE49-F238E27FC236}">
                  <a16:creationId xmlns:a16="http://schemas.microsoft.com/office/drawing/2014/main" id="{66F61924-E978-0D27-506B-E400ADC6057D}"/>
                </a:ext>
              </a:extLst>
            </p:cNvPr>
            <p:cNvSpPr/>
            <p:nvPr/>
          </p:nvSpPr>
          <p:spPr>
            <a:xfrm>
              <a:off x="4174582" y="2753866"/>
              <a:ext cx="118575" cy="116755"/>
            </a:xfrm>
            <a:custGeom>
              <a:avLst/>
              <a:gdLst/>
              <a:ahLst/>
              <a:cxnLst/>
              <a:rect l="l" t="t" r="r" b="b"/>
              <a:pathLst>
                <a:path w="6059" h="5966" extrusionOk="0">
                  <a:moveTo>
                    <a:pt x="4641" y="0"/>
                  </a:moveTo>
                  <a:cubicBezTo>
                    <a:pt x="4517" y="0"/>
                    <a:pt x="4392" y="47"/>
                    <a:pt x="4294" y="140"/>
                  </a:cubicBezTo>
                  <a:lnTo>
                    <a:pt x="187" y="4257"/>
                  </a:lnTo>
                  <a:cubicBezTo>
                    <a:pt x="0" y="4444"/>
                    <a:pt x="0" y="4748"/>
                    <a:pt x="187" y="4944"/>
                  </a:cubicBezTo>
                  <a:lnTo>
                    <a:pt x="1069" y="5826"/>
                  </a:lnTo>
                  <a:cubicBezTo>
                    <a:pt x="1162" y="5919"/>
                    <a:pt x="1284" y="5966"/>
                    <a:pt x="1408" y="5966"/>
                  </a:cubicBezTo>
                  <a:cubicBezTo>
                    <a:pt x="1532" y="5966"/>
                    <a:pt x="1657" y="5919"/>
                    <a:pt x="1755" y="5826"/>
                  </a:cubicBezTo>
                  <a:lnTo>
                    <a:pt x="5863" y="1718"/>
                  </a:lnTo>
                  <a:cubicBezTo>
                    <a:pt x="6059" y="1522"/>
                    <a:pt x="6059" y="1218"/>
                    <a:pt x="5863" y="1032"/>
                  </a:cubicBezTo>
                  <a:lnTo>
                    <a:pt x="4980" y="140"/>
                  </a:lnTo>
                  <a:cubicBezTo>
                    <a:pt x="4887" y="47"/>
                    <a:pt x="4765" y="0"/>
                    <a:pt x="4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1729;p124">
              <a:extLst>
                <a:ext uri="{FF2B5EF4-FFF2-40B4-BE49-F238E27FC236}">
                  <a16:creationId xmlns:a16="http://schemas.microsoft.com/office/drawing/2014/main" id="{70E25D3C-E65B-FF69-BE2F-49A109337344}"/>
                </a:ext>
              </a:extLst>
            </p:cNvPr>
            <p:cNvSpPr/>
            <p:nvPr/>
          </p:nvSpPr>
          <p:spPr>
            <a:xfrm>
              <a:off x="4291219" y="2870699"/>
              <a:ext cx="118575" cy="116755"/>
            </a:xfrm>
            <a:custGeom>
              <a:avLst/>
              <a:gdLst/>
              <a:ahLst/>
              <a:cxnLst/>
              <a:rect l="l" t="t" r="r" b="b"/>
              <a:pathLst>
                <a:path w="6059" h="5966" extrusionOk="0">
                  <a:moveTo>
                    <a:pt x="4644" y="1"/>
                  </a:moveTo>
                  <a:cubicBezTo>
                    <a:pt x="4520" y="1"/>
                    <a:pt x="4397" y="47"/>
                    <a:pt x="4304" y="140"/>
                  </a:cubicBezTo>
                  <a:lnTo>
                    <a:pt x="187" y="4257"/>
                  </a:lnTo>
                  <a:cubicBezTo>
                    <a:pt x="1" y="4444"/>
                    <a:pt x="1" y="4748"/>
                    <a:pt x="187" y="4944"/>
                  </a:cubicBezTo>
                  <a:lnTo>
                    <a:pt x="1079" y="5826"/>
                  </a:lnTo>
                  <a:cubicBezTo>
                    <a:pt x="1172" y="5919"/>
                    <a:pt x="1295" y="5966"/>
                    <a:pt x="1418" y="5966"/>
                  </a:cubicBezTo>
                  <a:cubicBezTo>
                    <a:pt x="1542" y="5966"/>
                    <a:pt x="1667" y="5919"/>
                    <a:pt x="1765" y="5826"/>
                  </a:cubicBezTo>
                  <a:lnTo>
                    <a:pt x="5873" y="1719"/>
                  </a:lnTo>
                  <a:cubicBezTo>
                    <a:pt x="6059" y="1522"/>
                    <a:pt x="6059" y="1219"/>
                    <a:pt x="5873" y="1032"/>
                  </a:cubicBezTo>
                  <a:lnTo>
                    <a:pt x="4990" y="140"/>
                  </a:lnTo>
                  <a:cubicBezTo>
                    <a:pt x="4892" y="47"/>
                    <a:pt x="4767" y="1"/>
                    <a:pt x="4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1730;p124">
              <a:extLst>
                <a:ext uri="{FF2B5EF4-FFF2-40B4-BE49-F238E27FC236}">
                  <a16:creationId xmlns:a16="http://schemas.microsoft.com/office/drawing/2014/main" id="{C5D8900F-8CFE-04C8-4EB9-3FDF8D29D675}"/>
                </a:ext>
              </a:extLst>
            </p:cNvPr>
            <p:cNvSpPr/>
            <p:nvPr/>
          </p:nvSpPr>
          <p:spPr>
            <a:xfrm>
              <a:off x="4220807" y="2799386"/>
              <a:ext cx="142567" cy="142548"/>
            </a:xfrm>
            <a:custGeom>
              <a:avLst/>
              <a:gdLst/>
              <a:ahLst/>
              <a:cxnLst/>
              <a:rect l="l" t="t" r="r" b="b"/>
              <a:pathLst>
                <a:path w="7285" h="7284" extrusionOk="0">
                  <a:moveTo>
                    <a:pt x="4255" y="0"/>
                  </a:moveTo>
                  <a:cubicBezTo>
                    <a:pt x="4206" y="69"/>
                    <a:pt x="60" y="4216"/>
                    <a:pt x="1" y="4255"/>
                  </a:cubicBezTo>
                  <a:cubicBezTo>
                    <a:pt x="1491" y="4637"/>
                    <a:pt x="2648" y="5804"/>
                    <a:pt x="3030" y="7284"/>
                  </a:cubicBezTo>
                  <a:cubicBezTo>
                    <a:pt x="3089" y="7225"/>
                    <a:pt x="7235" y="3078"/>
                    <a:pt x="7284" y="3029"/>
                  </a:cubicBezTo>
                  <a:cubicBezTo>
                    <a:pt x="6569" y="2824"/>
                    <a:pt x="5902" y="2451"/>
                    <a:pt x="5363" y="1931"/>
                  </a:cubicBezTo>
                  <a:cubicBezTo>
                    <a:pt x="4745" y="1314"/>
                    <a:pt x="4412" y="520"/>
                    <a:pt x="4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1731;p124">
              <a:extLst>
                <a:ext uri="{FF2B5EF4-FFF2-40B4-BE49-F238E27FC236}">
                  <a16:creationId xmlns:a16="http://schemas.microsoft.com/office/drawing/2014/main" id="{825E1006-C2E9-D821-A54D-BE24D9E52929}"/>
                </a:ext>
              </a:extLst>
            </p:cNvPr>
            <p:cNvSpPr/>
            <p:nvPr/>
          </p:nvSpPr>
          <p:spPr>
            <a:xfrm>
              <a:off x="4107438" y="2902402"/>
              <a:ext cx="153116" cy="152196"/>
            </a:xfrm>
            <a:custGeom>
              <a:avLst/>
              <a:gdLst/>
              <a:ahLst/>
              <a:cxnLst/>
              <a:rect l="l" t="t" r="r" b="b"/>
              <a:pathLst>
                <a:path w="7824" h="7777" extrusionOk="0">
                  <a:moveTo>
                    <a:pt x="5764" y="0"/>
                  </a:moveTo>
                  <a:lnTo>
                    <a:pt x="186" y="5578"/>
                  </a:lnTo>
                  <a:cubicBezTo>
                    <a:pt x="0" y="5765"/>
                    <a:pt x="0" y="6069"/>
                    <a:pt x="186" y="6265"/>
                  </a:cubicBezTo>
                  <a:lnTo>
                    <a:pt x="1559" y="7637"/>
                  </a:lnTo>
                  <a:cubicBezTo>
                    <a:pt x="1652" y="7730"/>
                    <a:pt x="1775" y="7777"/>
                    <a:pt x="1898" y="7777"/>
                  </a:cubicBezTo>
                  <a:cubicBezTo>
                    <a:pt x="2022" y="7777"/>
                    <a:pt x="2147" y="7730"/>
                    <a:pt x="2245" y="7637"/>
                  </a:cubicBezTo>
                  <a:lnTo>
                    <a:pt x="7823" y="2059"/>
                  </a:lnTo>
                  <a:cubicBezTo>
                    <a:pt x="7509" y="1079"/>
                    <a:pt x="6745" y="304"/>
                    <a:pt x="5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1732;p124">
              <a:extLst>
                <a:ext uri="{FF2B5EF4-FFF2-40B4-BE49-F238E27FC236}">
                  <a16:creationId xmlns:a16="http://schemas.microsoft.com/office/drawing/2014/main" id="{EEF88770-BC47-5C29-EEDC-4AA2E618C810}"/>
                </a:ext>
              </a:extLst>
            </p:cNvPr>
            <p:cNvSpPr/>
            <p:nvPr/>
          </p:nvSpPr>
          <p:spPr>
            <a:xfrm>
              <a:off x="4299282" y="3020762"/>
              <a:ext cx="132959" cy="57007"/>
            </a:xfrm>
            <a:custGeom>
              <a:avLst/>
              <a:gdLst/>
              <a:ahLst/>
              <a:cxnLst/>
              <a:rect l="l" t="t" r="r" b="b"/>
              <a:pathLst>
                <a:path w="6794" h="2913" extrusionOk="0">
                  <a:moveTo>
                    <a:pt x="5351" y="1"/>
                  </a:moveTo>
                  <a:cubicBezTo>
                    <a:pt x="5345" y="1"/>
                    <a:pt x="5339" y="1"/>
                    <a:pt x="5333" y="1"/>
                  </a:cubicBezTo>
                  <a:lnTo>
                    <a:pt x="1451" y="1"/>
                  </a:lnTo>
                  <a:cubicBezTo>
                    <a:pt x="657" y="1"/>
                    <a:pt x="0" y="648"/>
                    <a:pt x="0" y="1452"/>
                  </a:cubicBezTo>
                  <a:lnTo>
                    <a:pt x="0" y="2422"/>
                  </a:lnTo>
                  <a:cubicBezTo>
                    <a:pt x="0" y="2697"/>
                    <a:pt x="226" y="2912"/>
                    <a:pt x="490" y="2912"/>
                  </a:cubicBezTo>
                  <a:lnTo>
                    <a:pt x="6304" y="2912"/>
                  </a:lnTo>
                  <a:cubicBezTo>
                    <a:pt x="6578" y="2912"/>
                    <a:pt x="6794" y="2697"/>
                    <a:pt x="6794" y="2422"/>
                  </a:cubicBezTo>
                  <a:lnTo>
                    <a:pt x="6794" y="1452"/>
                  </a:lnTo>
                  <a:cubicBezTo>
                    <a:pt x="6794" y="654"/>
                    <a:pt x="6147" y="1"/>
                    <a:pt x="5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727567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92"/>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Departaments</a:t>
            </a:r>
            <a:endParaRPr dirty="0"/>
          </a:p>
        </p:txBody>
      </p:sp>
      <p:cxnSp>
        <p:nvCxnSpPr>
          <p:cNvPr id="970" name="Google Shape;970;p92"/>
          <p:cNvCxnSpPr>
            <a:stCxn id="971" idx="3"/>
            <a:endCxn id="972" idx="1"/>
          </p:cNvCxnSpPr>
          <p:nvPr/>
        </p:nvCxnSpPr>
        <p:spPr>
          <a:xfrm>
            <a:off x="3346950" y="2937480"/>
            <a:ext cx="909300" cy="0"/>
          </a:xfrm>
          <a:prstGeom prst="straightConnector1">
            <a:avLst/>
          </a:prstGeom>
          <a:noFill/>
          <a:ln w="28575" cap="flat" cmpd="sng">
            <a:solidFill>
              <a:schemeClr val="accent1"/>
            </a:solidFill>
            <a:prstDash val="solid"/>
            <a:round/>
            <a:headEnd type="none" w="med" len="med"/>
            <a:tailEnd type="none" w="med" len="med"/>
          </a:ln>
        </p:spPr>
      </p:cxnSp>
      <p:grpSp>
        <p:nvGrpSpPr>
          <p:cNvPr id="975" name="Google Shape;975;p92"/>
          <p:cNvGrpSpPr/>
          <p:nvPr/>
        </p:nvGrpSpPr>
        <p:grpSpPr>
          <a:xfrm>
            <a:off x="4434862" y="2801607"/>
            <a:ext cx="248561" cy="271745"/>
            <a:chOff x="1687350" y="3618725"/>
            <a:chExt cx="270175" cy="295375"/>
          </a:xfrm>
        </p:grpSpPr>
        <p:sp>
          <p:nvSpPr>
            <p:cNvPr id="976" name="Google Shape;976;p92"/>
            <p:cNvSpPr/>
            <p:nvPr/>
          </p:nvSpPr>
          <p:spPr>
            <a:xfrm>
              <a:off x="1829900" y="3808550"/>
              <a:ext cx="18150" cy="35450"/>
            </a:xfrm>
            <a:custGeom>
              <a:avLst/>
              <a:gdLst/>
              <a:ahLst/>
              <a:cxnLst/>
              <a:rect l="l" t="t" r="r" b="b"/>
              <a:pathLst>
                <a:path w="726" h="1418" extrusionOk="0">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7" name="Google Shape;977;p92"/>
            <p:cNvSpPr/>
            <p:nvPr/>
          </p:nvSpPr>
          <p:spPr>
            <a:xfrm>
              <a:off x="1795250" y="3755775"/>
              <a:ext cx="18125" cy="35450"/>
            </a:xfrm>
            <a:custGeom>
              <a:avLst/>
              <a:gdLst/>
              <a:ahLst/>
              <a:cxnLst/>
              <a:rect l="l" t="t" r="r" b="b"/>
              <a:pathLst>
                <a:path w="725" h="1418" extrusionOk="0">
                  <a:moveTo>
                    <a:pt x="378" y="0"/>
                  </a:moveTo>
                  <a:cubicBezTo>
                    <a:pt x="189" y="0"/>
                    <a:pt x="0" y="158"/>
                    <a:pt x="0" y="378"/>
                  </a:cubicBezTo>
                  <a:lnTo>
                    <a:pt x="0" y="1071"/>
                  </a:lnTo>
                  <a:cubicBezTo>
                    <a:pt x="0" y="1260"/>
                    <a:pt x="189" y="1418"/>
                    <a:pt x="378" y="1418"/>
                  </a:cubicBezTo>
                  <a:lnTo>
                    <a:pt x="725" y="1418"/>
                  </a:lnTo>
                  <a:lnTo>
                    <a:pt x="7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8" name="Google Shape;978;p92"/>
            <p:cNvSpPr/>
            <p:nvPr/>
          </p:nvSpPr>
          <p:spPr>
            <a:xfrm>
              <a:off x="1687350" y="3618725"/>
              <a:ext cx="270175" cy="295375"/>
            </a:xfrm>
            <a:custGeom>
              <a:avLst/>
              <a:gdLst/>
              <a:ahLst/>
              <a:cxnLst/>
              <a:rect l="l" t="t" r="r" b="b"/>
              <a:pathLst>
                <a:path w="10807" h="11815" extrusionOk="0">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80" name="Google Shape;980;p92"/>
          <p:cNvSpPr/>
          <p:nvPr/>
        </p:nvSpPr>
        <p:spPr>
          <a:xfrm>
            <a:off x="2946278" y="2805358"/>
            <a:ext cx="230027" cy="264243"/>
          </a:xfrm>
          <a:custGeom>
            <a:avLst/>
            <a:gdLst/>
            <a:ahLst/>
            <a:cxnLst/>
            <a:rect l="l" t="t" r="r" b="b"/>
            <a:pathLst>
              <a:path w="11059" h="12704" extrusionOk="0">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cxnSp>
        <p:nvCxnSpPr>
          <p:cNvPr id="984" name="Google Shape;984;p92"/>
          <p:cNvCxnSpPr>
            <a:endCxn id="971" idx="1"/>
          </p:cNvCxnSpPr>
          <p:nvPr/>
        </p:nvCxnSpPr>
        <p:spPr>
          <a:xfrm>
            <a:off x="1848150" y="2927880"/>
            <a:ext cx="906000" cy="9600"/>
          </a:xfrm>
          <a:prstGeom prst="straightConnector1">
            <a:avLst/>
          </a:prstGeom>
          <a:noFill/>
          <a:ln w="28575" cap="flat" cmpd="sng">
            <a:solidFill>
              <a:schemeClr val="accent1"/>
            </a:solidFill>
            <a:prstDash val="solid"/>
            <a:round/>
            <a:headEnd type="none" w="med" len="med"/>
            <a:tailEnd type="none" w="med" len="med"/>
          </a:ln>
        </p:spPr>
      </p:cxnSp>
      <p:cxnSp>
        <p:nvCxnSpPr>
          <p:cNvPr id="988" name="Google Shape;988;p92"/>
          <p:cNvCxnSpPr>
            <a:stCxn id="972" idx="3"/>
            <a:endCxn id="986" idx="1"/>
          </p:cNvCxnSpPr>
          <p:nvPr/>
        </p:nvCxnSpPr>
        <p:spPr>
          <a:xfrm>
            <a:off x="4849162" y="2937480"/>
            <a:ext cx="921900" cy="0"/>
          </a:xfrm>
          <a:prstGeom prst="straightConnector1">
            <a:avLst/>
          </a:prstGeom>
          <a:noFill/>
          <a:ln w="28575" cap="flat" cmpd="sng">
            <a:solidFill>
              <a:schemeClr val="accent1"/>
            </a:solidFill>
            <a:prstDash val="solid"/>
            <a:round/>
            <a:headEnd type="none" w="med" len="med"/>
            <a:tailEnd type="none" w="med" len="med"/>
          </a:ln>
        </p:spPr>
      </p:cxnSp>
      <p:sp>
        <p:nvSpPr>
          <p:cNvPr id="989" name="Google Shape;989;p92"/>
          <p:cNvSpPr/>
          <p:nvPr/>
        </p:nvSpPr>
        <p:spPr>
          <a:xfrm>
            <a:off x="5914989" y="2824069"/>
            <a:ext cx="290377" cy="226822"/>
          </a:xfrm>
          <a:custGeom>
            <a:avLst/>
            <a:gdLst/>
            <a:ahLst/>
            <a:cxnLst/>
            <a:rect l="l" t="t" r="r" b="b"/>
            <a:pathLst>
              <a:path w="12665" h="9893" extrusionOk="0">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7" name="Google Shape;987;p92"/>
          <p:cNvSpPr txBox="1"/>
          <p:nvPr/>
        </p:nvSpPr>
        <p:spPr>
          <a:xfrm>
            <a:off x="-320883" y="1449992"/>
            <a:ext cx="3583841" cy="317125"/>
          </a:xfrm>
          <a:prstGeom prst="rect">
            <a:avLst/>
          </a:prstGeom>
          <a:noFill/>
          <a:ln>
            <a:noFill/>
          </a:ln>
        </p:spPr>
        <p:txBody>
          <a:bodyPr spcFirstLastPara="1" wrap="square" lIns="0" tIns="0" rIns="0" bIns="0" anchor="t" anchorCtr="0">
            <a:noAutofit/>
          </a:bodyPr>
          <a:lstStyle/>
          <a:p>
            <a:pPr lvl="0" algn="ctr"/>
            <a:r>
              <a:rPr lang="ca-ES" sz="2000" dirty="0">
                <a:solidFill>
                  <a:schemeClr val="accent1"/>
                </a:solidFill>
                <a:latin typeface="Vidaloka"/>
                <a:ea typeface="Vidaloka"/>
                <a:cs typeface="Vidaloka"/>
                <a:sym typeface="Vidaloka"/>
              </a:rPr>
              <a:t>Departament</a:t>
            </a:r>
            <a:r>
              <a:rPr lang="ca-ES" sz="2400" dirty="0">
                <a:solidFill>
                  <a:schemeClr val="accent1"/>
                </a:solidFill>
                <a:latin typeface="Vidaloka"/>
                <a:ea typeface="Vidaloka"/>
                <a:cs typeface="Vidaloka"/>
                <a:sym typeface="Vidaloka"/>
              </a:rPr>
              <a:t> </a:t>
            </a:r>
            <a:r>
              <a:rPr lang="ca-ES" sz="2000" dirty="0">
                <a:solidFill>
                  <a:schemeClr val="accent1"/>
                </a:solidFill>
                <a:latin typeface="Vidaloka"/>
                <a:ea typeface="Vidaloka"/>
                <a:cs typeface="Vidaloka"/>
                <a:sym typeface="Vidaloka"/>
              </a:rPr>
              <a:t>financer</a:t>
            </a:r>
            <a:endParaRPr lang="ca-ES" sz="2400" dirty="0">
              <a:solidFill>
                <a:schemeClr val="accent1"/>
              </a:solidFill>
              <a:latin typeface="Vidaloka"/>
              <a:ea typeface="Vidaloka"/>
              <a:cs typeface="Vidaloka"/>
              <a:sym typeface="Vidaloka"/>
            </a:endParaRPr>
          </a:p>
        </p:txBody>
      </p:sp>
      <p:sp>
        <p:nvSpPr>
          <p:cNvPr id="990" name="Google Shape;990;p92"/>
          <p:cNvSpPr txBox="1"/>
          <p:nvPr/>
        </p:nvSpPr>
        <p:spPr>
          <a:xfrm>
            <a:off x="170955" y="1852844"/>
            <a:ext cx="2683360" cy="545400"/>
          </a:xfrm>
          <a:prstGeom prst="rect">
            <a:avLst/>
          </a:prstGeom>
          <a:noFill/>
          <a:ln>
            <a:noFill/>
          </a:ln>
        </p:spPr>
        <p:txBody>
          <a:bodyPr spcFirstLastPara="1" wrap="square" lIns="0" tIns="0" rIns="91425" bIns="91425" anchor="t" anchorCtr="0">
            <a:noAutofit/>
          </a:bodyPr>
          <a:lstStyle/>
          <a:p>
            <a:pPr lvl="0" algn="ctr">
              <a:buClr>
                <a:schemeClr val="dk2"/>
              </a:buClr>
              <a:buSzPts val="1100"/>
            </a:pPr>
            <a:r>
              <a:rPr lang="ca-ES" sz="1200" dirty="0">
                <a:solidFill>
                  <a:schemeClr val="dk1"/>
                </a:solidFill>
                <a:latin typeface="Montserrat"/>
                <a:ea typeface="Montserrat"/>
                <a:cs typeface="Montserrat"/>
                <a:sym typeface="Montserrat"/>
              </a:rPr>
              <a:t>Obtenir recursos financers i prendre les decisions de viabilitat d'un projecte.</a:t>
            </a:r>
          </a:p>
        </p:txBody>
      </p:sp>
      <p:cxnSp>
        <p:nvCxnSpPr>
          <p:cNvPr id="991" name="Google Shape;991;p92"/>
          <p:cNvCxnSpPr>
            <a:stCxn id="986" idx="3"/>
            <a:endCxn id="992" idx="1"/>
          </p:cNvCxnSpPr>
          <p:nvPr/>
        </p:nvCxnSpPr>
        <p:spPr>
          <a:xfrm>
            <a:off x="6363803" y="2937480"/>
            <a:ext cx="933900" cy="0"/>
          </a:xfrm>
          <a:prstGeom prst="straightConnector1">
            <a:avLst/>
          </a:prstGeom>
          <a:noFill/>
          <a:ln w="28575" cap="flat" cmpd="sng">
            <a:solidFill>
              <a:schemeClr val="accent1"/>
            </a:solidFill>
            <a:prstDash val="solid"/>
            <a:round/>
            <a:headEnd type="none" w="med" len="med"/>
            <a:tailEnd type="none" w="med" len="med"/>
          </a:ln>
        </p:spPr>
      </p:cxnSp>
      <p:grpSp>
        <p:nvGrpSpPr>
          <p:cNvPr id="998" name="Google Shape;998;p92"/>
          <p:cNvGrpSpPr/>
          <p:nvPr/>
        </p:nvGrpSpPr>
        <p:grpSpPr>
          <a:xfrm>
            <a:off x="1399481" y="2808126"/>
            <a:ext cx="278935" cy="258707"/>
            <a:chOff x="1399485" y="2808126"/>
            <a:chExt cx="278935" cy="258707"/>
          </a:xfrm>
        </p:grpSpPr>
        <p:sp>
          <p:nvSpPr>
            <p:cNvPr id="999" name="Google Shape;999;p92"/>
            <p:cNvSpPr/>
            <p:nvPr/>
          </p:nvSpPr>
          <p:spPr>
            <a:xfrm>
              <a:off x="1489092" y="2876771"/>
              <a:ext cx="189328" cy="190062"/>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0" name="Google Shape;1000;p92"/>
            <p:cNvSpPr/>
            <p:nvPr/>
          </p:nvSpPr>
          <p:spPr>
            <a:xfrm>
              <a:off x="1400219" y="2808126"/>
              <a:ext cx="146692" cy="68667"/>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1" name="Google Shape;1001;p92"/>
            <p:cNvSpPr/>
            <p:nvPr/>
          </p:nvSpPr>
          <p:spPr>
            <a:xfrm>
              <a:off x="1400219" y="2879660"/>
              <a:ext cx="101166" cy="54929"/>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2" name="Google Shape;1002;p92"/>
            <p:cNvSpPr/>
            <p:nvPr/>
          </p:nvSpPr>
          <p:spPr>
            <a:xfrm>
              <a:off x="1400219" y="2992386"/>
              <a:ext cx="97565" cy="54929"/>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3" name="Google Shape;1003;p92"/>
            <p:cNvSpPr/>
            <p:nvPr/>
          </p:nvSpPr>
          <p:spPr>
            <a:xfrm>
              <a:off x="1399485" y="2936012"/>
              <a:ext cx="71557" cy="55663"/>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06" name="Google Shape;1006;p92"/>
          <p:cNvGrpSpPr/>
          <p:nvPr/>
        </p:nvGrpSpPr>
        <p:grpSpPr>
          <a:xfrm>
            <a:off x="7456127" y="2799708"/>
            <a:ext cx="278955" cy="275558"/>
            <a:chOff x="-59869425" y="4102225"/>
            <a:chExt cx="319025" cy="315175"/>
          </a:xfrm>
        </p:grpSpPr>
        <p:sp>
          <p:nvSpPr>
            <p:cNvPr id="1007" name="Google Shape;1007;p92"/>
            <p:cNvSpPr/>
            <p:nvPr/>
          </p:nvSpPr>
          <p:spPr>
            <a:xfrm>
              <a:off x="-59869425" y="4102225"/>
              <a:ext cx="149675" cy="256825"/>
            </a:xfrm>
            <a:custGeom>
              <a:avLst/>
              <a:gdLst/>
              <a:ahLst/>
              <a:cxnLst/>
              <a:rect l="l" t="t" r="r" b="b"/>
              <a:pathLst>
                <a:path w="5987" h="10273" extrusionOk="0">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8" name="Google Shape;1008;p92"/>
            <p:cNvSpPr/>
            <p:nvPr/>
          </p:nvSpPr>
          <p:spPr>
            <a:xfrm>
              <a:off x="-59811125" y="4322075"/>
              <a:ext cx="201650" cy="95325"/>
            </a:xfrm>
            <a:custGeom>
              <a:avLst/>
              <a:gdLst/>
              <a:ahLst/>
              <a:cxnLst/>
              <a:rect l="l" t="t" r="r" b="b"/>
              <a:pathLst>
                <a:path w="8066" h="3813" extrusionOk="0">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9" name="Google Shape;1009;p92"/>
            <p:cNvSpPr/>
            <p:nvPr/>
          </p:nvSpPr>
          <p:spPr>
            <a:xfrm>
              <a:off x="-59700075" y="4102225"/>
              <a:ext cx="149675" cy="256525"/>
            </a:xfrm>
            <a:custGeom>
              <a:avLst/>
              <a:gdLst/>
              <a:ahLst/>
              <a:cxnLst/>
              <a:rect l="l" t="t" r="r" b="b"/>
              <a:pathLst>
                <a:path w="5987" h="10261" extrusionOk="0">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0" name="Google Shape;1010;p92"/>
            <p:cNvSpPr/>
            <p:nvPr/>
          </p:nvSpPr>
          <p:spPr>
            <a:xfrm>
              <a:off x="-59742600" y="4187375"/>
              <a:ext cx="63025" cy="144950"/>
            </a:xfrm>
            <a:custGeom>
              <a:avLst/>
              <a:gdLst/>
              <a:ahLst/>
              <a:cxnLst/>
              <a:rect l="l" t="t" r="r" b="b"/>
              <a:pathLst>
                <a:path w="2521" h="5798" extrusionOk="0">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2" name="Google Shape;987;p92">
            <a:extLst>
              <a:ext uri="{FF2B5EF4-FFF2-40B4-BE49-F238E27FC236}">
                <a16:creationId xmlns:a16="http://schemas.microsoft.com/office/drawing/2014/main" id="{B594E7DF-2057-CEB2-7385-388472E28A19}"/>
              </a:ext>
            </a:extLst>
          </p:cNvPr>
          <p:cNvSpPr txBox="1"/>
          <p:nvPr/>
        </p:nvSpPr>
        <p:spPr>
          <a:xfrm>
            <a:off x="2544496" y="1453031"/>
            <a:ext cx="3583841" cy="317125"/>
          </a:xfrm>
          <a:prstGeom prst="rect">
            <a:avLst/>
          </a:prstGeom>
          <a:noFill/>
          <a:ln>
            <a:noFill/>
          </a:ln>
        </p:spPr>
        <p:txBody>
          <a:bodyPr spcFirstLastPara="1" wrap="square" lIns="0" tIns="0" rIns="0" bIns="0" anchor="t" anchorCtr="0">
            <a:noAutofit/>
          </a:bodyPr>
          <a:lstStyle/>
          <a:p>
            <a:pPr lvl="0" algn="ctr"/>
            <a:r>
              <a:rPr lang="ca-ES" sz="2000" dirty="0">
                <a:solidFill>
                  <a:schemeClr val="accent1"/>
                </a:solidFill>
                <a:latin typeface="Vidaloka"/>
                <a:ea typeface="Vidaloka"/>
                <a:cs typeface="Vidaloka"/>
                <a:sym typeface="Vidaloka"/>
              </a:rPr>
              <a:t>Departament comercial</a:t>
            </a:r>
          </a:p>
        </p:txBody>
      </p:sp>
      <p:sp>
        <p:nvSpPr>
          <p:cNvPr id="13" name="Google Shape;990;p92">
            <a:extLst>
              <a:ext uri="{FF2B5EF4-FFF2-40B4-BE49-F238E27FC236}">
                <a16:creationId xmlns:a16="http://schemas.microsoft.com/office/drawing/2014/main" id="{38BFC55F-3255-49FD-85D1-3C7A1AC9D0ED}"/>
              </a:ext>
            </a:extLst>
          </p:cNvPr>
          <p:cNvSpPr txBox="1"/>
          <p:nvPr/>
        </p:nvSpPr>
        <p:spPr>
          <a:xfrm>
            <a:off x="2887837" y="1856238"/>
            <a:ext cx="3021500" cy="545400"/>
          </a:xfrm>
          <a:prstGeom prst="rect">
            <a:avLst/>
          </a:prstGeom>
          <a:noFill/>
          <a:ln>
            <a:noFill/>
          </a:ln>
        </p:spPr>
        <p:txBody>
          <a:bodyPr spcFirstLastPara="1" wrap="square" lIns="0" tIns="0" rIns="91425" bIns="91425" anchor="t" anchorCtr="0">
            <a:noAutofit/>
          </a:bodyPr>
          <a:lstStyle/>
          <a:p>
            <a:pPr lvl="0" algn="ctr">
              <a:buClr>
                <a:schemeClr val="dk2"/>
              </a:buClr>
              <a:buSzPts val="1100"/>
            </a:pPr>
            <a:r>
              <a:rPr lang="ca-ES" sz="1200" dirty="0">
                <a:solidFill>
                  <a:schemeClr val="dk1"/>
                </a:solidFill>
                <a:latin typeface="Montserrat"/>
                <a:ea typeface="Montserrat"/>
                <a:cs typeface="Montserrat"/>
                <a:sym typeface="Montserrat"/>
              </a:rPr>
              <a:t>Serà el nexe entre l'empresa i el mercat. Estudi del mercat i la demanda dels consumidors</a:t>
            </a:r>
          </a:p>
        </p:txBody>
      </p:sp>
      <p:sp>
        <p:nvSpPr>
          <p:cNvPr id="14" name="Google Shape;987;p92">
            <a:extLst>
              <a:ext uri="{FF2B5EF4-FFF2-40B4-BE49-F238E27FC236}">
                <a16:creationId xmlns:a16="http://schemas.microsoft.com/office/drawing/2014/main" id="{498B66A4-32BB-B0A3-12EF-CA584CFD1B0C}"/>
              </a:ext>
            </a:extLst>
          </p:cNvPr>
          <p:cNvSpPr txBox="1"/>
          <p:nvPr/>
        </p:nvSpPr>
        <p:spPr>
          <a:xfrm>
            <a:off x="443463" y="3331320"/>
            <a:ext cx="3865246" cy="317125"/>
          </a:xfrm>
          <a:prstGeom prst="rect">
            <a:avLst/>
          </a:prstGeom>
          <a:noFill/>
          <a:ln>
            <a:noFill/>
          </a:ln>
        </p:spPr>
        <p:txBody>
          <a:bodyPr spcFirstLastPara="1" wrap="square" lIns="0" tIns="0" rIns="0" bIns="0" anchor="t" anchorCtr="0">
            <a:noAutofit/>
          </a:bodyPr>
          <a:lstStyle/>
          <a:p>
            <a:pPr lvl="0" algn="ctr"/>
            <a:r>
              <a:rPr lang="ca-ES" sz="2000" dirty="0">
                <a:solidFill>
                  <a:schemeClr val="accent1"/>
                </a:solidFill>
                <a:latin typeface="Vidaloka"/>
                <a:ea typeface="Vidaloka"/>
                <a:cs typeface="Vidaloka"/>
                <a:sym typeface="Vidaloka"/>
              </a:rPr>
              <a:t>Departament administratiu</a:t>
            </a:r>
          </a:p>
        </p:txBody>
      </p:sp>
      <p:sp>
        <p:nvSpPr>
          <p:cNvPr id="15" name="Google Shape;990;p92">
            <a:extLst>
              <a:ext uri="{FF2B5EF4-FFF2-40B4-BE49-F238E27FC236}">
                <a16:creationId xmlns:a16="http://schemas.microsoft.com/office/drawing/2014/main" id="{CE687BD8-1B5E-1533-7D33-96CB30CAEBC8}"/>
              </a:ext>
            </a:extLst>
          </p:cNvPr>
          <p:cNvSpPr txBox="1"/>
          <p:nvPr/>
        </p:nvSpPr>
        <p:spPr>
          <a:xfrm>
            <a:off x="909680" y="3746817"/>
            <a:ext cx="3179445" cy="545400"/>
          </a:xfrm>
          <a:prstGeom prst="rect">
            <a:avLst/>
          </a:prstGeom>
          <a:noFill/>
          <a:ln>
            <a:noFill/>
          </a:ln>
        </p:spPr>
        <p:txBody>
          <a:bodyPr spcFirstLastPara="1" wrap="square" lIns="0" tIns="0" rIns="91425" bIns="91425" anchor="t" anchorCtr="0">
            <a:noAutofit/>
          </a:bodyPr>
          <a:lstStyle/>
          <a:p>
            <a:pPr lvl="0" algn="ctr">
              <a:buClr>
                <a:schemeClr val="dk2"/>
              </a:buClr>
              <a:buSzPts val="1100"/>
            </a:pPr>
            <a:r>
              <a:rPr lang="ca-ES" sz="1200" dirty="0">
                <a:solidFill>
                  <a:schemeClr val="dk1"/>
                </a:solidFill>
                <a:latin typeface="Montserrat"/>
                <a:ea typeface="Montserrat"/>
                <a:cs typeface="Montserrat"/>
                <a:sym typeface="Montserrat"/>
              </a:rPr>
              <a:t>planificació, organització, direcció i control de l'empresa. Instruirà la resta de departaments, realitzarà la comptabilitat.</a:t>
            </a:r>
          </a:p>
        </p:txBody>
      </p:sp>
      <p:sp>
        <p:nvSpPr>
          <p:cNvPr id="16" name="Google Shape;987;p92">
            <a:extLst>
              <a:ext uri="{FF2B5EF4-FFF2-40B4-BE49-F238E27FC236}">
                <a16:creationId xmlns:a16="http://schemas.microsoft.com/office/drawing/2014/main" id="{86D09AEE-76C5-7BB9-BA4A-81A37904116E}"/>
              </a:ext>
            </a:extLst>
          </p:cNvPr>
          <p:cNvSpPr txBox="1"/>
          <p:nvPr/>
        </p:nvSpPr>
        <p:spPr>
          <a:xfrm>
            <a:off x="4299847" y="3362249"/>
            <a:ext cx="4470079" cy="317125"/>
          </a:xfrm>
          <a:prstGeom prst="rect">
            <a:avLst/>
          </a:prstGeom>
          <a:noFill/>
          <a:ln>
            <a:noFill/>
          </a:ln>
        </p:spPr>
        <p:txBody>
          <a:bodyPr spcFirstLastPara="1" wrap="square" lIns="0" tIns="0" rIns="0" bIns="0" anchor="t" anchorCtr="0">
            <a:noAutofit/>
          </a:bodyPr>
          <a:lstStyle/>
          <a:p>
            <a:pPr lvl="0" algn="ctr"/>
            <a:r>
              <a:rPr lang="ca-ES" sz="2000" dirty="0">
                <a:solidFill>
                  <a:schemeClr val="accent1"/>
                </a:solidFill>
                <a:latin typeface="Vidaloka"/>
                <a:ea typeface="Vidaloka"/>
                <a:cs typeface="Vidaloka"/>
                <a:sym typeface="Vidaloka"/>
              </a:rPr>
              <a:t>Departament d'aprovisionament</a:t>
            </a:r>
          </a:p>
        </p:txBody>
      </p:sp>
      <p:sp>
        <p:nvSpPr>
          <p:cNvPr id="17" name="Google Shape;990;p92">
            <a:extLst>
              <a:ext uri="{FF2B5EF4-FFF2-40B4-BE49-F238E27FC236}">
                <a16:creationId xmlns:a16="http://schemas.microsoft.com/office/drawing/2014/main" id="{B8B76EF9-522B-A0E7-E172-28A16C269DDE}"/>
              </a:ext>
            </a:extLst>
          </p:cNvPr>
          <p:cNvSpPr txBox="1"/>
          <p:nvPr/>
        </p:nvSpPr>
        <p:spPr>
          <a:xfrm>
            <a:off x="4766065" y="3777746"/>
            <a:ext cx="3525880" cy="545400"/>
          </a:xfrm>
          <a:prstGeom prst="rect">
            <a:avLst/>
          </a:prstGeom>
          <a:noFill/>
          <a:ln>
            <a:noFill/>
          </a:ln>
        </p:spPr>
        <p:txBody>
          <a:bodyPr spcFirstLastPara="1" wrap="square" lIns="0" tIns="0" rIns="91425" bIns="91425" anchor="t" anchorCtr="0">
            <a:noAutofit/>
          </a:bodyPr>
          <a:lstStyle/>
          <a:p>
            <a:pPr lvl="0" algn="ctr">
              <a:buClr>
                <a:schemeClr val="dk2"/>
              </a:buClr>
              <a:buSzPts val="1100"/>
            </a:pPr>
            <a:r>
              <a:rPr lang="ca-ES" sz="1200" dirty="0">
                <a:solidFill>
                  <a:schemeClr val="dk1"/>
                </a:solidFill>
                <a:latin typeface="Montserrat"/>
                <a:ea typeface="Montserrat"/>
                <a:cs typeface="Montserrat"/>
                <a:sym typeface="Montserrat"/>
              </a:rPr>
              <a:t> S'encarregarà de suplir les necessitats d'estoc. El propòsit serà buscar els productes amb millor preu sense que això afecti la seva qualitat.</a:t>
            </a:r>
          </a:p>
        </p:txBody>
      </p:sp>
      <p:sp>
        <p:nvSpPr>
          <p:cNvPr id="18" name="Google Shape;987;p92">
            <a:extLst>
              <a:ext uri="{FF2B5EF4-FFF2-40B4-BE49-F238E27FC236}">
                <a16:creationId xmlns:a16="http://schemas.microsoft.com/office/drawing/2014/main" id="{BC671397-E3AF-D9A7-290F-78F63493E7C9}"/>
              </a:ext>
            </a:extLst>
          </p:cNvPr>
          <p:cNvSpPr txBox="1"/>
          <p:nvPr/>
        </p:nvSpPr>
        <p:spPr>
          <a:xfrm>
            <a:off x="5346407" y="1439119"/>
            <a:ext cx="3865246" cy="317125"/>
          </a:xfrm>
          <a:prstGeom prst="rect">
            <a:avLst/>
          </a:prstGeom>
          <a:noFill/>
          <a:ln>
            <a:noFill/>
          </a:ln>
        </p:spPr>
        <p:txBody>
          <a:bodyPr spcFirstLastPara="1" wrap="square" lIns="0" tIns="0" rIns="0" bIns="0" anchor="t" anchorCtr="0">
            <a:noAutofit/>
          </a:bodyPr>
          <a:lstStyle/>
          <a:p>
            <a:pPr lvl="0" algn="ctr"/>
            <a:r>
              <a:rPr lang="ca-ES" sz="2000" dirty="0">
                <a:solidFill>
                  <a:schemeClr val="accent1"/>
                </a:solidFill>
                <a:latin typeface="Vidaloka"/>
                <a:ea typeface="Vidaloka"/>
                <a:cs typeface="Vidaloka"/>
                <a:sym typeface="Vidaloka"/>
              </a:rPr>
              <a:t>Departament de RH</a:t>
            </a:r>
          </a:p>
        </p:txBody>
      </p:sp>
      <p:sp>
        <p:nvSpPr>
          <p:cNvPr id="19" name="Google Shape;990;p92">
            <a:extLst>
              <a:ext uri="{FF2B5EF4-FFF2-40B4-BE49-F238E27FC236}">
                <a16:creationId xmlns:a16="http://schemas.microsoft.com/office/drawing/2014/main" id="{9520AE89-C0C6-110D-B720-7E9E32D8FD8D}"/>
              </a:ext>
            </a:extLst>
          </p:cNvPr>
          <p:cNvSpPr txBox="1"/>
          <p:nvPr/>
        </p:nvSpPr>
        <p:spPr>
          <a:xfrm>
            <a:off x="5771062" y="1813054"/>
            <a:ext cx="3179445" cy="545400"/>
          </a:xfrm>
          <a:prstGeom prst="rect">
            <a:avLst/>
          </a:prstGeom>
          <a:noFill/>
          <a:ln>
            <a:noFill/>
          </a:ln>
        </p:spPr>
        <p:txBody>
          <a:bodyPr spcFirstLastPara="1" wrap="square" lIns="0" tIns="0" rIns="91425" bIns="91425" anchor="t" anchorCtr="0">
            <a:noAutofit/>
          </a:bodyPr>
          <a:lstStyle/>
          <a:p>
            <a:pPr lvl="0" algn="ctr">
              <a:buClr>
                <a:schemeClr val="dk2"/>
              </a:buClr>
              <a:buSzPts val="1100"/>
            </a:pPr>
            <a:r>
              <a:rPr lang="ca-ES" sz="1200" dirty="0">
                <a:solidFill>
                  <a:schemeClr val="dk1"/>
                </a:solidFill>
                <a:latin typeface="Montserrat"/>
                <a:ea typeface="Montserrat"/>
                <a:cs typeface="Montserrat"/>
                <a:sym typeface="Montserrat"/>
              </a:rPr>
              <a:t>Analitzarà, avaluarà i planificarà els processos de reclutament, selecció i contractació de persona. Planificació i remuneracions..</a:t>
            </a:r>
          </a:p>
        </p:txBody>
      </p:sp>
    </p:spTree>
    <p:extLst>
      <p:ext uri="{BB962C8B-B14F-4D97-AF65-F5344CB8AC3E}">
        <p14:creationId xmlns:p14="http://schemas.microsoft.com/office/powerpoint/2010/main" val="2471247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969"/>
                                        </p:tgtEl>
                                        <p:attrNameLst>
                                          <p:attrName>style.visibility</p:attrName>
                                        </p:attrNameLst>
                                      </p:cBhvr>
                                      <p:to>
                                        <p:strVal val="visible"/>
                                      </p:to>
                                    </p:set>
                                    <p:anim calcmode="lin" valueType="num">
                                      <p:cBhvr additive="base">
                                        <p:cTn id="7" dur="1000"/>
                                        <p:tgtEl>
                                          <p:spTgt spid="969"/>
                                        </p:tgtEl>
                                        <p:attrNameLst>
                                          <p:attrName>ppt_y</p:attrName>
                                        </p:attrNameLst>
                                      </p:cBhvr>
                                      <p:tavLst>
                                        <p:tav tm="0">
                                          <p:val>
                                            <p:strVal val="#ppt_y-1"/>
                                          </p:val>
                                        </p:tav>
                                        <p:tav tm="100000">
                                          <p:val>
                                            <p:strVal val="#ppt_y"/>
                                          </p:val>
                                        </p:tav>
                                      </p:tavLst>
                                    </p:anim>
                                  </p:childTnLst>
                                </p:cTn>
                              </p:par>
                              <p:par>
                                <p:cTn id="8" presetID="2" presetClass="entr" presetSubtype="2" fill="hold" nodeType="withEffect">
                                  <p:stCondLst>
                                    <p:cond delay="0"/>
                                  </p:stCondLst>
                                  <p:childTnLst>
                                    <p:set>
                                      <p:cBhvr>
                                        <p:cTn id="9" dur="1" fill="hold">
                                          <p:stCondLst>
                                            <p:cond delay="0"/>
                                          </p:stCondLst>
                                        </p:cTn>
                                        <p:tgtEl>
                                          <p:spTgt spid="998"/>
                                        </p:tgtEl>
                                        <p:attrNameLst>
                                          <p:attrName>style.visibility</p:attrName>
                                        </p:attrNameLst>
                                      </p:cBhvr>
                                      <p:to>
                                        <p:strVal val="visible"/>
                                      </p:to>
                                    </p:set>
                                    <p:anim calcmode="lin" valueType="num">
                                      <p:cBhvr additive="base">
                                        <p:cTn id="10" dur="1000"/>
                                        <p:tgtEl>
                                          <p:spTgt spid="998"/>
                                        </p:tgtEl>
                                        <p:attrNameLst>
                                          <p:attrName>ppt_x</p:attrName>
                                        </p:attrNameLst>
                                      </p:cBhvr>
                                      <p:tavLst>
                                        <p:tav tm="0">
                                          <p:val>
                                            <p:strVal val="#ppt_x+1"/>
                                          </p:val>
                                        </p:tav>
                                        <p:tav tm="100000">
                                          <p:val>
                                            <p:strVal val="#ppt_x"/>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980"/>
                                        </p:tgtEl>
                                        <p:attrNameLst>
                                          <p:attrName>style.visibility</p:attrName>
                                        </p:attrNameLst>
                                      </p:cBhvr>
                                      <p:to>
                                        <p:strVal val="visible"/>
                                      </p:to>
                                    </p:set>
                                    <p:anim calcmode="lin" valueType="num">
                                      <p:cBhvr additive="base">
                                        <p:cTn id="15" dur="1000"/>
                                        <p:tgtEl>
                                          <p:spTgt spid="980"/>
                                        </p:tgtEl>
                                        <p:attrNameLst>
                                          <p:attrName>ppt_x</p:attrName>
                                        </p:attrNameLst>
                                      </p:cBhvr>
                                      <p:tavLst>
                                        <p:tav tm="0">
                                          <p:val>
                                            <p:strVal val="#ppt_x+1"/>
                                          </p:val>
                                        </p:tav>
                                        <p:tav tm="100000">
                                          <p:val>
                                            <p:strVal val="#ppt_x"/>
                                          </p:val>
                                        </p:tav>
                                      </p:tavLst>
                                    </p:anim>
                                  </p:childTnLst>
                                </p:cTn>
                              </p:par>
                              <p:par>
                                <p:cTn id="16" presetID="2" presetClass="entr" presetSubtype="2" fill="hold" nodeType="withEffect">
                                  <p:stCondLst>
                                    <p:cond delay="0"/>
                                  </p:stCondLst>
                                  <p:childTnLst>
                                    <p:set>
                                      <p:cBhvr>
                                        <p:cTn id="17" dur="1" fill="hold">
                                          <p:stCondLst>
                                            <p:cond delay="0"/>
                                          </p:stCondLst>
                                        </p:cTn>
                                        <p:tgtEl>
                                          <p:spTgt spid="984"/>
                                        </p:tgtEl>
                                        <p:attrNameLst>
                                          <p:attrName>style.visibility</p:attrName>
                                        </p:attrNameLst>
                                      </p:cBhvr>
                                      <p:to>
                                        <p:strVal val="visible"/>
                                      </p:to>
                                    </p:set>
                                    <p:anim calcmode="lin" valueType="num">
                                      <p:cBhvr additive="base">
                                        <p:cTn id="18" dur="1000"/>
                                        <p:tgtEl>
                                          <p:spTgt spid="984"/>
                                        </p:tgtEl>
                                        <p:attrNameLst>
                                          <p:attrName>ppt_x</p:attrName>
                                        </p:attrNameLst>
                                      </p:cBhvr>
                                      <p:tavLst>
                                        <p:tav tm="0">
                                          <p:val>
                                            <p:strVal val="#ppt_x+1"/>
                                          </p:val>
                                        </p:tav>
                                        <p:tav tm="100000">
                                          <p:val>
                                            <p:strVal val="#ppt_x"/>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970"/>
                                        </p:tgtEl>
                                        <p:attrNameLst>
                                          <p:attrName>style.visibility</p:attrName>
                                        </p:attrNameLst>
                                      </p:cBhvr>
                                      <p:to>
                                        <p:strVal val="visible"/>
                                      </p:to>
                                    </p:set>
                                    <p:anim calcmode="lin" valueType="num">
                                      <p:cBhvr additive="base">
                                        <p:cTn id="23" dur="1000"/>
                                        <p:tgtEl>
                                          <p:spTgt spid="970"/>
                                        </p:tgtEl>
                                        <p:attrNameLst>
                                          <p:attrName>ppt_x</p:attrName>
                                        </p:attrNameLst>
                                      </p:cBhvr>
                                      <p:tavLst>
                                        <p:tav tm="0">
                                          <p:val>
                                            <p:strVal val="#ppt_x+1"/>
                                          </p:val>
                                        </p:tav>
                                        <p:tav tm="100000">
                                          <p:val>
                                            <p:strVal val="#ppt_x"/>
                                          </p:val>
                                        </p:tav>
                                      </p:tavLst>
                                    </p:anim>
                                  </p:childTnLst>
                                </p:cTn>
                              </p:par>
                              <p:par>
                                <p:cTn id="24" presetID="2" presetClass="entr" presetSubtype="2" fill="hold" nodeType="withEffect">
                                  <p:stCondLst>
                                    <p:cond delay="0"/>
                                  </p:stCondLst>
                                  <p:childTnLst>
                                    <p:set>
                                      <p:cBhvr>
                                        <p:cTn id="25" dur="1" fill="hold">
                                          <p:stCondLst>
                                            <p:cond delay="0"/>
                                          </p:stCondLst>
                                        </p:cTn>
                                        <p:tgtEl>
                                          <p:spTgt spid="975"/>
                                        </p:tgtEl>
                                        <p:attrNameLst>
                                          <p:attrName>style.visibility</p:attrName>
                                        </p:attrNameLst>
                                      </p:cBhvr>
                                      <p:to>
                                        <p:strVal val="visible"/>
                                      </p:to>
                                    </p:set>
                                    <p:anim calcmode="lin" valueType="num">
                                      <p:cBhvr additive="base">
                                        <p:cTn id="26" dur="1000"/>
                                        <p:tgtEl>
                                          <p:spTgt spid="975"/>
                                        </p:tgtEl>
                                        <p:attrNameLst>
                                          <p:attrName>ppt_x</p:attrName>
                                        </p:attrNameLst>
                                      </p:cBhvr>
                                      <p:tavLst>
                                        <p:tav tm="0">
                                          <p:val>
                                            <p:strVal val="#ppt_x+1"/>
                                          </p:val>
                                        </p:tav>
                                        <p:tav tm="100000">
                                          <p:val>
                                            <p:strVal val="#ppt_x"/>
                                          </p:val>
                                        </p:tav>
                                      </p:tavLst>
                                    </p:anim>
                                  </p:childTnLst>
                                </p:cTn>
                              </p:par>
                              <p:par>
                                <p:cTn id="27" presetID="2" presetClass="entr" presetSubtype="2" fill="hold" nodeType="withEffect">
                                  <p:stCondLst>
                                    <p:cond delay="0"/>
                                  </p:stCondLst>
                                  <p:childTnLst>
                                    <p:set>
                                      <p:cBhvr>
                                        <p:cTn id="28" dur="1" fill="hold">
                                          <p:stCondLst>
                                            <p:cond delay="0"/>
                                          </p:stCondLst>
                                        </p:cTn>
                                        <p:tgtEl>
                                          <p:spTgt spid="988"/>
                                        </p:tgtEl>
                                        <p:attrNameLst>
                                          <p:attrName>style.visibility</p:attrName>
                                        </p:attrNameLst>
                                      </p:cBhvr>
                                      <p:to>
                                        <p:strVal val="visible"/>
                                      </p:to>
                                    </p:set>
                                    <p:anim calcmode="lin" valueType="num">
                                      <p:cBhvr additive="base">
                                        <p:cTn id="29" dur="1000"/>
                                        <p:tgtEl>
                                          <p:spTgt spid="988"/>
                                        </p:tgtEl>
                                        <p:attrNameLst>
                                          <p:attrName>ppt_x</p:attrName>
                                        </p:attrNameLst>
                                      </p:cBhvr>
                                      <p:tavLst>
                                        <p:tav tm="0">
                                          <p:val>
                                            <p:strVal val="#ppt_x+1"/>
                                          </p:val>
                                        </p:tav>
                                        <p:tav tm="100000">
                                          <p:val>
                                            <p:strVal val="#ppt_x"/>
                                          </p:val>
                                        </p:tav>
                                      </p:tavLst>
                                    </p:anim>
                                  </p:childTnLst>
                                </p:cTn>
                              </p:par>
                              <p:par>
                                <p:cTn id="30" presetID="2" presetClass="entr" presetSubtype="2" fill="hold" nodeType="withEffect">
                                  <p:stCondLst>
                                    <p:cond delay="0"/>
                                  </p:stCondLst>
                                  <p:childTnLst>
                                    <p:set>
                                      <p:cBhvr>
                                        <p:cTn id="31" dur="1" fill="hold">
                                          <p:stCondLst>
                                            <p:cond delay="0"/>
                                          </p:stCondLst>
                                        </p:cTn>
                                        <p:tgtEl>
                                          <p:spTgt spid="989"/>
                                        </p:tgtEl>
                                        <p:attrNameLst>
                                          <p:attrName>style.visibility</p:attrName>
                                        </p:attrNameLst>
                                      </p:cBhvr>
                                      <p:to>
                                        <p:strVal val="visible"/>
                                      </p:to>
                                    </p:set>
                                    <p:anim calcmode="lin" valueType="num">
                                      <p:cBhvr additive="base">
                                        <p:cTn id="32" dur="1000"/>
                                        <p:tgtEl>
                                          <p:spTgt spid="989"/>
                                        </p:tgtEl>
                                        <p:attrNameLst>
                                          <p:attrName>ppt_x</p:attrName>
                                        </p:attrNameLst>
                                      </p:cBhvr>
                                      <p:tavLst>
                                        <p:tav tm="0">
                                          <p:val>
                                            <p:strVal val="#ppt_x+1"/>
                                          </p:val>
                                        </p:tav>
                                        <p:tav tm="100000">
                                          <p:val>
                                            <p:strVal val="#ppt_x"/>
                                          </p:val>
                                        </p:tav>
                                      </p:tavLst>
                                    </p:anim>
                                  </p:childTnLst>
                                </p:cTn>
                              </p:par>
                              <p:par>
                                <p:cTn id="33" presetID="2" presetClass="entr" presetSubtype="2" fill="hold" nodeType="withEffect">
                                  <p:stCondLst>
                                    <p:cond delay="0"/>
                                  </p:stCondLst>
                                  <p:childTnLst>
                                    <p:set>
                                      <p:cBhvr>
                                        <p:cTn id="34" dur="1" fill="hold">
                                          <p:stCondLst>
                                            <p:cond delay="0"/>
                                          </p:stCondLst>
                                        </p:cTn>
                                        <p:tgtEl>
                                          <p:spTgt spid="987"/>
                                        </p:tgtEl>
                                        <p:attrNameLst>
                                          <p:attrName>style.visibility</p:attrName>
                                        </p:attrNameLst>
                                      </p:cBhvr>
                                      <p:to>
                                        <p:strVal val="visible"/>
                                      </p:to>
                                    </p:set>
                                    <p:anim calcmode="lin" valueType="num">
                                      <p:cBhvr additive="base">
                                        <p:cTn id="35" dur="1000"/>
                                        <p:tgtEl>
                                          <p:spTgt spid="987"/>
                                        </p:tgtEl>
                                        <p:attrNameLst>
                                          <p:attrName>ppt_x</p:attrName>
                                        </p:attrNameLst>
                                      </p:cBhvr>
                                      <p:tavLst>
                                        <p:tav tm="0">
                                          <p:val>
                                            <p:strVal val="#ppt_x+1"/>
                                          </p:val>
                                        </p:tav>
                                        <p:tav tm="100000">
                                          <p:val>
                                            <p:strVal val="#ppt_x"/>
                                          </p:val>
                                        </p:tav>
                                      </p:tavLst>
                                    </p:anim>
                                  </p:childTnLst>
                                </p:cTn>
                              </p:par>
                              <p:par>
                                <p:cTn id="36" presetID="2" presetClass="entr" presetSubtype="2" fill="hold" nodeType="withEffect">
                                  <p:stCondLst>
                                    <p:cond delay="0"/>
                                  </p:stCondLst>
                                  <p:childTnLst>
                                    <p:set>
                                      <p:cBhvr>
                                        <p:cTn id="37" dur="1" fill="hold">
                                          <p:stCondLst>
                                            <p:cond delay="0"/>
                                          </p:stCondLst>
                                        </p:cTn>
                                        <p:tgtEl>
                                          <p:spTgt spid="990"/>
                                        </p:tgtEl>
                                        <p:attrNameLst>
                                          <p:attrName>style.visibility</p:attrName>
                                        </p:attrNameLst>
                                      </p:cBhvr>
                                      <p:to>
                                        <p:strVal val="visible"/>
                                      </p:to>
                                    </p:set>
                                    <p:anim calcmode="lin" valueType="num">
                                      <p:cBhvr additive="base">
                                        <p:cTn id="38" dur="1000"/>
                                        <p:tgtEl>
                                          <p:spTgt spid="990"/>
                                        </p:tgtEl>
                                        <p:attrNameLst>
                                          <p:attrName>ppt_x</p:attrName>
                                        </p:attrNameLst>
                                      </p:cBhvr>
                                      <p:tavLst>
                                        <p:tav tm="0">
                                          <p:val>
                                            <p:strVal val="#ppt_x+1"/>
                                          </p:val>
                                        </p:tav>
                                        <p:tav tm="100000">
                                          <p:val>
                                            <p:strVal val="#ppt_x"/>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991"/>
                                        </p:tgtEl>
                                        <p:attrNameLst>
                                          <p:attrName>style.visibility</p:attrName>
                                        </p:attrNameLst>
                                      </p:cBhvr>
                                      <p:to>
                                        <p:strVal val="visible"/>
                                      </p:to>
                                    </p:set>
                                    <p:anim calcmode="lin" valueType="num">
                                      <p:cBhvr additive="base">
                                        <p:cTn id="43" dur="1000"/>
                                        <p:tgtEl>
                                          <p:spTgt spid="991"/>
                                        </p:tgtEl>
                                        <p:attrNameLst>
                                          <p:attrName>ppt_x</p:attrName>
                                        </p:attrNameLst>
                                      </p:cBhvr>
                                      <p:tavLst>
                                        <p:tav tm="0">
                                          <p:val>
                                            <p:strVal val="#ppt_x+1"/>
                                          </p:val>
                                        </p:tav>
                                        <p:tav tm="100000">
                                          <p:val>
                                            <p:strVal val="#ppt_x"/>
                                          </p:val>
                                        </p:tav>
                                      </p:tavLst>
                                    </p:anim>
                                  </p:childTnLst>
                                </p:cTn>
                              </p:par>
                              <p:par>
                                <p:cTn id="44" presetID="2" presetClass="entr" presetSubtype="2" fill="hold" nodeType="withEffect">
                                  <p:stCondLst>
                                    <p:cond delay="0"/>
                                  </p:stCondLst>
                                  <p:childTnLst>
                                    <p:set>
                                      <p:cBhvr>
                                        <p:cTn id="45" dur="1" fill="hold">
                                          <p:stCondLst>
                                            <p:cond delay="0"/>
                                          </p:stCondLst>
                                        </p:cTn>
                                        <p:tgtEl>
                                          <p:spTgt spid="1006"/>
                                        </p:tgtEl>
                                        <p:attrNameLst>
                                          <p:attrName>style.visibility</p:attrName>
                                        </p:attrNameLst>
                                      </p:cBhvr>
                                      <p:to>
                                        <p:strVal val="visible"/>
                                      </p:to>
                                    </p:set>
                                    <p:anim calcmode="lin" valueType="num">
                                      <p:cBhvr additive="base">
                                        <p:cTn id="46" dur="1000"/>
                                        <p:tgtEl>
                                          <p:spTgt spid="1006"/>
                                        </p:tgtEl>
                                        <p:attrNameLst>
                                          <p:attrName>ppt_x</p:attrName>
                                        </p:attrNameLst>
                                      </p:cBhvr>
                                      <p:tavLst>
                                        <p:tav tm="0">
                                          <p:val>
                                            <p:strVal val="#ppt_x+1"/>
                                          </p:val>
                                        </p:tav>
                                        <p:tav tm="100000">
                                          <p:val>
                                            <p:strVal val="#ppt_x"/>
                                          </p:val>
                                        </p:tav>
                                      </p:tavLst>
                                    </p:anim>
                                  </p:childTnLst>
                                </p:cTn>
                              </p:par>
                              <p:par>
                                <p:cTn id="47" presetID="2" presetClass="entr" presetSubtype="2" fill="hold" nodeType="with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1000"/>
                                        <p:tgtEl>
                                          <p:spTgt spid="12"/>
                                        </p:tgtEl>
                                        <p:attrNameLst>
                                          <p:attrName>ppt_x</p:attrName>
                                        </p:attrNameLst>
                                      </p:cBhvr>
                                      <p:tavLst>
                                        <p:tav tm="0">
                                          <p:val>
                                            <p:strVal val="#ppt_x+1"/>
                                          </p:val>
                                        </p:tav>
                                        <p:tav tm="100000">
                                          <p:val>
                                            <p:strVal val="#ppt_x"/>
                                          </p:val>
                                        </p:tav>
                                      </p:tavLst>
                                    </p:anim>
                                  </p:childTnLst>
                                </p:cTn>
                              </p:par>
                              <p:par>
                                <p:cTn id="50" presetID="2" presetClass="entr" presetSubtype="2"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1000"/>
                                        <p:tgtEl>
                                          <p:spTgt spid="13"/>
                                        </p:tgtEl>
                                        <p:attrNameLst>
                                          <p:attrName>ppt_x</p:attrName>
                                        </p:attrNameLst>
                                      </p:cBhvr>
                                      <p:tavLst>
                                        <p:tav tm="0">
                                          <p:val>
                                            <p:strVal val="#ppt_x+1"/>
                                          </p:val>
                                        </p:tav>
                                        <p:tav tm="100000">
                                          <p:val>
                                            <p:strVal val="#ppt_x"/>
                                          </p:val>
                                        </p:tav>
                                      </p:tavLst>
                                    </p:anim>
                                  </p:childTnLst>
                                </p:cTn>
                              </p:par>
                              <p:par>
                                <p:cTn id="53" presetID="2" presetClass="entr" presetSubtype="2" fill="hold"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1000"/>
                                        <p:tgtEl>
                                          <p:spTgt spid="14"/>
                                        </p:tgtEl>
                                        <p:attrNameLst>
                                          <p:attrName>ppt_x</p:attrName>
                                        </p:attrNameLst>
                                      </p:cBhvr>
                                      <p:tavLst>
                                        <p:tav tm="0">
                                          <p:val>
                                            <p:strVal val="#ppt_x+1"/>
                                          </p:val>
                                        </p:tav>
                                        <p:tav tm="100000">
                                          <p:val>
                                            <p:strVal val="#ppt_x"/>
                                          </p:val>
                                        </p:tav>
                                      </p:tavLst>
                                    </p:anim>
                                  </p:childTnLst>
                                </p:cTn>
                              </p:par>
                              <p:par>
                                <p:cTn id="56" presetID="2" presetClass="entr" presetSubtype="2" fill="hold" nodeType="withEffect">
                                  <p:stCondLst>
                                    <p:cond delay="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1000"/>
                                        <p:tgtEl>
                                          <p:spTgt spid="15"/>
                                        </p:tgtEl>
                                        <p:attrNameLst>
                                          <p:attrName>ppt_x</p:attrName>
                                        </p:attrNameLst>
                                      </p:cBhvr>
                                      <p:tavLst>
                                        <p:tav tm="0">
                                          <p:val>
                                            <p:strVal val="#ppt_x+1"/>
                                          </p:val>
                                        </p:tav>
                                        <p:tav tm="100000">
                                          <p:val>
                                            <p:strVal val="#ppt_x"/>
                                          </p:val>
                                        </p:tav>
                                      </p:tavLst>
                                    </p:anim>
                                  </p:childTnLst>
                                </p:cTn>
                              </p:par>
                              <p:par>
                                <p:cTn id="59" presetID="2" presetClass="entr" presetSubtype="2" fill="hold" nodeType="with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1000"/>
                                        <p:tgtEl>
                                          <p:spTgt spid="16"/>
                                        </p:tgtEl>
                                        <p:attrNameLst>
                                          <p:attrName>ppt_x</p:attrName>
                                        </p:attrNameLst>
                                      </p:cBhvr>
                                      <p:tavLst>
                                        <p:tav tm="0">
                                          <p:val>
                                            <p:strVal val="#ppt_x+1"/>
                                          </p:val>
                                        </p:tav>
                                        <p:tav tm="100000">
                                          <p:val>
                                            <p:strVal val="#ppt_x"/>
                                          </p:val>
                                        </p:tav>
                                      </p:tavLst>
                                    </p:anim>
                                  </p:childTnLst>
                                </p:cTn>
                              </p:par>
                              <p:par>
                                <p:cTn id="62" presetID="2" presetClass="entr" presetSubtype="2"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1000"/>
                                        <p:tgtEl>
                                          <p:spTgt spid="17"/>
                                        </p:tgtEl>
                                        <p:attrNameLst>
                                          <p:attrName>ppt_x</p:attrName>
                                        </p:attrNameLst>
                                      </p:cBhvr>
                                      <p:tavLst>
                                        <p:tav tm="0">
                                          <p:val>
                                            <p:strVal val="#ppt_x+1"/>
                                          </p:val>
                                        </p:tav>
                                        <p:tav tm="100000">
                                          <p:val>
                                            <p:strVal val="#ppt_x"/>
                                          </p:val>
                                        </p:tav>
                                      </p:tavLst>
                                    </p:anim>
                                  </p:childTnLst>
                                </p:cTn>
                              </p:par>
                              <p:par>
                                <p:cTn id="65" presetID="2" presetClass="entr" presetSubtype="2"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1000"/>
                                        <p:tgtEl>
                                          <p:spTgt spid="18"/>
                                        </p:tgtEl>
                                        <p:attrNameLst>
                                          <p:attrName>ppt_x</p:attrName>
                                        </p:attrNameLst>
                                      </p:cBhvr>
                                      <p:tavLst>
                                        <p:tav tm="0">
                                          <p:val>
                                            <p:strVal val="#ppt_x+1"/>
                                          </p:val>
                                        </p:tav>
                                        <p:tav tm="100000">
                                          <p:val>
                                            <p:strVal val="#ppt_x"/>
                                          </p:val>
                                        </p:tav>
                                      </p:tavLst>
                                    </p:anim>
                                  </p:childTnLst>
                                </p:cTn>
                              </p:par>
                              <p:par>
                                <p:cTn id="68" presetID="2" presetClass="entr" presetSubtype="2" fill="hold" nodeType="withEffect">
                                  <p:stCondLst>
                                    <p:cond delay="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1000"/>
                                        <p:tgtEl>
                                          <p:spTgt spid="1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70"/>
          <p:cNvSpPr txBox="1">
            <a:spLocks noGrp="1"/>
          </p:cNvSpPr>
          <p:nvPr>
            <p:ph type="title"/>
          </p:nvPr>
        </p:nvSpPr>
        <p:spPr>
          <a:xfrm>
            <a:off x="105669" y="725194"/>
            <a:ext cx="8255549" cy="1544437"/>
          </a:xfrm>
          <a:prstGeom prst="rect">
            <a:avLst/>
          </a:prstGeom>
        </p:spPr>
        <p:txBody>
          <a:bodyPr spcFirstLastPara="1" wrap="square" lIns="91425" tIns="91425" rIns="91425" bIns="91425" anchor="t" anchorCtr="0">
            <a:noAutofit/>
          </a:bodyPr>
          <a:lstStyle/>
          <a:p>
            <a:pPr marL="0" lvl="0" indent="0" algn="ctr">
              <a:buClr>
                <a:schemeClr val="dk1"/>
              </a:buClr>
              <a:buSzPts val="1100"/>
            </a:pPr>
            <a:r>
              <a:rPr lang="ca-ES" dirty="0"/>
              <a:t>Anàlisi del microentorn</a:t>
            </a:r>
          </a:p>
        </p:txBody>
      </p:sp>
      <p:sp>
        <p:nvSpPr>
          <p:cNvPr id="581" name="Google Shape;581;p70"/>
          <p:cNvSpPr txBox="1">
            <a:spLocks noGrp="1"/>
          </p:cNvSpPr>
          <p:nvPr>
            <p:ph type="subTitle" idx="1"/>
          </p:nvPr>
        </p:nvSpPr>
        <p:spPr>
          <a:xfrm>
            <a:off x="748145" y="1840141"/>
            <a:ext cx="5029200" cy="2076145"/>
          </a:xfrm>
          <a:prstGeom prst="rect">
            <a:avLst/>
          </a:prstGeom>
        </p:spPr>
        <p:txBody>
          <a:bodyPr spcFirstLastPara="1" wrap="square" lIns="91425" tIns="91425" rIns="91425" bIns="91425" anchor="t" anchorCtr="0">
            <a:noAutofit/>
          </a:bodyPr>
          <a:lstStyle/>
          <a:p>
            <a:pPr marL="0" lvl="0" indent="0" algn="ctr">
              <a:buClr>
                <a:schemeClr val="dk1"/>
              </a:buClr>
              <a:buSzPts val="1100"/>
            </a:pPr>
            <a:endParaRPr lang="en-US" dirty="0"/>
          </a:p>
          <a:p>
            <a:pPr marL="0" lvl="0" indent="0" algn="l">
              <a:buClr>
                <a:schemeClr val="dk1"/>
              </a:buClr>
              <a:buSzPts val="1100"/>
            </a:pPr>
            <a:r>
              <a:rPr lang="ca-ES" dirty="0"/>
              <a:t>El microentorn, entorn específic o entorn intern o competitiu de l'empresa està format</a:t>
            </a:r>
          </a:p>
          <a:p>
            <a:pPr marL="0" lvl="0" indent="0" algn="l">
              <a:buClr>
                <a:schemeClr val="dk1"/>
              </a:buClr>
              <a:buSzPts val="1100"/>
            </a:pPr>
            <a:r>
              <a:rPr lang="ca-ES" dirty="0"/>
              <a:t>per tots aquells elements de l'entorn que tenen una relació directa amb l'empresa. </a:t>
            </a:r>
          </a:p>
          <a:p>
            <a:pPr marL="0" lvl="0" indent="0" algn="l">
              <a:buClr>
                <a:schemeClr val="dk1"/>
              </a:buClr>
              <a:buSzPts val="1100"/>
            </a:pPr>
            <a:endParaRPr lang="ca-ES" dirty="0"/>
          </a:p>
          <a:p>
            <a:pPr marL="0" lvl="0" indent="0" algn="l">
              <a:buClr>
                <a:schemeClr val="dk1"/>
              </a:buClr>
              <a:buSzPts val="1100"/>
            </a:pPr>
            <a:r>
              <a:rPr lang="ca-ES" dirty="0"/>
              <a:t>Per tal de fer anàlisis del microentorn ho farem a través del model de les cinc forces</a:t>
            </a:r>
          </a:p>
          <a:p>
            <a:pPr marL="0" lvl="0" indent="0" algn="l">
              <a:buClr>
                <a:schemeClr val="dk1"/>
              </a:buClr>
              <a:buSzPts val="1100"/>
            </a:pPr>
            <a:r>
              <a:rPr lang="ca-ES" dirty="0"/>
              <a:t>competitives de Porter (1982):</a:t>
            </a:r>
          </a:p>
        </p:txBody>
      </p:sp>
      <p:pic>
        <p:nvPicPr>
          <p:cNvPr id="2100" name="Picture 2099">
            <a:extLst>
              <a:ext uri="{FF2B5EF4-FFF2-40B4-BE49-F238E27FC236}">
                <a16:creationId xmlns:a16="http://schemas.microsoft.com/office/drawing/2014/main" id="{BA6B1B2E-E7F4-87D4-2E24-8021F03B3B77}"/>
              </a:ext>
            </a:extLst>
          </p:cNvPr>
          <p:cNvPicPr>
            <a:picLocks noChangeAspect="1"/>
          </p:cNvPicPr>
          <p:nvPr/>
        </p:nvPicPr>
        <p:blipFill>
          <a:blip r:embed="rId3"/>
          <a:stretch>
            <a:fillRect/>
          </a:stretch>
        </p:blipFill>
        <p:spPr>
          <a:xfrm>
            <a:off x="5708650" y="2571750"/>
            <a:ext cx="2142962" cy="17030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096" name="Google Shape;4195;p136">
            <a:extLst>
              <a:ext uri="{FF2B5EF4-FFF2-40B4-BE49-F238E27FC236}">
                <a16:creationId xmlns:a16="http://schemas.microsoft.com/office/drawing/2014/main" id="{6E0167F5-9488-0D9C-8936-E48AEDBB2318}"/>
              </a:ext>
            </a:extLst>
          </p:cNvPr>
          <p:cNvSpPr/>
          <p:nvPr/>
        </p:nvSpPr>
        <p:spPr>
          <a:xfrm>
            <a:off x="6221485" y="3444240"/>
            <a:ext cx="270755" cy="337704"/>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07310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79"/>
                                        </p:tgtEl>
                                        <p:attrNameLst>
                                          <p:attrName>style.visibility</p:attrName>
                                        </p:attrNameLst>
                                      </p:cBhvr>
                                      <p:to>
                                        <p:strVal val="visible"/>
                                      </p:to>
                                    </p:set>
                                    <p:anim calcmode="lin" valueType="num">
                                      <p:cBhvr additive="base">
                                        <p:cTn id="7" dur="1000"/>
                                        <p:tgtEl>
                                          <p:spTgt spid="579"/>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581"/>
                                        </p:tgtEl>
                                        <p:attrNameLst>
                                          <p:attrName>style.visibility</p:attrName>
                                        </p:attrNameLst>
                                      </p:cBhvr>
                                      <p:to>
                                        <p:strVal val="visible"/>
                                      </p:to>
                                    </p:set>
                                    <p:anim calcmode="lin" valueType="num">
                                      <p:cBhvr additive="base">
                                        <p:cTn id="10" dur="1000"/>
                                        <p:tgtEl>
                                          <p:spTgt spid="58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445025"/>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Forces competitives de Porter (1982):</a:t>
            </a:r>
          </a:p>
        </p:txBody>
      </p:sp>
      <p:sp>
        <p:nvSpPr>
          <p:cNvPr id="622" name="Google Shape;622;p73"/>
          <p:cNvSpPr txBox="1">
            <a:spLocks noGrp="1"/>
          </p:cNvSpPr>
          <p:nvPr>
            <p:ph type="subTitle" idx="3"/>
          </p:nvPr>
        </p:nvSpPr>
        <p:spPr>
          <a:xfrm>
            <a:off x="1036320" y="1472026"/>
            <a:ext cx="6717792" cy="50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ca-ES" dirty="0"/>
              <a:t>Amenaça de competidors actuals: Nivell mitjà</a:t>
            </a:r>
          </a:p>
        </p:txBody>
      </p:sp>
      <p:sp>
        <p:nvSpPr>
          <p:cNvPr id="623" name="Google Shape;623;p73"/>
          <p:cNvSpPr txBox="1">
            <a:spLocks noGrp="1"/>
          </p:cNvSpPr>
          <p:nvPr>
            <p:ph type="subTitle" idx="4"/>
          </p:nvPr>
        </p:nvSpPr>
        <p:spPr>
          <a:xfrm>
            <a:off x="1389888" y="1973326"/>
            <a:ext cx="5843016" cy="132969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Com a competidors tenim empreses de jardineria com Auro Jardiners que ofereixen sistemes de reg. Empreses com Cairo que ofereix instal·lació de sistemes de reg i instal·lació de plaques fotovoltaiques i sistemes de seguretat (Compta amb nombrosos projectes al país de àmplia índole)</a:t>
            </a:r>
            <a:endParaRPr lang="en-US" dirty="0"/>
          </a:p>
        </p:txBody>
      </p:sp>
    </p:spTree>
    <p:extLst>
      <p:ext uri="{BB962C8B-B14F-4D97-AF65-F5344CB8AC3E}">
        <p14:creationId xmlns:p14="http://schemas.microsoft.com/office/powerpoint/2010/main" val="3732382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445025"/>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Forces competitives de Porter (1982):</a:t>
            </a:r>
          </a:p>
        </p:txBody>
      </p:sp>
      <p:sp>
        <p:nvSpPr>
          <p:cNvPr id="622" name="Google Shape;622;p73"/>
          <p:cNvSpPr txBox="1">
            <a:spLocks noGrp="1"/>
          </p:cNvSpPr>
          <p:nvPr>
            <p:ph type="subTitle" idx="3"/>
          </p:nvPr>
        </p:nvSpPr>
        <p:spPr>
          <a:xfrm>
            <a:off x="1036320" y="1472026"/>
            <a:ext cx="6717792" cy="50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ca-ES" dirty="0"/>
              <a:t>Amenaça de competidors potencials: Nivell mitjà</a:t>
            </a:r>
          </a:p>
        </p:txBody>
      </p:sp>
      <p:sp>
        <p:nvSpPr>
          <p:cNvPr id="623" name="Google Shape;623;p73"/>
          <p:cNvSpPr txBox="1">
            <a:spLocks noGrp="1"/>
          </p:cNvSpPr>
          <p:nvPr>
            <p:ph type="subTitle" idx="4"/>
          </p:nvPr>
        </p:nvSpPr>
        <p:spPr>
          <a:xfrm>
            <a:off x="1215820" y="2040382"/>
            <a:ext cx="5928691" cy="132969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b="0" i="0" dirty="0">
                <a:solidFill>
                  <a:srgbClr val="000000"/>
                </a:solidFill>
                <a:effectLst/>
                <a:latin typeface="Open Sans" panose="020B0606030504020204" pitchFamily="34" charset="0"/>
              </a:rPr>
              <a:t>Considerem que el nostre negoci és fàcilment imitable amb una barrera d'entrada relativament baixa. En aquest sentit, intentarem crear valor amb una estratègia de diferenciació orientada als ODS (Objectius de Desenvolupament Sostenibles).</a:t>
            </a:r>
            <a:endParaRPr lang="ca-ES" dirty="0"/>
          </a:p>
        </p:txBody>
      </p:sp>
    </p:spTree>
    <p:extLst>
      <p:ext uri="{BB962C8B-B14F-4D97-AF65-F5344CB8AC3E}">
        <p14:creationId xmlns:p14="http://schemas.microsoft.com/office/powerpoint/2010/main" val="59414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445025"/>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Forces competitives de Porter (1982):</a:t>
            </a:r>
          </a:p>
        </p:txBody>
      </p:sp>
      <p:sp>
        <p:nvSpPr>
          <p:cNvPr id="622" name="Google Shape;622;p73"/>
          <p:cNvSpPr txBox="1">
            <a:spLocks noGrp="1"/>
          </p:cNvSpPr>
          <p:nvPr>
            <p:ph type="subTitle" idx="3"/>
          </p:nvPr>
        </p:nvSpPr>
        <p:spPr>
          <a:xfrm>
            <a:off x="1036320" y="1472026"/>
            <a:ext cx="6717792" cy="5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Amenaça de productes substituts: Nivell Alt.</a:t>
            </a:r>
          </a:p>
        </p:txBody>
      </p:sp>
      <p:sp>
        <p:nvSpPr>
          <p:cNvPr id="623" name="Google Shape;623;p73"/>
          <p:cNvSpPr txBox="1">
            <a:spLocks noGrp="1"/>
          </p:cNvSpPr>
          <p:nvPr>
            <p:ph type="subTitle" idx="4"/>
          </p:nvPr>
        </p:nvSpPr>
        <p:spPr>
          <a:xfrm>
            <a:off x="1036320" y="2052574"/>
            <a:ext cx="5928691" cy="237312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b="0" i="0" dirty="0">
                <a:solidFill>
                  <a:srgbClr val="000000"/>
                </a:solidFill>
                <a:effectLst/>
                <a:latin typeface="Open Sans" panose="020B0606030504020204" pitchFamily="34" charset="0"/>
              </a:rPr>
              <a:t>Existeixen nombrosos serveis de jardiner i agricultors que ofereixen serveis de manteniment de jardins i horts amb instal·lació de reg automàtic.</a:t>
            </a:r>
            <a:br>
              <a:rPr lang="ca-ES" dirty="0"/>
            </a:br>
            <a:br>
              <a:rPr lang="ca-ES" dirty="0"/>
            </a:br>
            <a:r>
              <a:rPr lang="ca-ES" b="0" i="0" dirty="0">
                <a:solidFill>
                  <a:srgbClr val="000000"/>
                </a:solidFill>
                <a:effectLst/>
                <a:latin typeface="Open Sans" panose="020B0606030504020204" pitchFamily="34" charset="0"/>
              </a:rPr>
              <a:t>E.G El jardí d'Henoc </a:t>
            </a:r>
            <a:r>
              <a:rPr lang="ca-ES" b="0" i="0" dirty="0">
                <a:solidFill>
                  <a:schemeClr val="tx2">
                    <a:lumMod val="50000"/>
                  </a:schemeClr>
                </a:solidFill>
                <a:effectLst/>
                <a:latin typeface="Open Sans" panose="020B0606030504020204" pitchFamily="34" charset="0"/>
                <a:hlinkClick r:id="rId3">
                  <a:extLst>
                    <a:ext uri="{A12FA001-AC4F-418D-AE19-62706E023703}">
                      <ahyp:hlinkClr xmlns:ahyp="http://schemas.microsoft.com/office/drawing/2018/hyperlinkcolor" val="tx"/>
                    </a:ext>
                  </a:extLst>
                </a:hlinkClick>
              </a:rPr>
              <a:t>https://www.reformesandorra.com/el-jardi-d-henoc-andorra.html</a:t>
            </a:r>
            <a:endParaRPr lang="ca-ES" b="0" i="0" dirty="0">
              <a:solidFill>
                <a:schemeClr val="tx2">
                  <a:lumMod val="50000"/>
                </a:schemeClr>
              </a:solidFill>
              <a:effectLst/>
              <a:latin typeface="Open Sans" panose="020B0606030504020204" pitchFamily="34" charset="0"/>
            </a:endParaRPr>
          </a:p>
          <a:p>
            <a:pPr marL="0" lvl="0" indent="0" algn="l" rtl="0">
              <a:spcBef>
                <a:spcPts val="0"/>
              </a:spcBef>
              <a:spcAft>
                <a:spcPts val="0"/>
              </a:spcAft>
              <a:buNone/>
            </a:pPr>
            <a:endParaRPr lang="ca-ES" dirty="0"/>
          </a:p>
          <a:p>
            <a:pPr marL="0" lvl="0" indent="0" algn="l" rtl="0">
              <a:spcBef>
                <a:spcPts val="0"/>
              </a:spcBef>
              <a:spcAft>
                <a:spcPts val="0"/>
              </a:spcAft>
              <a:buNone/>
            </a:pPr>
            <a:r>
              <a:rPr lang="ca-ES" dirty="0"/>
              <a:t>Serveis de seguretat del grup MENTA.</a:t>
            </a:r>
          </a:p>
          <a:p>
            <a:pPr marL="0" lvl="0" indent="0" algn="l" rtl="0">
              <a:spcBef>
                <a:spcPts val="0"/>
              </a:spcBef>
              <a:spcAft>
                <a:spcPts val="0"/>
              </a:spcAft>
              <a:buNone/>
            </a:pPr>
            <a:endParaRPr lang="ca-ES" dirty="0"/>
          </a:p>
          <a:p>
            <a:pPr marL="0" lvl="0" indent="0" algn="l" rtl="0">
              <a:spcBef>
                <a:spcPts val="0"/>
              </a:spcBef>
              <a:spcAft>
                <a:spcPts val="0"/>
              </a:spcAft>
              <a:buNone/>
            </a:pPr>
            <a:endParaRPr lang="ca-ES" dirty="0"/>
          </a:p>
        </p:txBody>
      </p:sp>
    </p:spTree>
    <p:extLst>
      <p:ext uri="{BB962C8B-B14F-4D97-AF65-F5344CB8AC3E}">
        <p14:creationId xmlns:p14="http://schemas.microsoft.com/office/powerpoint/2010/main" val="3296171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445025"/>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Forces competitives de Porter (1982):</a:t>
            </a:r>
          </a:p>
        </p:txBody>
      </p:sp>
      <p:sp>
        <p:nvSpPr>
          <p:cNvPr id="622" name="Google Shape;622;p73"/>
          <p:cNvSpPr txBox="1">
            <a:spLocks noGrp="1"/>
          </p:cNvSpPr>
          <p:nvPr>
            <p:ph type="subTitle" idx="3"/>
          </p:nvPr>
        </p:nvSpPr>
        <p:spPr>
          <a:xfrm>
            <a:off x="1036320" y="1472026"/>
            <a:ext cx="6717792" cy="5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Poder de negociació dels proveïdors: Nivell mitjà.</a:t>
            </a:r>
          </a:p>
        </p:txBody>
      </p:sp>
      <p:sp>
        <p:nvSpPr>
          <p:cNvPr id="623" name="Google Shape;623;p73"/>
          <p:cNvSpPr txBox="1">
            <a:spLocks noGrp="1"/>
          </p:cNvSpPr>
          <p:nvPr>
            <p:ph type="subTitle" idx="4"/>
          </p:nvPr>
        </p:nvSpPr>
        <p:spPr>
          <a:xfrm>
            <a:off x="1036320" y="2052574"/>
            <a:ext cx="5928691" cy="237312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b="0" i="0" dirty="0">
                <a:solidFill>
                  <a:srgbClr val="000000"/>
                </a:solidFill>
                <a:effectLst/>
                <a:latin typeface="Open Sans" panose="020B0606030504020204" pitchFamily="34" charset="0"/>
              </a:rPr>
              <a:t>Considerem que nosaltres som els que desenvolupem el sistemes de control i potser necessitarem inputs com un </a:t>
            </a:r>
            <a:r>
              <a:rPr lang="ca-ES" b="0" i="0" dirty="0" err="1">
                <a:solidFill>
                  <a:srgbClr val="000000"/>
                </a:solidFill>
                <a:effectLst/>
                <a:latin typeface="Open Sans" panose="020B0606030504020204" pitchFamily="34" charset="0"/>
              </a:rPr>
              <a:t>Arduino</a:t>
            </a:r>
            <a:r>
              <a:rPr lang="ca-ES" b="0" i="0" dirty="0">
                <a:solidFill>
                  <a:srgbClr val="000000"/>
                </a:solidFill>
                <a:effectLst/>
                <a:latin typeface="Open Sans" panose="020B0606030504020204" pitchFamily="34" charset="0"/>
              </a:rPr>
              <a:t> o una </a:t>
            </a:r>
            <a:r>
              <a:rPr lang="ca-ES" b="0" i="0" dirty="0" err="1">
                <a:solidFill>
                  <a:srgbClr val="000000"/>
                </a:solidFill>
                <a:effectLst/>
                <a:latin typeface="Open Sans" panose="020B0606030504020204" pitchFamily="34" charset="0"/>
              </a:rPr>
              <a:t>RaspberryPi</a:t>
            </a:r>
            <a:r>
              <a:rPr lang="ca-ES" b="0" i="0" dirty="0">
                <a:solidFill>
                  <a:srgbClr val="000000"/>
                </a:solidFill>
                <a:effectLst/>
                <a:latin typeface="Open Sans" panose="020B0606030504020204" pitchFamily="34" charset="0"/>
              </a:rPr>
              <a:t> i diferents components per dur a terme el sistema de control. Per altra banda, existeix bastant oferta quant als materials bàsics pel sistema de reg.</a:t>
            </a:r>
            <a:endParaRPr lang="ca-ES" dirty="0"/>
          </a:p>
          <a:p>
            <a:pPr marL="0" lvl="0" indent="0" algn="l" rtl="0">
              <a:spcBef>
                <a:spcPts val="0"/>
              </a:spcBef>
              <a:spcAft>
                <a:spcPts val="0"/>
              </a:spcAft>
              <a:buNone/>
            </a:pPr>
            <a:endParaRPr lang="ca-ES" dirty="0"/>
          </a:p>
        </p:txBody>
      </p:sp>
    </p:spTree>
    <p:extLst>
      <p:ext uri="{BB962C8B-B14F-4D97-AF65-F5344CB8AC3E}">
        <p14:creationId xmlns:p14="http://schemas.microsoft.com/office/powerpoint/2010/main" val="2608653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445025"/>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Forces competitives de Porter (1982):</a:t>
            </a:r>
          </a:p>
        </p:txBody>
      </p:sp>
      <p:sp>
        <p:nvSpPr>
          <p:cNvPr id="622" name="Google Shape;622;p73"/>
          <p:cNvSpPr txBox="1">
            <a:spLocks noGrp="1"/>
          </p:cNvSpPr>
          <p:nvPr>
            <p:ph type="subTitle" idx="3"/>
          </p:nvPr>
        </p:nvSpPr>
        <p:spPr>
          <a:xfrm>
            <a:off x="1036320" y="1472026"/>
            <a:ext cx="7266432" cy="5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Poder de negociació dels compradors: Nivell mitjà.</a:t>
            </a:r>
          </a:p>
        </p:txBody>
      </p:sp>
      <p:sp>
        <p:nvSpPr>
          <p:cNvPr id="623" name="Google Shape;623;p73"/>
          <p:cNvSpPr txBox="1">
            <a:spLocks noGrp="1"/>
          </p:cNvSpPr>
          <p:nvPr>
            <p:ph type="subTitle" idx="4"/>
          </p:nvPr>
        </p:nvSpPr>
        <p:spPr>
          <a:xfrm>
            <a:off x="1036320" y="2052574"/>
            <a:ext cx="6638544" cy="237312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b="0" i="0" dirty="0">
                <a:solidFill>
                  <a:srgbClr val="000000"/>
                </a:solidFill>
                <a:effectLst/>
                <a:latin typeface="Open Sans" panose="020B0606030504020204" pitchFamily="34" charset="0"/>
              </a:rPr>
              <a:t>Com els ODS són una iniciativa actualment impulsada pel govern considerem on ens estem diferenciant actualment, considerem que existeix una creixent oportunitat de trobar clients que busquin sistemes de control de reg amb característiques relacionades. Hauríem de fer un estudi de mercat. </a:t>
            </a:r>
          </a:p>
          <a:p>
            <a:pPr marL="0" lvl="0" indent="0" algn="l" rtl="0">
              <a:spcBef>
                <a:spcPts val="0"/>
              </a:spcBef>
              <a:spcAft>
                <a:spcPts val="0"/>
              </a:spcAft>
              <a:buNone/>
            </a:pPr>
            <a:endParaRPr lang="ca-ES" dirty="0">
              <a:solidFill>
                <a:srgbClr val="000000"/>
              </a:solidFill>
              <a:latin typeface="Open Sans" panose="020B0606030504020204" pitchFamily="34" charset="0"/>
            </a:endParaRPr>
          </a:p>
          <a:p>
            <a:pPr marL="0" lvl="0" indent="0" algn="l" rtl="0">
              <a:spcBef>
                <a:spcPts val="0"/>
              </a:spcBef>
              <a:spcAft>
                <a:spcPts val="0"/>
              </a:spcAft>
              <a:buNone/>
            </a:pPr>
            <a:r>
              <a:rPr lang="ca-ES" b="0" i="0" dirty="0">
                <a:solidFill>
                  <a:srgbClr val="000000"/>
                </a:solidFill>
                <a:effectLst/>
                <a:latin typeface="Open Sans" panose="020B0606030504020204" pitchFamily="34" charset="0"/>
              </a:rPr>
              <a:t>No obstant això, el que ens ha fet catalogar-lo com nivell mitjà ha estat que tenim un nivell alt de productes substituts i un nivell mitjà de competidors.</a:t>
            </a:r>
            <a:endParaRPr lang="ca-ES" dirty="0"/>
          </a:p>
        </p:txBody>
      </p:sp>
    </p:spTree>
    <p:extLst>
      <p:ext uri="{BB962C8B-B14F-4D97-AF65-F5344CB8AC3E}">
        <p14:creationId xmlns:p14="http://schemas.microsoft.com/office/powerpoint/2010/main" val="2980114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359681"/>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PESTEL</a:t>
            </a:r>
          </a:p>
        </p:txBody>
      </p:sp>
      <p:sp>
        <p:nvSpPr>
          <p:cNvPr id="622" name="Google Shape;622;p73"/>
          <p:cNvSpPr txBox="1">
            <a:spLocks noGrp="1"/>
          </p:cNvSpPr>
          <p:nvPr>
            <p:ph type="subTitle" idx="3"/>
          </p:nvPr>
        </p:nvSpPr>
        <p:spPr>
          <a:xfrm>
            <a:off x="1036320" y="1118458"/>
            <a:ext cx="7266432" cy="5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Dimensió Política</a:t>
            </a:r>
          </a:p>
        </p:txBody>
      </p:sp>
      <p:sp>
        <p:nvSpPr>
          <p:cNvPr id="623" name="Google Shape;623;p73"/>
          <p:cNvSpPr txBox="1">
            <a:spLocks noGrp="1"/>
          </p:cNvSpPr>
          <p:nvPr>
            <p:ph type="subTitle" idx="4"/>
          </p:nvPr>
        </p:nvSpPr>
        <p:spPr>
          <a:xfrm>
            <a:off x="1036320" y="1583182"/>
            <a:ext cx="6638544" cy="1263650"/>
          </a:xfrm>
          <a:prstGeom prst="rect">
            <a:avLst/>
          </a:prstGeom>
        </p:spPr>
        <p:txBody>
          <a:bodyPr spcFirstLastPara="1" wrap="square" lIns="91425" tIns="91425" rIns="91425" bIns="91425" anchor="t" anchorCtr="0">
            <a:noAutofit/>
          </a:bodyPr>
          <a:lstStyle/>
          <a:p>
            <a:pPr marL="114300" indent="0" algn="l"/>
            <a:r>
              <a:rPr lang="ca-ES" sz="1200" b="1" i="0" dirty="0">
                <a:solidFill>
                  <a:srgbClr val="000000"/>
                </a:solidFill>
                <a:effectLst/>
                <a:latin typeface="Open Sans" panose="020B0606030504020204" pitchFamily="34" charset="0"/>
              </a:rPr>
              <a:t>Riscos: </a:t>
            </a:r>
            <a:r>
              <a:rPr lang="ca-ES" sz="1200" b="0" i="0" dirty="0">
                <a:solidFill>
                  <a:srgbClr val="000000"/>
                </a:solidFill>
                <a:effectLst/>
                <a:latin typeface="Open Sans" panose="020B0606030504020204" pitchFamily="34" charset="0"/>
              </a:rPr>
              <a:t>Possibles canvis en la legislació després de les eleccions.</a:t>
            </a:r>
          </a:p>
          <a:p>
            <a:pPr algn="l">
              <a:buFont typeface="Arial" panose="020B0604020202020204" pitchFamily="34" charset="0"/>
              <a:buChar char="•"/>
            </a:pPr>
            <a:endParaRPr lang="ca-ES" sz="1200" b="0" i="0" dirty="0">
              <a:solidFill>
                <a:srgbClr val="000000"/>
              </a:solidFill>
              <a:effectLst/>
              <a:latin typeface="Open Sans" panose="020B0606030504020204" pitchFamily="34" charset="0"/>
            </a:endParaRPr>
          </a:p>
          <a:p>
            <a:pPr marL="114300" indent="0" algn="l"/>
            <a:r>
              <a:rPr lang="ca-ES" sz="1200" b="1" i="0" dirty="0">
                <a:solidFill>
                  <a:srgbClr val="000000"/>
                </a:solidFill>
                <a:effectLst/>
                <a:latin typeface="Open Sans" panose="020B0606030504020204" pitchFamily="34" charset="0"/>
              </a:rPr>
              <a:t>Oportunitats: </a:t>
            </a:r>
            <a:r>
              <a:rPr lang="ca-ES" sz="1200" b="0" i="0" dirty="0">
                <a:solidFill>
                  <a:srgbClr val="000000"/>
                </a:solidFill>
                <a:effectLst/>
                <a:latin typeface="Open Sans" panose="020B0606030504020204" pitchFamily="34" charset="0"/>
              </a:rPr>
              <a:t>Podem aprofitar els programes i ajuts impulsats pel govern per empreses PIMES de nova creació. Màxim del 10% d'impost de societats sobre els beneficis a Andorra. (Política fiscal)</a:t>
            </a:r>
          </a:p>
        </p:txBody>
      </p:sp>
      <p:sp>
        <p:nvSpPr>
          <p:cNvPr id="2" name="Google Shape;622;p73">
            <a:extLst>
              <a:ext uri="{FF2B5EF4-FFF2-40B4-BE49-F238E27FC236}">
                <a16:creationId xmlns:a16="http://schemas.microsoft.com/office/drawing/2014/main" id="{DFEE502A-394F-6044-1FFD-6B6B8624E4DF}"/>
              </a:ext>
            </a:extLst>
          </p:cNvPr>
          <p:cNvSpPr txBox="1">
            <a:spLocks/>
          </p:cNvSpPr>
          <p:nvPr/>
        </p:nvSpPr>
        <p:spPr>
          <a:xfrm>
            <a:off x="1011936" y="2739994"/>
            <a:ext cx="7266432" cy="501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400"/>
              <a:buFont typeface="Vidaloka"/>
              <a:buNone/>
              <a:defRPr sz="2400" b="0" i="0" u="none" strike="noStrike" cap="none">
                <a:solidFill>
                  <a:schemeClr val="accent1"/>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2pPr>
            <a:lvl3pPr marL="1371600" marR="0" lvl="2"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3pPr>
            <a:lvl4pPr marL="1828800" marR="0" lvl="3"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4pPr>
            <a:lvl5pPr marL="2286000" marR="0" lvl="4"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5pPr>
            <a:lvl6pPr marL="2743200" marR="0" lvl="5"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6pPr>
            <a:lvl7pPr marL="3200400" marR="0" lvl="6"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7pPr>
            <a:lvl8pPr marL="3657600" marR="0" lvl="7"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8pPr>
            <a:lvl9pPr marL="4114800" marR="0" lvl="8"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9pPr>
          </a:lstStyle>
          <a:p>
            <a:pPr marL="0" indent="0" algn="l"/>
            <a:r>
              <a:rPr lang="ca-ES" dirty="0"/>
              <a:t>Dimensió Econòmica</a:t>
            </a:r>
          </a:p>
        </p:txBody>
      </p:sp>
      <p:sp>
        <p:nvSpPr>
          <p:cNvPr id="3" name="Google Shape;623;p73">
            <a:extLst>
              <a:ext uri="{FF2B5EF4-FFF2-40B4-BE49-F238E27FC236}">
                <a16:creationId xmlns:a16="http://schemas.microsoft.com/office/drawing/2014/main" id="{4A2A61F4-59D9-DAB2-9877-F2922606B289}"/>
              </a:ext>
            </a:extLst>
          </p:cNvPr>
          <p:cNvSpPr txBox="1">
            <a:spLocks/>
          </p:cNvSpPr>
          <p:nvPr/>
        </p:nvSpPr>
        <p:spPr>
          <a:xfrm>
            <a:off x="1011936" y="3204718"/>
            <a:ext cx="6638544" cy="12636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114300" indent="0" algn="l"/>
            <a:r>
              <a:rPr lang="ca-ES" sz="1200" b="1" i="0" dirty="0">
                <a:solidFill>
                  <a:srgbClr val="000000"/>
                </a:solidFill>
                <a:effectLst/>
                <a:latin typeface="Open Sans" panose="020B0606030504020204" pitchFamily="34" charset="0"/>
              </a:rPr>
              <a:t>Riscos: </a:t>
            </a:r>
            <a:r>
              <a:rPr lang="ca-ES" sz="1200" b="0" i="0" dirty="0">
                <a:solidFill>
                  <a:srgbClr val="000000"/>
                </a:solidFill>
                <a:effectLst/>
                <a:latin typeface="Open Sans" panose="020B0606030504020204" pitchFamily="34" charset="0"/>
              </a:rPr>
              <a:t>Alta inestabilitat econòmica a causa de la crisi energètica i sanitària. Inflació desmesurada. Incertesa, es comença a parlar de resecció.</a:t>
            </a:r>
          </a:p>
          <a:p>
            <a:pPr marL="114300" indent="0" algn="l"/>
            <a:endParaRPr lang="ca-ES" sz="1200" b="0" i="0" dirty="0">
              <a:solidFill>
                <a:srgbClr val="000000"/>
              </a:solidFill>
              <a:effectLst/>
              <a:latin typeface="Open Sans" panose="020B0606030504020204" pitchFamily="34" charset="0"/>
            </a:endParaRPr>
          </a:p>
          <a:p>
            <a:pPr marL="114300" indent="0" algn="l"/>
            <a:r>
              <a:rPr lang="ca-ES" sz="1200" b="1" i="0" dirty="0">
                <a:solidFill>
                  <a:srgbClr val="000000"/>
                </a:solidFill>
                <a:effectLst/>
                <a:latin typeface="Open Sans" panose="020B0606030504020204" pitchFamily="34" charset="0"/>
              </a:rPr>
              <a:t>Oportunitats: </a:t>
            </a:r>
            <a:r>
              <a:rPr lang="ca-ES" sz="1200" b="0" i="0" dirty="0">
                <a:solidFill>
                  <a:srgbClr val="000000"/>
                </a:solidFill>
                <a:effectLst/>
                <a:latin typeface="Open Sans" panose="020B0606030504020204" pitchFamily="34" charset="0"/>
              </a:rPr>
              <a:t>Si es dona el cas hem d'aprofitar tots els ajuts impulsats pel govern per a les PIMES</a:t>
            </a:r>
            <a:br>
              <a:rPr lang="en-US" sz="1200" dirty="0"/>
            </a:br>
            <a:br>
              <a:rPr lang="en-US" sz="1200" dirty="0"/>
            </a:br>
            <a:r>
              <a:rPr lang="en-US" sz="1200" b="0" i="0" dirty="0">
                <a:solidFill>
                  <a:schemeClr val="tx2">
                    <a:lumMod val="50000"/>
                  </a:schemeClr>
                </a:solidFill>
                <a:effectLst/>
                <a:latin typeface="Open Sans" panose="020B0606030504020204" pitchFamily="34" charset="0"/>
              </a:rPr>
              <a:t>https://www.andorrabusiness.com/creix-andorra/programa-empresarial/subvencions/subvencions-andorra-business-2022/</a:t>
            </a:r>
            <a:endParaRPr lang="ca-ES" sz="1200" b="0" i="0" dirty="0">
              <a:solidFill>
                <a:srgbClr val="000000"/>
              </a:solidFill>
              <a:effectLst/>
              <a:latin typeface="Open Sans" panose="020B0606030504020204" pitchFamily="34" charset="0"/>
            </a:endParaRPr>
          </a:p>
          <a:p>
            <a:pPr marL="114300" indent="0" algn="l"/>
            <a:br>
              <a:rPr lang="ca-ES" sz="1200" dirty="0"/>
            </a:br>
            <a:br>
              <a:rPr lang="en-US" dirty="0"/>
            </a:br>
            <a:endParaRPr lang="ca-ES" dirty="0">
              <a:solidFill>
                <a:srgbClr val="000000"/>
              </a:solidFill>
              <a:latin typeface="Open Sans" panose="020B0606030504020204" pitchFamily="34" charset="0"/>
            </a:endParaRPr>
          </a:p>
        </p:txBody>
      </p:sp>
    </p:spTree>
    <p:extLst>
      <p:ext uri="{BB962C8B-B14F-4D97-AF65-F5344CB8AC3E}">
        <p14:creationId xmlns:p14="http://schemas.microsoft.com/office/powerpoint/2010/main" val="3556533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0"/>
        <p:cNvGrpSpPr/>
        <p:nvPr/>
      </p:nvGrpSpPr>
      <p:grpSpPr>
        <a:xfrm>
          <a:off x="0" y="0"/>
          <a:ext cx="0" cy="0"/>
          <a:chOff x="0" y="0"/>
          <a:chExt cx="0" cy="0"/>
        </a:xfrm>
      </p:grpSpPr>
      <p:grpSp>
        <p:nvGrpSpPr>
          <p:cNvPr id="1483" name="Google Shape;1483;p115"/>
          <p:cNvGrpSpPr/>
          <p:nvPr/>
        </p:nvGrpSpPr>
        <p:grpSpPr>
          <a:xfrm>
            <a:off x="5205650" y="1369751"/>
            <a:ext cx="3017896" cy="2531353"/>
            <a:chOff x="649171" y="238145"/>
            <a:chExt cx="6249525" cy="5241981"/>
          </a:xfrm>
        </p:grpSpPr>
        <p:sp>
          <p:nvSpPr>
            <p:cNvPr id="1484" name="Google Shape;1484;p115"/>
            <p:cNvSpPr/>
            <p:nvPr/>
          </p:nvSpPr>
          <p:spPr>
            <a:xfrm>
              <a:off x="2850275" y="4515119"/>
              <a:ext cx="1849000" cy="810050"/>
            </a:xfrm>
            <a:custGeom>
              <a:avLst/>
              <a:gdLst/>
              <a:ahLst/>
              <a:cxnLst/>
              <a:rect l="l" t="t" r="r" b="b"/>
              <a:pathLst>
                <a:path w="73960" h="32402" extrusionOk="0">
                  <a:moveTo>
                    <a:pt x="7960" y="1"/>
                  </a:moveTo>
                  <a:cubicBezTo>
                    <a:pt x="5284" y="10848"/>
                    <a:pt x="2607" y="21625"/>
                    <a:pt x="1" y="32402"/>
                  </a:cubicBezTo>
                  <a:lnTo>
                    <a:pt x="73960" y="32402"/>
                  </a:lnTo>
                  <a:lnTo>
                    <a:pt x="66071" y="1"/>
                  </a:lnTo>
                  <a:close/>
                </a:path>
              </a:pathLst>
            </a:cu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5" name="Google Shape;1485;p115"/>
            <p:cNvSpPr/>
            <p:nvPr/>
          </p:nvSpPr>
          <p:spPr>
            <a:xfrm>
              <a:off x="2638975" y="5325151"/>
              <a:ext cx="2269850" cy="154975"/>
            </a:xfrm>
            <a:custGeom>
              <a:avLst/>
              <a:gdLst/>
              <a:ahLst/>
              <a:cxnLst/>
              <a:rect l="l" t="t" r="r" b="b"/>
              <a:pathLst>
                <a:path w="90794" h="6199" extrusionOk="0">
                  <a:moveTo>
                    <a:pt x="3875" y="0"/>
                  </a:moveTo>
                  <a:cubicBezTo>
                    <a:pt x="1761" y="0"/>
                    <a:pt x="1" y="2043"/>
                    <a:pt x="1" y="4508"/>
                  </a:cubicBezTo>
                  <a:lnTo>
                    <a:pt x="1" y="6199"/>
                  </a:lnTo>
                  <a:lnTo>
                    <a:pt x="90794" y="6199"/>
                  </a:lnTo>
                  <a:lnTo>
                    <a:pt x="90794" y="4508"/>
                  </a:lnTo>
                  <a:cubicBezTo>
                    <a:pt x="90794" y="2043"/>
                    <a:pt x="89103" y="0"/>
                    <a:pt x="86990" y="0"/>
                  </a:cubicBezTo>
                  <a:close/>
                </a:path>
              </a:pathLst>
            </a:cu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6" name="Google Shape;1486;p115"/>
            <p:cNvSpPr/>
            <p:nvPr/>
          </p:nvSpPr>
          <p:spPr>
            <a:xfrm>
              <a:off x="649171" y="238145"/>
              <a:ext cx="6249525" cy="4250923"/>
            </a:xfrm>
            <a:custGeom>
              <a:avLst/>
              <a:gdLst/>
              <a:ahLst/>
              <a:cxnLst/>
              <a:rect l="l" t="t" r="r" b="b"/>
              <a:pathLst>
                <a:path w="249981" h="157427" extrusionOk="0">
                  <a:moveTo>
                    <a:pt x="6198" y="0"/>
                  </a:moveTo>
                  <a:cubicBezTo>
                    <a:pt x="2817" y="0"/>
                    <a:pt x="0" y="2817"/>
                    <a:pt x="0" y="6198"/>
                  </a:cubicBezTo>
                  <a:lnTo>
                    <a:pt x="0" y="157427"/>
                  </a:lnTo>
                  <a:lnTo>
                    <a:pt x="249980" y="157427"/>
                  </a:lnTo>
                  <a:lnTo>
                    <a:pt x="249980" y="6198"/>
                  </a:lnTo>
                  <a:cubicBezTo>
                    <a:pt x="249980" y="2817"/>
                    <a:pt x="247233" y="0"/>
                    <a:pt x="243782" y="0"/>
                  </a:cubicBezTo>
                  <a:close/>
                </a:path>
              </a:pathLst>
            </a:cu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7" name="Google Shape;1487;p115"/>
            <p:cNvSpPr/>
            <p:nvPr/>
          </p:nvSpPr>
          <p:spPr>
            <a:xfrm>
              <a:off x="904475" y="481125"/>
              <a:ext cx="5738850" cy="3435575"/>
            </a:xfrm>
            <a:custGeom>
              <a:avLst/>
              <a:gdLst/>
              <a:ahLst/>
              <a:cxnLst/>
              <a:rect l="l" t="t" r="r" b="b"/>
              <a:pathLst>
                <a:path w="229554" h="137423" extrusionOk="0">
                  <a:moveTo>
                    <a:pt x="0" y="0"/>
                  </a:moveTo>
                  <a:lnTo>
                    <a:pt x="0" y="137423"/>
                  </a:lnTo>
                  <a:lnTo>
                    <a:pt x="229554" y="137423"/>
                  </a:lnTo>
                  <a:lnTo>
                    <a:pt x="229554" y="0"/>
                  </a:lnTo>
                  <a:close/>
                </a:path>
              </a:pathLst>
            </a:custGeom>
            <a:solidFill>
              <a:schemeClr val="accent1"/>
            </a:solid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 name="Google Shape;619;p73">
            <a:extLst>
              <a:ext uri="{FF2B5EF4-FFF2-40B4-BE49-F238E27FC236}">
                <a16:creationId xmlns:a16="http://schemas.microsoft.com/office/drawing/2014/main" id="{761F59E4-63E9-1C68-2900-67D9DB5F75C2}"/>
              </a:ext>
            </a:extLst>
          </p:cNvPr>
          <p:cNvSpPr txBox="1">
            <a:spLocks/>
          </p:cNvSpPr>
          <p:nvPr/>
        </p:nvSpPr>
        <p:spPr>
          <a:xfrm>
            <a:off x="713225" y="359681"/>
            <a:ext cx="6327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9pPr>
          </a:lstStyle>
          <a:p>
            <a:pPr>
              <a:buSzPts val="1100"/>
            </a:pPr>
            <a:r>
              <a:rPr lang="ca-ES"/>
              <a:t>PESTEL</a:t>
            </a:r>
            <a:endParaRPr lang="ca-ES" dirty="0"/>
          </a:p>
        </p:txBody>
      </p:sp>
      <p:sp>
        <p:nvSpPr>
          <p:cNvPr id="8" name="Google Shape;623;p73">
            <a:extLst>
              <a:ext uri="{FF2B5EF4-FFF2-40B4-BE49-F238E27FC236}">
                <a16:creationId xmlns:a16="http://schemas.microsoft.com/office/drawing/2014/main" id="{42058633-1FE2-0BCC-8990-4896024764E0}"/>
              </a:ext>
            </a:extLst>
          </p:cNvPr>
          <p:cNvSpPr txBox="1">
            <a:spLocks/>
          </p:cNvSpPr>
          <p:nvPr/>
        </p:nvSpPr>
        <p:spPr>
          <a:xfrm>
            <a:off x="640080" y="2158573"/>
            <a:ext cx="4285488" cy="126365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r>
              <a:rPr lang="ca-ES" sz="1200" b="1" dirty="0">
                <a:latin typeface="Open Sans" panose="020B0606030504020204" pitchFamily="34" charset="0"/>
              </a:rPr>
              <a:t>Riscos:</a:t>
            </a:r>
            <a:r>
              <a:rPr lang="ca-ES" sz="1200" dirty="0">
                <a:latin typeface="Open Sans" panose="020B0606030504020204" pitchFamily="34" charset="0"/>
              </a:rPr>
              <a:t> Alta presència de webs. Usuaris cada vegada millor informats.</a:t>
            </a:r>
          </a:p>
          <a:p>
            <a:pPr marL="114300"/>
            <a:endParaRPr lang="ca-ES" sz="1200" dirty="0">
              <a:latin typeface="Open Sans" panose="020B0606030504020204" pitchFamily="34" charset="0"/>
            </a:endParaRPr>
          </a:p>
          <a:p>
            <a:pPr marL="114300"/>
            <a:r>
              <a:rPr lang="ca-ES" sz="1200" b="1" dirty="0">
                <a:latin typeface="Open Sans" panose="020B0606030504020204" pitchFamily="34" charset="0"/>
              </a:rPr>
              <a:t>Oportunitats: </a:t>
            </a:r>
            <a:r>
              <a:rPr lang="ca-ES" sz="1200" dirty="0">
                <a:latin typeface="Open Sans" panose="020B0606030504020204" pitchFamily="34" charset="0"/>
              </a:rPr>
              <a:t>Podem aprofitar per crear la nostra web i poder arribar a una major quantitat d'usuaris oferint un servei innovador i d'alta qualitat.</a:t>
            </a:r>
          </a:p>
        </p:txBody>
      </p:sp>
      <p:sp>
        <p:nvSpPr>
          <p:cNvPr id="9" name="Google Shape;622;p73">
            <a:extLst>
              <a:ext uri="{FF2B5EF4-FFF2-40B4-BE49-F238E27FC236}">
                <a16:creationId xmlns:a16="http://schemas.microsoft.com/office/drawing/2014/main" id="{2E8B9282-95FC-3C55-C99C-D7E0C4E5069E}"/>
              </a:ext>
            </a:extLst>
          </p:cNvPr>
          <p:cNvSpPr txBox="1">
            <a:spLocks/>
          </p:cNvSpPr>
          <p:nvPr/>
        </p:nvSpPr>
        <p:spPr>
          <a:xfrm>
            <a:off x="640080" y="1657273"/>
            <a:ext cx="3891637" cy="501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400"/>
              <a:buFont typeface="Vidaloka"/>
              <a:buNone/>
              <a:defRPr sz="2400" b="0" i="0" u="none" strike="noStrike" cap="none">
                <a:solidFill>
                  <a:schemeClr val="accent1"/>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2pPr>
            <a:lvl3pPr marL="1371600" marR="0" lvl="2"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3pPr>
            <a:lvl4pPr marL="1828800" marR="0" lvl="3"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4pPr>
            <a:lvl5pPr marL="2286000" marR="0" lvl="4"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5pPr>
            <a:lvl6pPr marL="2743200" marR="0" lvl="5"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6pPr>
            <a:lvl7pPr marL="3200400" marR="0" lvl="6"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7pPr>
            <a:lvl8pPr marL="3657600" marR="0" lvl="7"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8pPr>
            <a:lvl9pPr marL="4114800" marR="0" lvl="8"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9pPr>
          </a:lstStyle>
          <a:p>
            <a:pPr algn="l"/>
            <a:r>
              <a:rPr lang="ca-ES" dirty="0"/>
              <a:t>Dimensió Tecnològica</a:t>
            </a:r>
          </a:p>
        </p:txBody>
      </p:sp>
      <p:pic>
        <p:nvPicPr>
          <p:cNvPr id="13" name="Picture 12">
            <a:extLst>
              <a:ext uri="{FF2B5EF4-FFF2-40B4-BE49-F238E27FC236}">
                <a16:creationId xmlns:a16="http://schemas.microsoft.com/office/drawing/2014/main" id="{7ED55D1E-98C8-FCE1-AC2F-A1783961AB71}"/>
              </a:ext>
            </a:extLst>
          </p:cNvPr>
          <p:cNvPicPr>
            <a:picLocks noChangeAspect="1"/>
          </p:cNvPicPr>
          <p:nvPr/>
        </p:nvPicPr>
        <p:blipFill>
          <a:blip r:embed="rId3"/>
          <a:stretch>
            <a:fillRect/>
          </a:stretch>
        </p:blipFill>
        <p:spPr>
          <a:xfrm>
            <a:off x="5328936" y="1487086"/>
            <a:ext cx="2771291" cy="1668009"/>
          </a:xfrm>
          <a:prstGeom prst="rect">
            <a:avLst/>
          </a:prstGeom>
        </p:spPr>
      </p:pic>
    </p:spTree>
    <p:extLst>
      <p:ext uri="{BB962C8B-B14F-4D97-AF65-F5344CB8AC3E}">
        <p14:creationId xmlns:p14="http://schemas.microsoft.com/office/powerpoint/2010/main" val="3639423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359681"/>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PESTEL</a:t>
            </a:r>
          </a:p>
        </p:txBody>
      </p:sp>
      <p:sp>
        <p:nvSpPr>
          <p:cNvPr id="622" name="Google Shape;622;p73"/>
          <p:cNvSpPr txBox="1">
            <a:spLocks noGrp="1"/>
          </p:cNvSpPr>
          <p:nvPr>
            <p:ph type="subTitle" idx="3"/>
          </p:nvPr>
        </p:nvSpPr>
        <p:spPr>
          <a:xfrm>
            <a:off x="1036320" y="2831434"/>
            <a:ext cx="7266432" cy="5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Dimensió Legal</a:t>
            </a:r>
          </a:p>
        </p:txBody>
      </p:sp>
      <p:sp>
        <p:nvSpPr>
          <p:cNvPr id="623" name="Google Shape;623;p73"/>
          <p:cNvSpPr txBox="1">
            <a:spLocks noGrp="1"/>
          </p:cNvSpPr>
          <p:nvPr>
            <p:ph type="subTitle" idx="4"/>
          </p:nvPr>
        </p:nvSpPr>
        <p:spPr>
          <a:xfrm>
            <a:off x="1036320" y="3296158"/>
            <a:ext cx="6638544" cy="1263650"/>
          </a:xfrm>
          <a:prstGeom prst="rect">
            <a:avLst/>
          </a:prstGeom>
        </p:spPr>
        <p:txBody>
          <a:bodyPr spcFirstLastPara="1" wrap="square" lIns="91425" tIns="91425" rIns="91425" bIns="91425" anchor="t" anchorCtr="0">
            <a:noAutofit/>
          </a:bodyPr>
          <a:lstStyle/>
          <a:p>
            <a:pPr marL="114300" indent="0" algn="l"/>
            <a:r>
              <a:rPr lang="ca-ES" sz="1200" b="1" i="0" dirty="0">
                <a:solidFill>
                  <a:srgbClr val="000000"/>
                </a:solidFill>
                <a:effectLst/>
                <a:latin typeface="Open Sans" panose="020B0606030504020204" pitchFamily="34" charset="0"/>
              </a:rPr>
              <a:t>Observacions</a:t>
            </a:r>
            <a:r>
              <a:rPr lang="ca-ES" sz="1200" i="0" dirty="0">
                <a:solidFill>
                  <a:srgbClr val="000000"/>
                </a:solidFill>
                <a:effectLst/>
                <a:latin typeface="Open Sans" panose="020B0606030504020204" pitchFamily="34" charset="0"/>
              </a:rPr>
              <a:t>: Hem de complir amb les regulacions laborals i tributàries, ja que el seu no compliment pot comportar multes</a:t>
            </a:r>
          </a:p>
        </p:txBody>
      </p:sp>
      <p:sp>
        <p:nvSpPr>
          <p:cNvPr id="3" name="Google Shape;623;p73">
            <a:extLst>
              <a:ext uri="{FF2B5EF4-FFF2-40B4-BE49-F238E27FC236}">
                <a16:creationId xmlns:a16="http://schemas.microsoft.com/office/drawing/2014/main" id="{4A2A61F4-59D9-DAB2-9877-F2922606B289}"/>
              </a:ext>
            </a:extLst>
          </p:cNvPr>
          <p:cNvSpPr txBox="1">
            <a:spLocks/>
          </p:cNvSpPr>
          <p:nvPr/>
        </p:nvSpPr>
        <p:spPr>
          <a:xfrm>
            <a:off x="1011936" y="3253486"/>
            <a:ext cx="6638544" cy="12636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114300" indent="0" algn="l"/>
            <a:br>
              <a:rPr lang="ca-ES" sz="1200" dirty="0"/>
            </a:br>
            <a:br>
              <a:rPr lang="en-US" dirty="0"/>
            </a:br>
            <a:endParaRPr lang="ca-ES" dirty="0">
              <a:solidFill>
                <a:srgbClr val="000000"/>
              </a:solidFill>
              <a:latin typeface="Open Sans" panose="020B0606030504020204" pitchFamily="34" charset="0"/>
            </a:endParaRPr>
          </a:p>
        </p:txBody>
      </p:sp>
      <p:sp>
        <p:nvSpPr>
          <p:cNvPr id="7" name="Google Shape;622;p73">
            <a:extLst>
              <a:ext uri="{FF2B5EF4-FFF2-40B4-BE49-F238E27FC236}">
                <a16:creationId xmlns:a16="http://schemas.microsoft.com/office/drawing/2014/main" id="{5DBEAC9E-AC73-69DA-A258-3FB615208231}"/>
              </a:ext>
            </a:extLst>
          </p:cNvPr>
          <p:cNvSpPr txBox="1">
            <a:spLocks/>
          </p:cNvSpPr>
          <p:nvPr/>
        </p:nvSpPr>
        <p:spPr>
          <a:xfrm>
            <a:off x="1054608" y="1033114"/>
            <a:ext cx="7266432" cy="501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400"/>
              <a:buFont typeface="Vidaloka"/>
              <a:buNone/>
              <a:defRPr sz="2400" b="0" i="0" u="none" strike="noStrike" cap="none">
                <a:solidFill>
                  <a:schemeClr val="accent1"/>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2pPr>
            <a:lvl3pPr marL="1371600" marR="0" lvl="2"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3pPr>
            <a:lvl4pPr marL="1828800" marR="0" lvl="3"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4pPr>
            <a:lvl5pPr marL="2286000" marR="0" lvl="4"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5pPr>
            <a:lvl6pPr marL="2743200" marR="0" lvl="5"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6pPr>
            <a:lvl7pPr marL="3200400" marR="0" lvl="6"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7pPr>
            <a:lvl8pPr marL="3657600" marR="0" lvl="7"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8pPr>
            <a:lvl9pPr marL="4114800" marR="0" lvl="8"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9pPr>
          </a:lstStyle>
          <a:p>
            <a:pPr marL="0" indent="0" algn="l"/>
            <a:r>
              <a:rPr lang="ca-ES" dirty="0"/>
              <a:t>Dimensió Ecològica</a:t>
            </a:r>
          </a:p>
        </p:txBody>
      </p:sp>
      <p:sp>
        <p:nvSpPr>
          <p:cNvPr id="8" name="Google Shape;623;p73">
            <a:extLst>
              <a:ext uri="{FF2B5EF4-FFF2-40B4-BE49-F238E27FC236}">
                <a16:creationId xmlns:a16="http://schemas.microsoft.com/office/drawing/2014/main" id="{779900C8-504D-5CB6-3EC5-2C1973128D48}"/>
              </a:ext>
            </a:extLst>
          </p:cNvPr>
          <p:cNvSpPr txBox="1">
            <a:spLocks/>
          </p:cNvSpPr>
          <p:nvPr/>
        </p:nvSpPr>
        <p:spPr>
          <a:xfrm>
            <a:off x="1054608" y="1564894"/>
            <a:ext cx="6638544" cy="12636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114300" indent="0" algn="l"/>
            <a:r>
              <a:rPr lang="ca-ES" sz="1200" b="1" dirty="0"/>
              <a:t>Riscos: </a:t>
            </a:r>
            <a:r>
              <a:rPr lang="ca-ES" sz="1200" dirty="0"/>
              <a:t>Ús d'energies renovables. Comença a desenvolupar-se la consciència ecològica entre els ciutadans. Quan una empresa adopta o no mesures ecològiques és percebuda de forma diferent. Tendències de 0 plàstics.</a:t>
            </a:r>
          </a:p>
          <a:p>
            <a:pPr marL="114300" indent="0" algn="l"/>
            <a:endParaRPr lang="ca-ES" sz="1200" dirty="0"/>
          </a:p>
          <a:p>
            <a:pPr marL="114300" indent="0" algn="l"/>
            <a:r>
              <a:rPr lang="ca-ES" sz="1200" b="1" dirty="0"/>
              <a:t>Oportunitats: </a:t>
            </a:r>
            <a:r>
              <a:rPr lang="ca-ES" sz="1200" dirty="0"/>
              <a:t>Evitarem al màxim la generació de residus i aportarem valor aprofitant els ODS proposats per l'ONU.</a:t>
            </a:r>
            <a:br>
              <a:rPr lang="ca-ES" sz="1200" dirty="0"/>
            </a:br>
            <a:br>
              <a:rPr lang="en-US" dirty="0"/>
            </a:br>
            <a:endParaRPr lang="ca-ES" dirty="0">
              <a:solidFill>
                <a:srgbClr val="000000"/>
              </a:solidFill>
              <a:latin typeface="Open Sans" panose="020B0606030504020204" pitchFamily="34" charset="0"/>
            </a:endParaRPr>
          </a:p>
        </p:txBody>
      </p:sp>
      <p:grpSp>
        <p:nvGrpSpPr>
          <p:cNvPr id="9" name="Google Shape;1854;p125">
            <a:extLst>
              <a:ext uri="{FF2B5EF4-FFF2-40B4-BE49-F238E27FC236}">
                <a16:creationId xmlns:a16="http://schemas.microsoft.com/office/drawing/2014/main" id="{C478AA92-DA9E-1944-C00F-E5343580079C}"/>
              </a:ext>
            </a:extLst>
          </p:cNvPr>
          <p:cNvGrpSpPr/>
          <p:nvPr/>
        </p:nvGrpSpPr>
        <p:grpSpPr>
          <a:xfrm>
            <a:off x="7295241" y="932381"/>
            <a:ext cx="1330599" cy="1254629"/>
            <a:chOff x="5381400" y="2809980"/>
            <a:chExt cx="1623330" cy="1462687"/>
          </a:xfrm>
        </p:grpSpPr>
        <p:sp>
          <p:nvSpPr>
            <p:cNvPr id="10" name="Google Shape;1855;p125">
              <a:extLst>
                <a:ext uri="{FF2B5EF4-FFF2-40B4-BE49-F238E27FC236}">
                  <a16:creationId xmlns:a16="http://schemas.microsoft.com/office/drawing/2014/main" id="{0690947E-8E87-441A-3DE9-15FFED6E5224}"/>
                </a:ext>
              </a:extLst>
            </p:cNvPr>
            <p:cNvSpPr/>
            <p:nvPr/>
          </p:nvSpPr>
          <p:spPr>
            <a:xfrm>
              <a:off x="5381400" y="2809980"/>
              <a:ext cx="795055" cy="711131"/>
            </a:xfrm>
            <a:custGeom>
              <a:avLst/>
              <a:gdLst/>
              <a:ahLst/>
              <a:cxnLst/>
              <a:rect l="l" t="t" r="r" b="b"/>
              <a:pathLst>
                <a:path w="15006" h="13422" extrusionOk="0">
                  <a:moveTo>
                    <a:pt x="1" y="0"/>
                  </a:moveTo>
                  <a:lnTo>
                    <a:pt x="1" y="4738"/>
                  </a:lnTo>
                  <a:cubicBezTo>
                    <a:pt x="1" y="9530"/>
                    <a:pt x="3892" y="13421"/>
                    <a:pt x="8684" y="13421"/>
                  </a:cubicBezTo>
                  <a:lnTo>
                    <a:pt x="15006" y="13421"/>
                  </a:lnTo>
                  <a:lnTo>
                    <a:pt x="15006" y="8670"/>
                  </a:lnTo>
                  <a:cubicBezTo>
                    <a:pt x="15006" y="3878"/>
                    <a:pt x="11115" y="0"/>
                    <a:pt x="6336" y="0"/>
                  </a:cubicBezTo>
                  <a:close/>
                </a:path>
              </a:pathLst>
            </a:cu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856;p125">
              <a:extLst>
                <a:ext uri="{FF2B5EF4-FFF2-40B4-BE49-F238E27FC236}">
                  <a16:creationId xmlns:a16="http://schemas.microsoft.com/office/drawing/2014/main" id="{814337C3-F651-C142-30FE-F3FD1ED7408D}"/>
                </a:ext>
              </a:extLst>
            </p:cNvPr>
            <p:cNvSpPr/>
            <p:nvPr/>
          </p:nvSpPr>
          <p:spPr>
            <a:xfrm>
              <a:off x="6209674" y="2809980"/>
              <a:ext cx="795055" cy="711131"/>
            </a:xfrm>
            <a:custGeom>
              <a:avLst/>
              <a:gdLst/>
              <a:ahLst/>
              <a:cxnLst/>
              <a:rect l="l" t="t" r="r" b="b"/>
              <a:pathLst>
                <a:path w="15006" h="13422" extrusionOk="0">
                  <a:moveTo>
                    <a:pt x="8671" y="0"/>
                  </a:moveTo>
                  <a:cubicBezTo>
                    <a:pt x="3892" y="0"/>
                    <a:pt x="1" y="3878"/>
                    <a:pt x="1" y="8670"/>
                  </a:cubicBezTo>
                  <a:lnTo>
                    <a:pt x="1" y="13421"/>
                  </a:lnTo>
                  <a:lnTo>
                    <a:pt x="6322" y="13421"/>
                  </a:lnTo>
                  <a:cubicBezTo>
                    <a:pt x="11115" y="13421"/>
                    <a:pt x="15006" y="9530"/>
                    <a:pt x="15006" y="4738"/>
                  </a:cubicBezTo>
                  <a:lnTo>
                    <a:pt x="15006" y="0"/>
                  </a:lnTo>
                  <a:close/>
                </a:path>
              </a:pathLst>
            </a:cu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1857;p125">
              <a:extLst>
                <a:ext uri="{FF2B5EF4-FFF2-40B4-BE49-F238E27FC236}">
                  <a16:creationId xmlns:a16="http://schemas.microsoft.com/office/drawing/2014/main" id="{4AB5BF08-8C1F-C062-D364-8951B0E400F9}"/>
                </a:ext>
              </a:extLst>
            </p:cNvPr>
            <p:cNvSpPr/>
            <p:nvPr/>
          </p:nvSpPr>
          <p:spPr>
            <a:xfrm>
              <a:off x="5381400" y="3561536"/>
              <a:ext cx="795055" cy="711131"/>
            </a:xfrm>
            <a:custGeom>
              <a:avLst/>
              <a:gdLst/>
              <a:ahLst/>
              <a:cxnLst/>
              <a:rect l="l" t="t" r="r" b="b"/>
              <a:pathLst>
                <a:path w="15006" h="13422" extrusionOk="0">
                  <a:moveTo>
                    <a:pt x="8684" y="1"/>
                  </a:moveTo>
                  <a:cubicBezTo>
                    <a:pt x="3892" y="1"/>
                    <a:pt x="1" y="3878"/>
                    <a:pt x="1" y="8670"/>
                  </a:cubicBezTo>
                  <a:lnTo>
                    <a:pt x="1" y="13422"/>
                  </a:lnTo>
                  <a:lnTo>
                    <a:pt x="6336" y="13422"/>
                  </a:lnTo>
                  <a:cubicBezTo>
                    <a:pt x="11115" y="13422"/>
                    <a:pt x="15006" y="9531"/>
                    <a:pt x="15006" y="4752"/>
                  </a:cubicBezTo>
                  <a:lnTo>
                    <a:pt x="15006" y="1"/>
                  </a:lnTo>
                  <a:close/>
                </a:path>
              </a:pathLst>
            </a:cu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858;p125">
              <a:extLst>
                <a:ext uri="{FF2B5EF4-FFF2-40B4-BE49-F238E27FC236}">
                  <a16:creationId xmlns:a16="http://schemas.microsoft.com/office/drawing/2014/main" id="{3DDE8355-4ED8-52B4-92BE-AC273C0DB291}"/>
                </a:ext>
              </a:extLst>
            </p:cNvPr>
            <p:cNvSpPr/>
            <p:nvPr/>
          </p:nvSpPr>
          <p:spPr>
            <a:xfrm>
              <a:off x="6209674" y="3561536"/>
              <a:ext cx="795055" cy="711131"/>
            </a:xfrm>
            <a:custGeom>
              <a:avLst/>
              <a:gdLst/>
              <a:ahLst/>
              <a:cxnLst/>
              <a:rect l="l" t="t" r="r" b="b"/>
              <a:pathLst>
                <a:path w="15006" h="13422" extrusionOk="0">
                  <a:moveTo>
                    <a:pt x="1" y="1"/>
                  </a:moveTo>
                  <a:lnTo>
                    <a:pt x="1" y="4752"/>
                  </a:lnTo>
                  <a:cubicBezTo>
                    <a:pt x="1" y="9531"/>
                    <a:pt x="3892" y="13422"/>
                    <a:pt x="8671" y="13422"/>
                  </a:cubicBezTo>
                  <a:lnTo>
                    <a:pt x="15006" y="13422"/>
                  </a:lnTo>
                  <a:lnTo>
                    <a:pt x="15006" y="8670"/>
                  </a:lnTo>
                  <a:cubicBezTo>
                    <a:pt x="15006" y="3878"/>
                    <a:pt x="11115" y="1"/>
                    <a:pt x="6322" y="1"/>
                  </a:cubicBezTo>
                  <a:close/>
                </a:path>
              </a:pathLst>
            </a:cu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859;p125">
              <a:extLst>
                <a:ext uri="{FF2B5EF4-FFF2-40B4-BE49-F238E27FC236}">
                  <a16:creationId xmlns:a16="http://schemas.microsoft.com/office/drawing/2014/main" id="{8FAF1959-7B30-EBC4-5FA4-98C765C96170}"/>
                </a:ext>
              </a:extLst>
            </p:cNvPr>
            <p:cNvSpPr/>
            <p:nvPr/>
          </p:nvSpPr>
          <p:spPr>
            <a:xfrm>
              <a:off x="5850188" y="3198394"/>
              <a:ext cx="685805" cy="685805"/>
            </a:xfrm>
            <a:custGeom>
              <a:avLst/>
              <a:gdLst/>
              <a:ahLst/>
              <a:cxnLst/>
              <a:rect l="l" t="t" r="r" b="b"/>
              <a:pathLst>
                <a:path w="12944" h="12944" extrusionOk="0">
                  <a:moveTo>
                    <a:pt x="12944" y="6472"/>
                  </a:moveTo>
                  <a:cubicBezTo>
                    <a:pt x="12944" y="10050"/>
                    <a:pt x="10049" y="12944"/>
                    <a:pt x="6472" y="12944"/>
                  </a:cubicBezTo>
                  <a:cubicBezTo>
                    <a:pt x="2895" y="12944"/>
                    <a:pt x="0" y="10050"/>
                    <a:pt x="0" y="6472"/>
                  </a:cubicBezTo>
                  <a:cubicBezTo>
                    <a:pt x="0" y="2895"/>
                    <a:pt x="2895" y="1"/>
                    <a:pt x="6472" y="1"/>
                  </a:cubicBezTo>
                  <a:cubicBezTo>
                    <a:pt x="10049" y="1"/>
                    <a:pt x="12944" y="2895"/>
                    <a:pt x="12944" y="6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2975133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921043" y="1155229"/>
            <a:ext cx="1607411"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DAFO</a:t>
            </a:r>
          </a:p>
        </p:txBody>
      </p:sp>
      <p:pic>
        <p:nvPicPr>
          <p:cNvPr id="6" name="Picture 5">
            <a:extLst>
              <a:ext uri="{FF2B5EF4-FFF2-40B4-BE49-F238E27FC236}">
                <a16:creationId xmlns:a16="http://schemas.microsoft.com/office/drawing/2014/main" id="{8AE497FD-4724-4203-AC00-A2B285566B34}"/>
              </a:ext>
            </a:extLst>
          </p:cNvPr>
          <p:cNvPicPr>
            <a:picLocks noChangeAspect="1"/>
          </p:cNvPicPr>
          <p:nvPr/>
        </p:nvPicPr>
        <p:blipFill>
          <a:blip r:embed="rId3"/>
          <a:stretch>
            <a:fillRect/>
          </a:stretch>
        </p:blipFill>
        <p:spPr>
          <a:xfrm>
            <a:off x="713225" y="1155229"/>
            <a:ext cx="7088764" cy="3290348"/>
          </a:xfrm>
          <a:prstGeom prst="rect">
            <a:avLst/>
          </a:prstGeom>
        </p:spPr>
      </p:pic>
    </p:spTree>
    <p:extLst>
      <p:ext uri="{BB962C8B-B14F-4D97-AF65-F5344CB8AC3E}">
        <p14:creationId xmlns:p14="http://schemas.microsoft.com/office/powerpoint/2010/main" val="3016625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3272994" y="610733"/>
            <a:ext cx="2598011"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t>ESTRATÈGIA</a:t>
            </a:r>
          </a:p>
        </p:txBody>
      </p:sp>
      <p:sp>
        <p:nvSpPr>
          <p:cNvPr id="4" name="Subtitle 3">
            <a:extLst>
              <a:ext uri="{FF2B5EF4-FFF2-40B4-BE49-F238E27FC236}">
                <a16:creationId xmlns:a16="http://schemas.microsoft.com/office/drawing/2014/main" id="{C06034BB-BA49-A66C-39F3-95EAA368C4EB}"/>
              </a:ext>
            </a:extLst>
          </p:cNvPr>
          <p:cNvSpPr>
            <a:spLocks noGrp="1"/>
          </p:cNvSpPr>
          <p:nvPr>
            <p:ph type="subTitle" idx="4"/>
          </p:nvPr>
        </p:nvSpPr>
        <p:spPr>
          <a:xfrm>
            <a:off x="436419" y="1323110"/>
            <a:ext cx="8167254" cy="2923308"/>
          </a:xfrm>
        </p:spPr>
        <p:txBody>
          <a:bodyPr/>
          <a:lstStyle/>
          <a:p>
            <a:pPr algn="l"/>
            <a:r>
              <a:rPr lang="ca-ES" b="0" i="0" dirty="0">
                <a:solidFill>
                  <a:srgbClr val="000000"/>
                </a:solidFill>
                <a:effectLst/>
                <a:latin typeface="Open Sans" panose="020B0606030504020204" pitchFamily="34" charset="0"/>
              </a:rPr>
              <a:t>       Com a conclusió podem determinar que l'estratègia que a seguir és ofensiva F+O aprofitant les oportunitats de l'entorn. </a:t>
            </a:r>
          </a:p>
          <a:p>
            <a:pPr algn="l"/>
            <a:endParaRPr lang="ca-ES" dirty="0">
              <a:solidFill>
                <a:srgbClr val="000000"/>
              </a:solidFill>
              <a:latin typeface="Open Sans" panose="020B0606030504020204" pitchFamily="34" charset="0"/>
            </a:endParaRPr>
          </a:p>
          <a:p>
            <a:pPr algn="l"/>
            <a:r>
              <a:rPr lang="ca-ES" b="0" i="0" dirty="0">
                <a:solidFill>
                  <a:srgbClr val="000000"/>
                </a:solidFill>
                <a:effectLst/>
                <a:latin typeface="Open Sans" panose="020B0606030504020204" pitchFamily="34" charset="0"/>
              </a:rPr>
              <a:t>       L'estratègia que seguirem és la de diferenciació segmentada, en el segment dels particulars. Mitjançant la diferenciació podrem assolir la innovació amb els nostres sistemes de control.</a:t>
            </a:r>
          </a:p>
          <a:p>
            <a:pPr algn="l"/>
            <a:endParaRPr lang="ca-ES" dirty="0">
              <a:solidFill>
                <a:srgbClr val="000000"/>
              </a:solidFill>
              <a:latin typeface="Open Sans" panose="020B0606030504020204" pitchFamily="34" charset="0"/>
            </a:endParaRPr>
          </a:p>
          <a:p>
            <a:pPr algn="l"/>
            <a:r>
              <a:rPr lang="ca-ES" b="0" i="0" dirty="0">
                <a:solidFill>
                  <a:srgbClr val="000000"/>
                </a:solidFill>
                <a:effectLst/>
                <a:latin typeface="Open Sans" panose="020B0606030504020204" pitchFamily="34" charset="0"/>
              </a:rPr>
              <a:t>        Oferirem un servei personalitzat per a cada client assessorant l'optimització dels recursos hídrics i energètics en funció del seu terreny, i això ens permetrà millorar la nostra imatge social aconseguint els objectius de sostenibilitat proposats per l'ONU. Altrament, la diferenciació ens permetrà com a empresa fixar un preu superior a la competència.</a:t>
            </a:r>
          </a:p>
          <a:p>
            <a:pPr algn="l"/>
            <a:endParaRPr lang="ca-ES" dirty="0">
              <a:solidFill>
                <a:srgbClr val="000000"/>
              </a:solidFill>
              <a:latin typeface="Open Sans" panose="020B0606030504020204" pitchFamily="34" charset="0"/>
            </a:endParaRPr>
          </a:p>
          <a:p>
            <a:pPr algn="l"/>
            <a:r>
              <a:rPr lang="ca-ES" b="0" i="0" dirty="0">
                <a:solidFill>
                  <a:srgbClr val="000000"/>
                </a:solidFill>
                <a:effectLst/>
                <a:latin typeface="Open Sans" panose="020B0606030504020204" pitchFamily="34" charset="0"/>
              </a:rPr>
              <a:t>       </a:t>
            </a:r>
            <a:endParaRPr lang="ca-ES" dirty="0"/>
          </a:p>
        </p:txBody>
      </p:sp>
    </p:spTree>
    <p:extLst>
      <p:ext uri="{BB962C8B-B14F-4D97-AF65-F5344CB8AC3E}">
        <p14:creationId xmlns:p14="http://schemas.microsoft.com/office/powerpoint/2010/main" val="2434908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pic>
        <p:nvPicPr>
          <p:cNvPr id="3" name="Picture 2">
            <a:extLst>
              <a:ext uri="{FF2B5EF4-FFF2-40B4-BE49-F238E27FC236}">
                <a16:creationId xmlns:a16="http://schemas.microsoft.com/office/drawing/2014/main" id="{93F72442-8D4C-4FEE-A2B1-E6FA3D436313}"/>
              </a:ext>
            </a:extLst>
          </p:cNvPr>
          <p:cNvPicPr>
            <a:picLocks noChangeAspect="1"/>
          </p:cNvPicPr>
          <p:nvPr/>
        </p:nvPicPr>
        <p:blipFill>
          <a:blip r:embed="rId3"/>
          <a:stretch>
            <a:fillRect/>
          </a:stretch>
        </p:blipFill>
        <p:spPr>
          <a:xfrm>
            <a:off x="1251146" y="480757"/>
            <a:ext cx="6271872" cy="4181986"/>
          </a:xfrm>
          <a:prstGeom prst="rect">
            <a:avLst/>
          </a:prstGeom>
        </p:spPr>
      </p:pic>
    </p:spTree>
    <p:extLst>
      <p:ext uri="{BB962C8B-B14F-4D97-AF65-F5344CB8AC3E}">
        <p14:creationId xmlns:p14="http://schemas.microsoft.com/office/powerpoint/2010/main" val="4194865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Esquema</a:t>
            </a:r>
            <a:endParaRPr dirty="0"/>
          </a:p>
        </p:txBody>
      </p:sp>
      <p:sp>
        <p:nvSpPr>
          <p:cNvPr id="495" name="Google Shape;495;p61"/>
          <p:cNvSpPr txBox="1">
            <a:spLocks noGrp="1"/>
          </p:cNvSpPr>
          <p:nvPr>
            <p:ph type="subTitle" idx="3"/>
          </p:nvPr>
        </p:nvSpPr>
        <p:spPr>
          <a:xfrm>
            <a:off x="713225" y="1825161"/>
            <a:ext cx="2486100" cy="35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Aigua de la bassa</a:t>
            </a:r>
            <a:endParaRPr dirty="0"/>
          </a:p>
        </p:txBody>
      </p:sp>
      <p:sp>
        <p:nvSpPr>
          <p:cNvPr id="498" name="Google Shape;498;p61"/>
          <p:cNvSpPr txBox="1">
            <a:spLocks noGrp="1"/>
          </p:cNvSpPr>
          <p:nvPr>
            <p:ph type="subTitle" idx="4"/>
          </p:nvPr>
        </p:nvSpPr>
        <p:spPr>
          <a:xfrm>
            <a:off x="713225" y="2137335"/>
            <a:ext cx="2486100" cy="66750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ca-ES" dirty="0"/>
              <a:t>El sistema primer agafarà aigua de la bassa</a:t>
            </a:r>
          </a:p>
        </p:txBody>
      </p:sp>
      <p:sp>
        <p:nvSpPr>
          <p:cNvPr id="501" name="Google Shape;501;p61"/>
          <p:cNvSpPr txBox="1">
            <a:spLocks noGrp="1"/>
          </p:cNvSpPr>
          <p:nvPr>
            <p:ph type="subTitle" idx="7"/>
          </p:nvPr>
        </p:nvSpPr>
        <p:spPr>
          <a:xfrm>
            <a:off x="713224" y="3606186"/>
            <a:ext cx="2652275" cy="35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Aigua canalitzada</a:t>
            </a:r>
            <a:endParaRPr dirty="0"/>
          </a:p>
        </p:txBody>
      </p:sp>
      <mc:AlternateContent xmlns:mc="http://schemas.openxmlformats.org/markup-compatibility/2006" xmlns:a14="http://schemas.microsoft.com/office/drawing/2010/main">
        <mc:Choice Requires="a14">
          <p:sp>
            <p:nvSpPr>
              <p:cNvPr id="502" name="Google Shape;502;p61"/>
              <p:cNvSpPr txBox="1">
                <a:spLocks noGrp="1"/>
              </p:cNvSpPr>
              <p:nvPr>
                <p:ph type="subTitle" idx="8"/>
              </p:nvPr>
            </p:nvSpPr>
            <p:spPr>
              <a:xfrm>
                <a:off x="713274" y="3918361"/>
                <a:ext cx="2955866" cy="61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Si la bassa està seca, agafarà l’aigua canalitzada </a:t>
                </a:r>
                <a14:m>
                  <m:oMath xmlns:m="http://schemas.openxmlformats.org/officeDocument/2006/math">
                    <m:r>
                      <a:rPr lang="en" i="1" dirty="0" smtClean="0">
                        <a:latin typeface="Cambria Math" panose="02040503050406030204" pitchFamily="18" charset="0"/>
                      </a:rPr>
                      <m:t>(0.35€</m:t>
                    </m:r>
                    <m:sSup>
                      <m:sSupPr>
                        <m:ctrlPr>
                          <a:rPr lang="en" i="1" dirty="0" smtClean="0">
                            <a:latin typeface="Cambria Math" panose="02040503050406030204" pitchFamily="18" charset="0"/>
                          </a:rPr>
                        </m:ctrlPr>
                      </m:sSupPr>
                      <m:e>
                        <m:r>
                          <a:rPr lang="en" i="1" dirty="0" smtClean="0">
                            <a:latin typeface="Cambria Math" panose="02040503050406030204" pitchFamily="18" charset="0"/>
                          </a:rPr>
                          <m:t>𝑚</m:t>
                        </m:r>
                      </m:e>
                      <m:sup>
                        <m:r>
                          <a:rPr lang="en" i="1" dirty="0" smtClean="0">
                            <a:latin typeface="Cambria Math" panose="02040503050406030204" pitchFamily="18" charset="0"/>
                          </a:rPr>
                          <m:t>3</m:t>
                        </m:r>
                      </m:sup>
                    </m:sSup>
                    <m:r>
                      <a:rPr lang="en" i="1" dirty="0" smtClean="0">
                        <a:latin typeface="Cambria Math" panose="02040503050406030204" pitchFamily="18" charset="0"/>
                      </a:rPr>
                      <m:t>)</m:t>
                    </m:r>
                  </m:oMath>
                </a14:m>
                <a:endParaRPr dirty="0"/>
              </a:p>
            </p:txBody>
          </p:sp>
        </mc:Choice>
        <mc:Fallback xmlns="">
          <p:sp>
            <p:nvSpPr>
              <p:cNvPr id="502" name="Google Shape;502;p61"/>
              <p:cNvSpPr txBox="1">
                <a:spLocks noGrp="1" noRot="1" noChangeAspect="1" noMove="1" noResize="1" noEditPoints="1" noAdjustHandles="1" noChangeArrowheads="1" noChangeShapeType="1" noTextEdit="1"/>
              </p:cNvSpPr>
              <p:nvPr>
                <p:ph type="subTitle" idx="8"/>
              </p:nvPr>
            </p:nvSpPr>
            <p:spPr>
              <a:xfrm>
                <a:off x="713274" y="3918361"/>
                <a:ext cx="2955866" cy="618600"/>
              </a:xfrm>
              <a:prstGeom prst="rect">
                <a:avLst/>
              </a:prstGeom>
              <a:blipFill>
                <a:blip r:embed="rId3"/>
                <a:stretch>
                  <a:fillRect b="-1980"/>
                </a:stretch>
              </a:blipFill>
            </p:spPr>
            <p:txBody>
              <a:bodyPr/>
              <a:lstStyle/>
              <a:p>
                <a:r>
                  <a:rPr lang="en-US">
                    <a:noFill/>
                  </a:rPr>
                  <a:t> </a:t>
                </a:r>
              </a:p>
            </p:txBody>
          </p:sp>
        </mc:Fallback>
      </mc:AlternateContent>
      <p:sp>
        <p:nvSpPr>
          <p:cNvPr id="503" name="Google Shape;503;p61"/>
          <p:cNvSpPr txBox="1">
            <a:spLocks noGrp="1"/>
          </p:cNvSpPr>
          <p:nvPr>
            <p:ph type="title" idx="9"/>
          </p:nvPr>
        </p:nvSpPr>
        <p:spPr>
          <a:xfrm>
            <a:off x="1236337" y="1219376"/>
            <a:ext cx="1439875"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V</a:t>
            </a:r>
            <a:endParaRPr dirty="0"/>
          </a:p>
        </p:txBody>
      </p:sp>
      <p:sp>
        <p:nvSpPr>
          <p:cNvPr id="505" name="Google Shape;505;p61"/>
          <p:cNvSpPr txBox="1">
            <a:spLocks noGrp="1"/>
          </p:cNvSpPr>
          <p:nvPr>
            <p:ph type="title" idx="14"/>
          </p:nvPr>
        </p:nvSpPr>
        <p:spPr>
          <a:xfrm>
            <a:off x="1164879" y="2983511"/>
            <a:ext cx="1786614"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Si V &lt; 0</a:t>
            </a:r>
            <a:endParaRPr dirty="0"/>
          </a:p>
        </p:txBody>
      </p:sp>
      <p:sp>
        <p:nvSpPr>
          <p:cNvPr id="14" name="Rectangle 13">
            <a:extLst>
              <a:ext uri="{FF2B5EF4-FFF2-40B4-BE49-F238E27FC236}">
                <a16:creationId xmlns:a16="http://schemas.microsoft.com/office/drawing/2014/main" id="{1637D94A-3E7A-92AB-40C1-EBF1B132C384}"/>
              </a:ext>
            </a:extLst>
          </p:cNvPr>
          <p:cNvSpPr/>
          <p:nvPr/>
        </p:nvSpPr>
        <p:spPr>
          <a:xfrm>
            <a:off x="5761164" y="1413612"/>
            <a:ext cx="1143000" cy="25047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4C5BDFC2-870F-88E9-B6C7-ECAC4495479D}"/>
              </a:ext>
            </a:extLst>
          </p:cNvPr>
          <p:cNvCxnSpPr>
            <a:cxnSpLocks/>
          </p:cNvCxnSpPr>
          <p:nvPr/>
        </p:nvCxnSpPr>
        <p:spPr>
          <a:xfrm>
            <a:off x="4418064" y="1874548"/>
            <a:ext cx="13431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41BAC7E-BAE7-5A2D-E3A3-9340006C0818}"/>
              </a:ext>
            </a:extLst>
          </p:cNvPr>
          <p:cNvCxnSpPr>
            <a:cxnSpLocks/>
          </p:cNvCxnSpPr>
          <p:nvPr/>
        </p:nvCxnSpPr>
        <p:spPr>
          <a:xfrm>
            <a:off x="4418064" y="3550948"/>
            <a:ext cx="13431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27A874B-AA48-DC9E-D42A-FCC82B5480CB}"/>
              </a:ext>
            </a:extLst>
          </p:cNvPr>
          <p:cNvSpPr/>
          <p:nvPr/>
        </p:nvSpPr>
        <p:spPr>
          <a:xfrm>
            <a:off x="3737775" y="1553126"/>
            <a:ext cx="675350" cy="15532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2FC59815-4B1D-6E81-5068-2BE8C47F7CDD}"/>
              </a:ext>
            </a:extLst>
          </p:cNvPr>
          <p:cNvCxnSpPr>
            <a:cxnSpLocks/>
          </p:cNvCxnSpPr>
          <p:nvPr/>
        </p:nvCxnSpPr>
        <p:spPr>
          <a:xfrm>
            <a:off x="4413125" y="3550948"/>
            <a:ext cx="0" cy="47491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5" name="Google Shape;495;p61">
            <a:extLst>
              <a:ext uri="{FF2B5EF4-FFF2-40B4-BE49-F238E27FC236}">
                <a16:creationId xmlns:a16="http://schemas.microsoft.com/office/drawing/2014/main" id="{342D7BED-6C22-FCEB-3FFA-CA3016045B87}"/>
              </a:ext>
            </a:extLst>
          </p:cNvPr>
          <p:cNvSpPr txBox="1">
            <a:spLocks/>
          </p:cNvSpPr>
          <p:nvPr/>
        </p:nvSpPr>
        <p:spPr>
          <a:xfrm>
            <a:off x="5685813" y="3955827"/>
            <a:ext cx="1602602" cy="357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ca-ES" dirty="0"/>
              <a:t>Sensor aigua</a:t>
            </a:r>
          </a:p>
        </p:txBody>
      </p:sp>
      <p:sp>
        <p:nvSpPr>
          <p:cNvPr id="26" name="Rectangle 25">
            <a:extLst>
              <a:ext uri="{FF2B5EF4-FFF2-40B4-BE49-F238E27FC236}">
                <a16:creationId xmlns:a16="http://schemas.microsoft.com/office/drawing/2014/main" id="{2BFF390B-F958-A462-01A8-9A4F995FB77E}"/>
              </a:ext>
            </a:extLst>
          </p:cNvPr>
          <p:cNvSpPr/>
          <p:nvPr/>
        </p:nvSpPr>
        <p:spPr>
          <a:xfrm>
            <a:off x="4324790" y="2920121"/>
            <a:ext cx="79262" cy="101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C6C6684-F3E8-A306-CCDF-BB81D020EA5E}"/>
              </a:ext>
            </a:extLst>
          </p:cNvPr>
          <p:cNvSpPr/>
          <p:nvPr/>
        </p:nvSpPr>
        <p:spPr>
          <a:xfrm>
            <a:off x="6824902" y="3722872"/>
            <a:ext cx="79262" cy="101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27D1485-84E5-1A81-552A-D390F5EE5CD8}"/>
              </a:ext>
            </a:extLst>
          </p:cNvPr>
          <p:cNvSpPr/>
          <p:nvPr/>
        </p:nvSpPr>
        <p:spPr>
          <a:xfrm>
            <a:off x="6807757" y="1502210"/>
            <a:ext cx="79262" cy="101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51A4ACE-9DD6-2C15-73AE-D99A27EF4CF5}"/>
              </a:ext>
            </a:extLst>
          </p:cNvPr>
          <p:cNvSpPr/>
          <p:nvPr/>
        </p:nvSpPr>
        <p:spPr>
          <a:xfrm>
            <a:off x="5787139" y="4101953"/>
            <a:ext cx="79262" cy="101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D140E7BD-C326-9AD9-559C-90913BE27FCB}"/>
              </a:ext>
            </a:extLst>
          </p:cNvPr>
          <p:cNvSpPr/>
          <p:nvPr/>
        </p:nvSpPr>
        <p:spPr>
          <a:xfrm>
            <a:off x="5739750" y="4349911"/>
            <a:ext cx="182145" cy="166946"/>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Google Shape;495;p61">
            <a:extLst>
              <a:ext uri="{FF2B5EF4-FFF2-40B4-BE49-F238E27FC236}">
                <a16:creationId xmlns:a16="http://schemas.microsoft.com/office/drawing/2014/main" id="{2D650911-3693-B754-0EE2-88FBA4774F40}"/>
              </a:ext>
            </a:extLst>
          </p:cNvPr>
          <p:cNvSpPr txBox="1">
            <a:spLocks/>
          </p:cNvSpPr>
          <p:nvPr/>
        </p:nvSpPr>
        <p:spPr>
          <a:xfrm>
            <a:off x="5474857" y="4246939"/>
            <a:ext cx="1602602" cy="357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ca-ES" dirty="0"/>
              <a:t>Motor</a:t>
            </a:r>
          </a:p>
        </p:txBody>
      </p:sp>
      <p:sp>
        <p:nvSpPr>
          <p:cNvPr id="32" name="Oval 31">
            <a:extLst>
              <a:ext uri="{FF2B5EF4-FFF2-40B4-BE49-F238E27FC236}">
                <a16:creationId xmlns:a16="http://schemas.microsoft.com/office/drawing/2014/main" id="{12E54BAB-6440-4CB6-2479-33B1E1F7B969}"/>
              </a:ext>
            </a:extLst>
          </p:cNvPr>
          <p:cNvSpPr/>
          <p:nvPr/>
        </p:nvSpPr>
        <p:spPr>
          <a:xfrm>
            <a:off x="4565073" y="1707602"/>
            <a:ext cx="182145" cy="166946"/>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7164371-8FCA-D593-D016-2296F5A98C80}"/>
              </a:ext>
            </a:extLst>
          </p:cNvPr>
          <p:cNvSpPr/>
          <p:nvPr/>
        </p:nvSpPr>
        <p:spPr>
          <a:xfrm>
            <a:off x="4535498" y="3384001"/>
            <a:ext cx="182145" cy="166946"/>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5B32DCB8-D114-1F6C-B5B8-6E9DB95FCD5C}"/>
              </a:ext>
            </a:extLst>
          </p:cNvPr>
          <p:cNvCxnSpPr>
            <a:cxnSpLocks/>
          </p:cNvCxnSpPr>
          <p:nvPr/>
        </p:nvCxnSpPr>
        <p:spPr>
          <a:xfrm flipV="1">
            <a:off x="6904164" y="2064777"/>
            <a:ext cx="1318509" cy="80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1519CDE-D098-7308-CF2A-CCEBCB9FB8DD}"/>
              </a:ext>
            </a:extLst>
          </p:cNvPr>
          <p:cNvCxnSpPr>
            <a:cxnSpLocks/>
          </p:cNvCxnSpPr>
          <p:nvPr/>
        </p:nvCxnSpPr>
        <p:spPr>
          <a:xfrm flipV="1">
            <a:off x="6897814" y="3328427"/>
            <a:ext cx="1318509" cy="809"/>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A29DC51-6CC8-656D-1EBF-9CA9A82422CE}"/>
                  </a:ext>
                </a:extLst>
              </p:cNvPr>
              <p:cNvSpPr txBox="1"/>
              <p:nvPr/>
            </p:nvSpPr>
            <p:spPr>
              <a:xfrm>
                <a:off x="5883002" y="2497059"/>
                <a:ext cx="94190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00"/>
                          </a:solidFill>
                          <a:effectLst/>
                          <a:latin typeface="Cambria Math" panose="02040503050406030204" pitchFamily="18" charset="0"/>
                          <a:ea typeface="Cambria Math" panose="02040503050406030204" pitchFamily="18" charset="0"/>
                          <a:cs typeface="Open Sans" panose="020B0606030504020204" pitchFamily="34" charset="0"/>
                        </a:rPr>
                        <m:t>180 </m:t>
                      </m:r>
                      <m:sSup>
                        <m:sSupPr>
                          <m:ctrlPr>
                            <a:rPr lang="en-US" b="0" i="1" smtClean="0">
                              <a:solidFill>
                                <a:srgbClr val="000000"/>
                              </a:solidFill>
                              <a:effectLst/>
                              <a:latin typeface="Cambria Math" panose="02040503050406030204" pitchFamily="18" charset="0"/>
                              <a:ea typeface="Cambria Math" panose="02040503050406030204" pitchFamily="18" charset="0"/>
                              <a:cs typeface="Open Sans" panose="020B0606030504020204" pitchFamily="34" charset="0"/>
                            </a:rPr>
                          </m:ctrlPr>
                        </m:sSupPr>
                        <m:e>
                          <m:r>
                            <a:rPr lang="en-US" b="0" i="1" smtClean="0">
                              <a:solidFill>
                                <a:srgbClr val="000000"/>
                              </a:solidFill>
                              <a:effectLst/>
                              <a:latin typeface="Cambria Math" panose="02040503050406030204" pitchFamily="18" charset="0"/>
                              <a:ea typeface="Cambria Math" panose="02040503050406030204" pitchFamily="18" charset="0"/>
                              <a:cs typeface="Open Sans" panose="020B0606030504020204" pitchFamily="34" charset="0"/>
                            </a:rPr>
                            <m:t>𝑚</m:t>
                          </m:r>
                        </m:e>
                        <m:sup>
                          <m:r>
                            <a:rPr lang="en-US" b="0" i="1" smtClean="0">
                              <a:solidFill>
                                <a:srgbClr val="000000"/>
                              </a:solidFill>
                              <a:effectLst/>
                              <a:latin typeface="Cambria Math" panose="02040503050406030204" pitchFamily="18" charset="0"/>
                              <a:ea typeface="Cambria Math" panose="02040503050406030204" pitchFamily="18" charset="0"/>
                              <a:cs typeface="Open Sans" panose="020B0606030504020204" pitchFamily="34" charset="0"/>
                            </a:rPr>
                            <m:t>3</m:t>
                          </m:r>
                        </m:sup>
                      </m:sSup>
                      <m:r>
                        <a:rPr lang="en-US" b="0" i="1" smtClean="0">
                          <a:solidFill>
                            <a:srgbClr val="000000"/>
                          </a:solidFill>
                          <a:effectLst/>
                          <a:latin typeface="Cambria Math" panose="02040503050406030204" pitchFamily="18" charset="0"/>
                          <a:ea typeface="Cambria Math" panose="02040503050406030204" pitchFamily="18" charset="0"/>
                          <a:cs typeface="Open Sans" panose="020B0606030504020204" pitchFamily="34" charset="0"/>
                        </a:rPr>
                        <m:t> </m:t>
                      </m:r>
                    </m:oMath>
                  </m:oMathPara>
                </a14:m>
                <a:endParaRPr lang="en-US" dirty="0"/>
              </a:p>
            </p:txBody>
          </p:sp>
        </mc:Choice>
        <mc:Fallback xmlns="">
          <p:sp>
            <p:nvSpPr>
              <p:cNvPr id="40" name="TextBox 39">
                <a:extLst>
                  <a:ext uri="{FF2B5EF4-FFF2-40B4-BE49-F238E27FC236}">
                    <a16:creationId xmlns:a16="http://schemas.microsoft.com/office/drawing/2014/main" id="{BA29DC51-6CC8-656D-1EBF-9CA9A82422CE}"/>
                  </a:ext>
                </a:extLst>
              </p:cNvPr>
              <p:cNvSpPr txBox="1">
                <a:spLocks noRot="1" noChangeAspect="1" noMove="1" noResize="1" noEditPoints="1" noAdjustHandles="1" noChangeArrowheads="1" noChangeShapeType="1" noTextEdit="1"/>
              </p:cNvSpPr>
              <p:nvPr/>
            </p:nvSpPr>
            <p:spPr>
              <a:xfrm>
                <a:off x="5883002" y="2497059"/>
                <a:ext cx="941900" cy="307777"/>
              </a:xfrm>
              <a:prstGeom prst="rect">
                <a:avLst/>
              </a:prstGeom>
              <a:blipFill>
                <a:blip r:embed="rId4"/>
                <a:stretch>
                  <a:fillRect/>
                </a:stretch>
              </a:blipFill>
            </p:spPr>
            <p:txBody>
              <a:bodyPr/>
              <a:lstStyle/>
              <a:p>
                <a:r>
                  <a:rPr lang="en-US">
                    <a:noFill/>
                  </a:rPr>
                  <a:t> </a:t>
                </a:r>
              </a:p>
            </p:txBody>
          </p:sp>
        </mc:Fallback>
      </mc:AlternateContent>
      <p:cxnSp>
        <p:nvCxnSpPr>
          <p:cNvPr id="43" name="Straight Arrow Connector 42">
            <a:extLst>
              <a:ext uri="{FF2B5EF4-FFF2-40B4-BE49-F238E27FC236}">
                <a16:creationId xmlns:a16="http://schemas.microsoft.com/office/drawing/2014/main" id="{D844E142-91AB-1CD6-DC46-D72E95D53445}"/>
              </a:ext>
            </a:extLst>
          </p:cNvPr>
          <p:cNvCxnSpPr>
            <a:cxnSpLocks/>
          </p:cNvCxnSpPr>
          <p:nvPr/>
        </p:nvCxnSpPr>
        <p:spPr>
          <a:xfrm flipV="1">
            <a:off x="5600700" y="2032387"/>
            <a:ext cx="0" cy="135161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8A8E36B-DF99-8301-B7EB-DE90876316F7}"/>
                  </a:ext>
                </a:extLst>
              </p:cNvPr>
              <p:cNvSpPr txBox="1"/>
              <p:nvPr/>
            </p:nvSpPr>
            <p:spPr>
              <a:xfrm>
                <a:off x="4565073" y="2442585"/>
                <a:ext cx="1216025" cy="47820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700" b="0" i="1" smtClean="0">
                          <a:solidFill>
                            <a:srgbClr val="000000"/>
                          </a:solidFill>
                          <a:latin typeface="Cambria Math" panose="02040503050406030204" pitchFamily="18" charset="0"/>
                          <a:ea typeface="Open Sans" panose="020B0606030504020204" pitchFamily="34" charset="0"/>
                          <a:cs typeface="Open Sans" panose="020B0606030504020204" pitchFamily="34" charset="0"/>
                        </a:rPr>
                        <m:t>h</m:t>
                      </m:r>
                      <m:r>
                        <a:rPr lang="en-US" sz="700" b="0" i="1" smtClean="0">
                          <a:solidFill>
                            <a:srgbClr val="000000"/>
                          </a:solidFill>
                          <a:latin typeface="Cambria Math" panose="02040503050406030204" pitchFamily="18" charset="0"/>
                          <a:ea typeface="Open Sans" panose="020B0606030504020204" pitchFamily="34" charset="0"/>
                          <a:cs typeface="Open Sans" panose="020B0606030504020204" pitchFamily="34" charset="0"/>
                        </a:rPr>
                        <m:t>=</m:t>
                      </m:r>
                      <m:f>
                        <m:fPr>
                          <m:ctrlPr>
                            <a:rPr lang="en-US" sz="700" b="0" i="1" smtClean="0">
                              <a:solidFill>
                                <a:srgbClr val="000000"/>
                              </a:solidFill>
                              <a:latin typeface="Cambria Math" panose="02040503050406030204" pitchFamily="18" charset="0"/>
                              <a:ea typeface="Open Sans" panose="020B0606030504020204" pitchFamily="34" charset="0"/>
                              <a:cs typeface="Open Sans" panose="020B0606030504020204" pitchFamily="34" charset="0"/>
                            </a:rPr>
                          </m:ctrlPr>
                        </m:fPr>
                        <m:num>
                          <m:r>
                            <a:rPr lang="en-US" sz="700" b="0" i="1" smtClean="0">
                              <a:solidFill>
                                <a:srgbClr val="000000"/>
                              </a:solidFill>
                              <a:latin typeface="Cambria Math" panose="02040503050406030204" pitchFamily="18" charset="0"/>
                              <a:ea typeface="Open Sans" panose="020B0606030504020204" pitchFamily="34" charset="0"/>
                              <a:cs typeface="Open Sans" panose="020B0606030504020204" pitchFamily="34" charset="0"/>
                            </a:rPr>
                            <m:t>180</m:t>
                          </m:r>
                        </m:num>
                        <m:den>
                          <m:r>
                            <a:rPr lang="en-US" sz="700" b="0" i="1" smtClean="0">
                              <a:solidFill>
                                <a:srgbClr val="000000"/>
                              </a:solidFill>
                              <a:latin typeface="Cambria Math" panose="02040503050406030204" pitchFamily="18" charset="0"/>
                              <a:ea typeface="Cambria Math" panose="02040503050406030204" pitchFamily="18" charset="0"/>
                              <a:cs typeface="Open Sans" panose="020B0606030504020204" pitchFamily="34" charset="0"/>
                            </a:rPr>
                            <m:t>𝜋</m:t>
                          </m:r>
                          <m:sSup>
                            <m:sSupPr>
                              <m:ctrlPr>
                                <a:rPr lang="en-US" sz="700" b="0" i="1" dirty="0" smtClean="0">
                                  <a:solidFill>
                                    <a:srgbClr val="000000"/>
                                  </a:solidFill>
                                  <a:latin typeface="Cambria Math" panose="02040503050406030204" pitchFamily="18" charset="0"/>
                                  <a:ea typeface="Cambria Math" panose="02040503050406030204" pitchFamily="18" charset="0"/>
                                  <a:cs typeface="Open Sans" panose="020B0606030504020204" pitchFamily="34" charset="0"/>
                                </a:rPr>
                              </m:ctrlPr>
                            </m:sSupPr>
                            <m:e>
                              <m:d>
                                <m:dPr>
                                  <m:ctrlPr>
                                    <a:rPr lang="en-US" sz="700" b="0" i="1" smtClean="0">
                                      <a:solidFill>
                                        <a:srgbClr val="000000"/>
                                      </a:solidFill>
                                      <a:latin typeface="Cambria Math" panose="02040503050406030204" pitchFamily="18" charset="0"/>
                                      <a:ea typeface="Cambria Math" panose="02040503050406030204" pitchFamily="18" charset="0"/>
                                      <a:cs typeface="Open Sans" panose="020B0606030504020204" pitchFamily="34" charset="0"/>
                                    </a:rPr>
                                  </m:ctrlPr>
                                </m:dPr>
                                <m:e>
                                  <m:rad>
                                    <m:radPr>
                                      <m:degHide m:val="on"/>
                                      <m:ctrlPr>
                                        <a:rPr lang="en-US" sz="700" i="1" dirty="0">
                                          <a:solidFill>
                                            <a:srgbClr val="000000"/>
                                          </a:solidFill>
                                          <a:latin typeface="Cambria Math" panose="02040503050406030204" pitchFamily="18" charset="0"/>
                                          <a:ea typeface="Open Sans" panose="020B0606030504020204" pitchFamily="34" charset="0"/>
                                          <a:cs typeface="Open Sans" panose="020B0606030504020204" pitchFamily="34" charset="0"/>
                                        </a:rPr>
                                      </m:ctrlPr>
                                    </m:radPr>
                                    <m:deg/>
                                    <m:e>
                                      <m:f>
                                        <m:fPr>
                                          <m:ctrlPr>
                                            <a:rPr lang="en-US" sz="700" i="1" dirty="0">
                                              <a:solidFill>
                                                <a:srgbClr val="000000"/>
                                              </a:solidFill>
                                              <a:latin typeface="Cambria Math" panose="02040503050406030204" pitchFamily="18" charset="0"/>
                                              <a:ea typeface="Open Sans" panose="020B0606030504020204" pitchFamily="34" charset="0"/>
                                              <a:cs typeface="Open Sans" panose="020B0606030504020204" pitchFamily="34" charset="0"/>
                                            </a:rPr>
                                          </m:ctrlPr>
                                        </m:fPr>
                                        <m:num>
                                          <m:r>
                                            <a:rPr lang="en-US" sz="700" i="1" dirty="0">
                                              <a:solidFill>
                                                <a:srgbClr val="000000"/>
                                              </a:solidFill>
                                              <a:latin typeface="Cambria Math" panose="02040503050406030204" pitchFamily="18" charset="0"/>
                                              <a:ea typeface="Open Sans" panose="020B0606030504020204" pitchFamily="34" charset="0"/>
                                              <a:cs typeface="Open Sans" panose="020B0606030504020204" pitchFamily="34" charset="0"/>
                                            </a:rPr>
                                            <m:t>90</m:t>
                                          </m:r>
                                        </m:num>
                                        <m:den>
                                          <m:r>
                                            <a:rPr lang="en-US" sz="700" i="1" dirty="0">
                                              <a:solidFill>
                                                <a:srgbClr val="000000"/>
                                              </a:solidFill>
                                              <a:latin typeface="Cambria Math" panose="02040503050406030204" pitchFamily="18" charset="0"/>
                                              <a:ea typeface="Cambria Math" panose="02040503050406030204" pitchFamily="18" charset="0"/>
                                              <a:cs typeface="Open Sans" panose="020B0606030504020204" pitchFamily="34" charset="0"/>
                                            </a:rPr>
                                            <m:t>𝜋</m:t>
                                          </m:r>
                                        </m:den>
                                      </m:f>
                                    </m:e>
                                  </m:rad>
                                </m:e>
                              </m:d>
                            </m:e>
                            <m:sup>
                              <m:r>
                                <a:rPr lang="en-US" sz="700" b="0" i="1" dirty="0" smtClean="0">
                                  <a:solidFill>
                                    <a:srgbClr val="000000"/>
                                  </a:solidFill>
                                  <a:latin typeface="Cambria Math" panose="02040503050406030204" pitchFamily="18" charset="0"/>
                                  <a:ea typeface="Cambria Math" panose="02040503050406030204" pitchFamily="18" charset="0"/>
                                  <a:cs typeface="Open Sans" panose="020B0606030504020204" pitchFamily="34" charset="0"/>
                                </a:rPr>
                                <m:t>2</m:t>
                              </m:r>
                            </m:sup>
                          </m:sSup>
                        </m:den>
                      </m:f>
                    </m:oMath>
                  </m:oMathPara>
                </a14:m>
                <a:endParaRPr lang="en-US" dirty="0"/>
              </a:p>
            </p:txBody>
          </p:sp>
        </mc:Choice>
        <mc:Fallback xmlns="">
          <p:sp>
            <p:nvSpPr>
              <p:cNvPr id="47" name="TextBox 46">
                <a:extLst>
                  <a:ext uri="{FF2B5EF4-FFF2-40B4-BE49-F238E27FC236}">
                    <a16:creationId xmlns:a16="http://schemas.microsoft.com/office/drawing/2014/main" id="{88A8E36B-DF99-8301-B7EB-DE90876316F7}"/>
                  </a:ext>
                </a:extLst>
              </p:cNvPr>
              <p:cNvSpPr txBox="1">
                <a:spLocks noRot="1" noChangeAspect="1" noMove="1" noResize="1" noEditPoints="1" noAdjustHandles="1" noChangeArrowheads="1" noChangeShapeType="1" noTextEdit="1"/>
              </p:cNvSpPr>
              <p:nvPr/>
            </p:nvSpPr>
            <p:spPr>
              <a:xfrm>
                <a:off x="4565073" y="2442585"/>
                <a:ext cx="1216025" cy="47820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8B25FCBE-DB12-42BD-2748-FC248FBD4F92}"/>
                  </a:ext>
                </a:extLst>
              </p:cNvPr>
              <p:cNvSpPr txBox="1"/>
              <p:nvPr/>
            </p:nvSpPr>
            <p:spPr>
              <a:xfrm>
                <a:off x="5679951" y="770807"/>
                <a:ext cx="1184582" cy="2973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050" i="1" dirty="0" smtClean="0">
                          <a:solidFill>
                            <a:srgbClr val="000000"/>
                          </a:solidFill>
                          <a:latin typeface="Cambria Math" panose="02040503050406030204" pitchFamily="18" charset="0"/>
                          <a:ea typeface="Open Sans" panose="020B0606030504020204" pitchFamily="34" charset="0"/>
                          <a:cs typeface="Open Sans" panose="020B0606030504020204" pitchFamily="34" charset="0"/>
                        </a:rPr>
                        <m:t>𝑟</m:t>
                      </m:r>
                      <m:r>
                        <a:rPr lang="en-US" sz="1050" b="0" i="1" dirty="0" smtClean="0">
                          <a:solidFill>
                            <a:srgbClr val="000000"/>
                          </a:solidFill>
                          <a:latin typeface="Cambria Math" panose="02040503050406030204" pitchFamily="18" charset="0"/>
                          <a:ea typeface="Open Sans" panose="020B0606030504020204" pitchFamily="34" charset="0"/>
                          <a:cs typeface="Open Sans" panose="020B0606030504020204" pitchFamily="34" charset="0"/>
                        </a:rPr>
                        <m:t>= </m:t>
                      </m:r>
                      <m:rad>
                        <m:radPr>
                          <m:degHide m:val="on"/>
                          <m:ctrlPr>
                            <a:rPr lang="en-US" sz="1050" b="0" i="1" dirty="0" smtClean="0">
                              <a:solidFill>
                                <a:srgbClr val="000000"/>
                              </a:solidFill>
                              <a:latin typeface="Cambria Math" panose="02040503050406030204" pitchFamily="18" charset="0"/>
                              <a:ea typeface="Open Sans" panose="020B0606030504020204" pitchFamily="34" charset="0"/>
                              <a:cs typeface="Open Sans" panose="020B0606030504020204" pitchFamily="34" charset="0"/>
                            </a:rPr>
                          </m:ctrlPr>
                        </m:radPr>
                        <m:deg/>
                        <m:e>
                          <m:r>
                            <a:rPr lang="en-US" sz="1050" b="0" i="1" dirty="0" smtClean="0">
                              <a:solidFill>
                                <a:srgbClr val="000000"/>
                              </a:solidFill>
                              <a:latin typeface="Cambria Math" panose="02040503050406030204" pitchFamily="18" charset="0"/>
                              <a:ea typeface="Open Sans" panose="020B0606030504020204" pitchFamily="34" charset="0"/>
                              <a:cs typeface="Open Sans" panose="020B0606030504020204" pitchFamily="34" charset="0"/>
                            </a:rPr>
                            <m:t>90/</m:t>
                          </m:r>
                          <m:r>
                            <a:rPr lang="en-US" sz="1050" b="0" i="1" dirty="0" smtClean="0">
                              <a:solidFill>
                                <a:srgbClr val="000000"/>
                              </a:solidFill>
                              <a:latin typeface="Cambria Math" panose="02040503050406030204" pitchFamily="18" charset="0"/>
                              <a:ea typeface="Cambria Math" panose="02040503050406030204" pitchFamily="18" charset="0"/>
                              <a:cs typeface="Open Sans" panose="020B0606030504020204" pitchFamily="34" charset="0"/>
                            </a:rPr>
                            <m:t>𝜋</m:t>
                          </m:r>
                        </m:e>
                      </m:rad>
                      <m:r>
                        <a:rPr lang="en-US" sz="1050" b="0" i="1" dirty="0" smtClean="0">
                          <a:solidFill>
                            <a:srgbClr val="000000"/>
                          </a:solidFill>
                          <a:latin typeface="Cambria Math" panose="02040503050406030204" pitchFamily="18" charset="0"/>
                          <a:ea typeface="Open Sans" panose="020B0606030504020204" pitchFamily="34" charset="0"/>
                          <a:cs typeface="Open Sans" panose="020B0606030504020204" pitchFamily="34" charset="0"/>
                        </a:rPr>
                        <m:t> </m:t>
                      </m:r>
                    </m:oMath>
                  </m:oMathPara>
                </a14:m>
                <a:endParaRPr lang="en-US" sz="1050" dirty="0"/>
              </a:p>
            </p:txBody>
          </p:sp>
        </mc:Choice>
        <mc:Fallback xmlns="">
          <p:sp>
            <p:nvSpPr>
              <p:cNvPr id="49" name="TextBox 48">
                <a:extLst>
                  <a:ext uri="{FF2B5EF4-FFF2-40B4-BE49-F238E27FC236}">
                    <a16:creationId xmlns:a16="http://schemas.microsoft.com/office/drawing/2014/main" id="{8B25FCBE-DB12-42BD-2748-FC248FBD4F92}"/>
                  </a:ext>
                </a:extLst>
              </p:cNvPr>
              <p:cNvSpPr txBox="1">
                <a:spLocks noRot="1" noChangeAspect="1" noMove="1" noResize="1" noEditPoints="1" noAdjustHandles="1" noChangeArrowheads="1" noChangeShapeType="1" noTextEdit="1"/>
              </p:cNvSpPr>
              <p:nvPr/>
            </p:nvSpPr>
            <p:spPr>
              <a:xfrm>
                <a:off x="5679951" y="770807"/>
                <a:ext cx="1184582" cy="297325"/>
              </a:xfrm>
              <a:prstGeom prst="rect">
                <a:avLst/>
              </a:prstGeom>
              <a:blipFill>
                <a:blip r:embed="rId6"/>
                <a:stretch>
                  <a:fillRect/>
                </a:stretch>
              </a:blipFill>
            </p:spPr>
            <p:txBody>
              <a:bodyPr/>
              <a:lstStyle/>
              <a:p>
                <a:r>
                  <a:rPr lang="en-US">
                    <a:noFill/>
                  </a:rPr>
                  <a:t> </a:t>
                </a:r>
              </a:p>
            </p:txBody>
          </p:sp>
        </mc:Fallback>
      </mc:AlternateContent>
      <p:sp>
        <p:nvSpPr>
          <p:cNvPr id="51" name="Arc 50">
            <a:extLst>
              <a:ext uri="{FF2B5EF4-FFF2-40B4-BE49-F238E27FC236}">
                <a16:creationId xmlns:a16="http://schemas.microsoft.com/office/drawing/2014/main" id="{0C0C97F8-E84D-ECB0-B710-7D2827B5BB4D}"/>
              </a:ext>
            </a:extLst>
          </p:cNvPr>
          <p:cNvSpPr/>
          <p:nvPr/>
        </p:nvSpPr>
        <p:spPr>
          <a:xfrm>
            <a:off x="5756225" y="1105216"/>
            <a:ext cx="1130794" cy="673368"/>
          </a:xfrm>
          <a:prstGeom prst="arc">
            <a:avLst>
              <a:gd name="adj1" fmla="val 10946401"/>
              <a:gd name="adj2" fmla="val 21396179"/>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221007F3-2BFD-9874-F9C8-FF88AB4D8632}"/>
              </a:ext>
            </a:extLst>
          </p:cNvPr>
          <p:cNvCxnSpPr>
            <a:endCxn id="14" idx="0"/>
          </p:cNvCxnSpPr>
          <p:nvPr/>
        </p:nvCxnSpPr>
        <p:spPr>
          <a:xfrm>
            <a:off x="6324600" y="1105216"/>
            <a:ext cx="8064" cy="308396"/>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ED21D0C7-E32D-55EC-695C-63B53B7E5287}"/>
                  </a:ext>
                </a:extLst>
              </p:cNvPr>
              <p:cNvSpPr txBox="1"/>
              <p:nvPr/>
            </p:nvSpPr>
            <p:spPr>
              <a:xfrm rot="16200000">
                <a:off x="3507778" y="2192367"/>
                <a:ext cx="1135344" cy="307777"/>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12.315</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r>
                        <a:rPr lang="en-US" b="0" i="1" smtClean="0">
                          <a:latin typeface="Cambria Math" panose="02040503050406030204" pitchFamily="18" charset="0"/>
                        </a:rPr>
                        <m:t> </m:t>
                      </m:r>
                    </m:oMath>
                  </m:oMathPara>
                </a14:m>
                <a:endParaRPr lang="ca-ES" dirty="0"/>
              </a:p>
            </p:txBody>
          </p:sp>
        </mc:Choice>
        <mc:Fallback xmlns="">
          <p:sp>
            <p:nvSpPr>
              <p:cNvPr id="55" name="TextBox 54">
                <a:extLst>
                  <a:ext uri="{FF2B5EF4-FFF2-40B4-BE49-F238E27FC236}">
                    <a16:creationId xmlns:a16="http://schemas.microsoft.com/office/drawing/2014/main" id="{ED21D0C7-E32D-55EC-695C-63B53B7E5287}"/>
                  </a:ext>
                </a:extLst>
              </p:cNvPr>
              <p:cNvSpPr txBox="1">
                <a:spLocks noRot="1" noChangeAspect="1" noMove="1" noResize="1" noEditPoints="1" noAdjustHandles="1" noChangeArrowheads="1" noChangeShapeType="1" noTextEdit="1"/>
              </p:cNvSpPr>
              <p:nvPr/>
            </p:nvSpPr>
            <p:spPr>
              <a:xfrm rot="16200000">
                <a:off x="3507778" y="2192367"/>
                <a:ext cx="1135344" cy="307777"/>
              </a:xfrm>
              <a:prstGeom prst="rect">
                <a:avLst/>
              </a:prstGeom>
              <a:blipFill>
                <a:blip r:embed="rId7"/>
                <a:stretch>
                  <a:fillRect/>
                </a:stretch>
              </a:blipFill>
            </p:spPr>
            <p:txBody>
              <a:bodyPr/>
              <a:lstStyle/>
              <a:p>
                <a:r>
                  <a:rPr lang="en-US">
                    <a:noFill/>
                  </a:rPr>
                  <a:t> </a:t>
                </a:r>
              </a:p>
            </p:txBody>
          </p:sp>
        </mc:Fallback>
      </mc:AlternateContent>
      <p:grpSp>
        <p:nvGrpSpPr>
          <p:cNvPr id="56" name="Google Shape;9208;p146">
            <a:extLst>
              <a:ext uri="{FF2B5EF4-FFF2-40B4-BE49-F238E27FC236}">
                <a16:creationId xmlns:a16="http://schemas.microsoft.com/office/drawing/2014/main" id="{0AA2726B-18D1-1B44-B19C-446A2C6AC604}"/>
              </a:ext>
            </a:extLst>
          </p:cNvPr>
          <p:cNvGrpSpPr/>
          <p:nvPr/>
        </p:nvGrpSpPr>
        <p:grpSpPr>
          <a:xfrm>
            <a:off x="4190910" y="4115695"/>
            <a:ext cx="486566" cy="414708"/>
            <a:chOff x="-19835275" y="3330250"/>
            <a:chExt cx="329250" cy="280625"/>
          </a:xfrm>
          <a:solidFill>
            <a:schemeClr val="tx1"/>
          </a:solidFill>
        </p:grpSpPr>
        <p:sp>
          <p:nvSpPr>
            <p:cNvPr id="57" name="Google Shape;9209;p146">
              <a:extLst>
                <a:ext uri="{FF2B5EF4-FFF2-40B4-BE49-F238E27FC236}">
                  <a16:creationId xmlns:a16="http://schemas.microsoft.com/office/drawing/2014/main" id="{A44740B2-49CB-062D-2AE9-A855641B179E}"/>
                </a:ext>
              </a:extLst>
            </p:cNvPr>
            <p:cNvSpPr/>
            <p:nvPr/>
          </p:nvSpPr>
          <p:spPr>
            <a:xfrm>
              <a:off x="-19768325" y="3361750"/>
              <a:ext cx="197725" cy="249125"/>
            </a:xfrm>
            <a:custGeom>
              <a:avLst/>
              <a:gdLst/>
              <a:ahLst/>
              <a:cxnLst/>
              <a:rect l="l" t="t" r="r" b="b"/>
              <a:pathLst>
                <a:path w="7909" h="9965" extrusionOk="0">
                  <a:moveTo>
                    <a:pt x="3927" y="1"/>
                  </a:moveTo>
                  <a:cubicBezTo>
                    <a:pt x="3797" y="1"/>
                    <a:pt x="3671" y="56"/>
                    <a:pt x="3624" y="166"/>
                  </a:cubicBezTo>
                  <a:lnTo>
                    <a:pt x="1103" y="5302"/>
                  </a:lnTo>
                  <a:cubicBezTo>
                    <a:pt x="1" y="7412"/>
                    <a:pt x="1607" y="9964"/>
                    <a:pt x="3970" y="9964"/>
                  </a:cubicBezTo>
                  <a:cubicBezTo>
                    <a:pt x="6333" y="9964"/>
                    <a:pt x="7908" y="7412"/>
                    <a:pt x="6837" y="5302"/>
                  </a:cubicBezTo>
                  <a:lnTo>
                    <a:pt x="4254" y="166"/>
                  </a:lnTo>
                  <a:cubicBezTo>
                    <a:pt x="4191" y="56"/>
                    <a:pt x="4057" y="1"/>
                    <a:pt x="392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9210;p146">
              <a:extLst>
                <a:ext uri="{FF2B5EF4-FFF2-40B4-BE49-F238E27FC236}">
                  <a16:creationId xmlns:a16="http://schemas.microsoft.com/office/drawing/2014/main" id="{AB05B504-29EF-6AED-F12D-95F18317B5CF}"/>
                </a:ext>
              </a:extLst>
            </p:cNvPr>
            <p:cNvSpPr/>
            <p:nvPr/>
          </p:nvSpPr>
          <p:spPr>
            <a:xfrm>
              <a:off x="-19622625" y="3330250"/>
              <a:ext cx="116600" cy="189250"/>
            </a:xfrm>
            <a:custGeom>
              <a:avLst/>
              <a:gdLst/>
              <a:ahLst/>
              <a:cxnLst/>
              <a:rect l="l" t="t" r="r" b="b"/>
              <a:pathLst>
                <a:path w="4664" h="7570" extrusionOk="0">
                  <a:moveTo>
                    <a:pt x="1683" y="1"/>
                  </a:moveTo>
                  <a:cubicBezTo>
                    <a:pt x="1553" y="1"/>
                    <a:pt x="1419" y="56"/>
                    <a:pt x="1356" y="166"/>
                  </a:cubicBezTo>
                  <a:lnTo>
                    <a:pt x="1" y="2939"/>
                  </a:lnTo>
                  <a:lnTo>
                    <a:pt x="1608" y="6215"/>
                  </a:lnTo>
                  <a:cubicBezTo>
                    <a:pt x="1828" y="6625"/>
                    <a:pt x="1954" y="7097"/>
                    <a:pt x="1986" y="7570"/>
                  </a:cubicBezTo>
                  <a:cubicBezTo>
                    <a:pt x="3687" y="7381"/>
                    <a:pt x="4664" y="5585"/>
                    <a:pt x="3876" y="4010"/>
                  </a:cubicBezTo>
                  <a:lnTo>
                    <a:pt x="1986" y="166"/>
                  </a:lnTo>
                  <a:cubicBezTo>
                    <a:pt x="1938" y="56"/>
                    <a:pt x="1812" y="1"/>
                    <a:pt x="168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9211;p146">
              <a:extLst>
                <a:ext uri="{FF2B5EF4-FFF2-40B4-BE49-F238E27FC236}">
                  <a16:creationId xmlns:a16="http://schemas.microsoft.com/office/drawing/2014/main" id="{E0D04FEE-5897-90D5-BCBB-7986E0EE33A7}"/>
                </a:ext>
              </a:extLst>
            </p:cNvPr>
            <p:cNvSpPr/>
            <p:nvPr/>
          </p:nvSpPr>
          <p:spPr>
            <a:xfrm>
              <a:off x="-19835275" y="3330250"/>
              <a:ext cx="116600" cy="189250"/>
            </a:xfrm>
            <a:custGeom>
              <a:avLst/>
              <a:gdLst/>
              <a:ahLst/>
              <a:cxnLst/>
              <a:rect l="l" t="t" r="r" b="b"/>
              <a:pathLst>
                <a:path w="4664" h="7570" extrusionOk="0">
                  <a:moveTo>
                    <a:pt x="2982" y="1"/>
                  </a:moveTo>
                  <a:cubicBezTo>
                    <a:pt x="2852" y="1"/>
                    <a:pt x="2726" y="56"/>
                    <a:pt x="2679" y="166"/>
                  </a:cubicBezTo>
                  <a:lnTo>
                    <a:pt x="788" y="4010"/>
                  </a:lnTo>
                  <a:cubicBezTo>
                    <a:pt x="1" y="5522"/>
                    <a:pt x="977" y="7381"/>
                    <a:pt x="2679" y="7570"/>
                  </a:cubicBezTo>
                  <a:cubicBezTo>
                    <a:pt x="2710" y="7097"/>
                    <a:pt x="2868" y="6593"/>
                    <a:pt x="3057" y="6152"/>
                  </a:cubicBezTo>
                  <a:lnTo>
                    <a:pt x="4663" y="2876"/>
                  </a:lnTo>
                  <a:lnTo>
                    <a:pt x="3309" y="166"/>
                  </a:lnTo>
                  <a:cubicBezTo>
                    <a:pt x="3246" y="56"/>
                    <a:pt x="3112" y="1"/>
                    <a:pt x="29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538028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Esquema</a:t>
            </a:r>
            <a:endParaRPr dirty="0"/>
          </a:p>
        </p:txBody>
      </p:sp>
      <p:sp>
        <p:nvSpPr>
          <p:cNvPr id="14" name="Rectangle 13">
            <a:extLst>
              <a:ext uri="{FF2B5EF4-FFF2-40B4-BE49-F238E27FC236}">
                <a16:creationId xmlns:a16="http://schemas.microsoft.com/office/drawing/2014/main" id="{1637D94A-3E7A-92AB-40C1-EBF1B132C384}"/>
              </a:ext>
            </a:extLst>
          </p:cNvPr>
          <p:cNvSpPr/>
          <p:nvPr/>
        </p:nvSpPr>
        <p:spPr>
          <a:xfrm>
            <a:off x="2505346" y="1621430"/>
            <a:ext cx="1143000" cy="25047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4C5BDFC2-870F-88E9-B6C7-ECAC4495479D}"/>
              </a:ext>
            </a:extLst>
          </p:cNvPr>
          <p:cNvCxnSpPr>
            <a:cxnSpLocks/>
          </p:cNvCxnSpPr>
          <p:nvPr/>
        </p:nvCxnSpPr>
        <p:spPr>
          <a:xfrm>
            <a:off x="1162246" y="2082366"/>
            <a:ext cx="13431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41BAC7E-BAE7-5A2D-E3A3-9340006C0818}"/>
              </a:ext>
            </a:extLst>
          </p:cNvPr>
          <p:cNvCxnSpPr>
            <a:cxnSpLocks/>
          </p:cNvCxnSpPr>
          <p:nvPr/>
        </p:nvCxnSpPr>
        <p:spPr>
          <a:xfrm>
            <a:off x="1162246" y="3758766"/>
            <a:ext cx="13431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27A874B-AA48-DC9E-D42A-FCC82B5480CB}"/>
              </a:ext>
            </a:extLst>
          </p:cNvPr>
          <p:cNvSpPr/>
          <p:nvPr/>
        </p:nvSpPr>
        <p:spPr>
          <a:xfrm>
            <a:off x="481957" y="1760944"/>
            <a:ext cx="675350" cy="15532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2FC59815-4B1D-6E81-5068-2BE8C47F7CDD}"/>
              </a:ext>
            </a:extLst>
          </p:cNvPr>
          <p:cNvCxnSpPr>
            <a:cxnSpLocks/>
          </p:cNvCxnSpPr>
          <p:nvPr/>
        </p:nvCxnSpPr>
        <p:spPr>
          <a:xfrm>
            <a:off x="1157307" y="3758766"/>
            <a:ext cx="0" cy="47491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5" name="Google Shape;495;p61">
            <a:extLst>
              <a:ext uri="{FF2B5EF4-FFF2-40B4-BE49-F238E27FC236}">
                <a16:creationId xmlns:a16="http://schemas.microsoft.com/office/drawing/2014/main" id="{342D7BED-6C22-FCEB-3FFA-CA3016045B87}"/>
              </a:ext>
            </a:extLst>
          </p:cNvPr>
          <p:cNvSpPr txBox="1">
            <a:spLocks/>
          </p:cNvSpPr>
          <p:nvPr/>
        </p:nvSpPr>
        <p:spPr>
          <a:xfrm>
            <a:off x="4662485" y="524766"/>
            <a:ext cx="1602602" cy="357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ca-ES" dirty="0"/>
              <a:t>Sensor aigua</a:t>
            </a:r>
          </a:p>
        </p:txBody>
      </p:sp>
      <p:sp>
        <p:nvSpPr>
          <p:cNvPr id="26" name="Rectangle 25">
            <a:extLst>
              <a:ext uri="{FF2B5EF4-FFF2-40B4-BE49-F238E27FC236}">
                <a16:creationId xmlns:a16="http://schemas.microsoft.com/office/drawing/2014/main" id="{2BFF390B-F958-A462-01A8-9A4F995FB77E}"/>
              </a:ext>
            </a:extLst>
          </p:cNvPr>
          <p:cNvSpPr/>
          <p:nvPr/>
        </p:nvSpPr>
        <p:spPr>
          <a:xfrm>
            <a:off x="1068972" y="3127939"/>
            <a:ext cx="79262" cy="101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C6C6684-F3E8-A306-CCDF-BB81D020EA5E}"/>
              </a:ext>
            </a:extLst>
          </p:cNvPr>
          <p:cNvSpPr/>
          <p:nvPr/>
        </p:nvSpPr>
        <p:spPr>
          <a:xfrm>
            <a:off x="3569084" y="3930690"/>
            <a:ext cx="79262" cy="101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27D1485-84E5-1A81-552A-D390F5EE5CD8}"/>
              </a:ext>
            </a:extLst>
          </p:cNvPr>
          <p:cNvSpPr/>
          <p:nvPr/>
        </p:nvSpPr>
        <p:spPr>
          <a:xfrm>
            <a:off x="3551939" y="1710028"/>
            <a:ext cx="79262" cy="101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51A4ACE-9DD6-2C15-73AE-D99A27EF4CF5}"/>
              </a:ext>
            </a:extLst>
          </p:cNvPr>
          <p:cNvSpPr/>
          <p:nvPr/>
        </p:nvSpPr>
        <p:spPr>
          <a:xfrm>
            <a:off x="4763811" y="670892"/>
            <a:ext cx="79262" cy="101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D140E7BD-C326-9AD9-559C-90913BE27FCB}"/>
              </a:ext>
            </a:extLst>
          </p:cNvPr>
          <p:cNvSpPr/>
          <p:nvPr/>
        </p:nvSpPr>
        <p:spPr>
          <a:xfrm>
            <a:off x="4716422" y="918850"/>
            <a:ext cx="182145" cy="166946"/>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Google Shape;495;p61">
            <a:extLst>
              <a:ext uri="{FF2B5EF4-FFF2-40B4-BE49-F238E27FC236}">
                <a16:creationId xmlns:a16="http://schemas.microsoft.com/office/drawing/2014/main" id="{2D650911-3693-B754-0EE2-88FBA4774F40}"/>
              </a:ext>
            </a:extLst>
          </p:cNvPr>
          <p:cNvSpPr txBox="1">
            <a:spLocks/>
          </p:cNvSpPr>
          <p:nvPr/>
        </p:nvSpPr>
        <p:spPr>
          <a:xfrm>
            <a:off x="4424679" y="835812"/>
            <a:ext cx="1602602" cy="357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ca-ES" dirty="0"/>
              <a:t>Motor</a:t>
            </a:r>
          </a:p>
        </p:txBody>
      </p:sp>
      <p:sp>
        <p:nvSpPr>
          <p:cNvPr id="32" name="Oval 31">
            <a:extLst>
              <a:ext uri="{FF2B5EF4-FFF2-40B4-BE49-F238E27FC236}">
                <a16:creationId xmlns:a16="http://schemas.microsoft.com/office/drawing/2014/main" id="{12E54BAB-6440-4CB6-2479-33B1E1F7B969}"/>
              </a:ext>
            </a:extLst>
          </p:cNvPr>
          <p:cNvSpPr/>
          <p:nvPr/>
        </p:nvSpPr>
        <p:spPr>
          <a:xfrm>
            <a:off x="3941524" y="3591819"/>
            <a:ext cx="182145" cy="166946"/>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7164371-8FCA-D593-D016-2296F5A98C80}"/>
              </a:ext>
            </a:extLst>
          </p:cNvPr>
          <p:cNvSpPr/>
          <p:nvPr/>
        </p:nvSpPr>
        <p:spPr>
          <a:xfrm>
            <a:off x="3941523" y="2404803"/>
            <a:ext cx="182145" cy="166946"/>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5B32DCB8-D114-1F6C-B5B8-6E9DB95FCD5C}"/>
              </a:ext>
            </a:extLst>
          </p:cNvPr>
          <p:cNvCxnSpPr>
            <a:cxnSpLocks/>
          </p:cNvCxnSpPr>
          <p:nvPr/>
        </p:nvCxnSpPr>
        <p:spPr>
          <a:xfrm flipV="1">
            <a:off x="3631201" y="2571750"/>
            <a:ext cx="1318509" cy="80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3E2B1D8-74B4-3674-6C69-A40EDA0E8320}"/>
              </a:ext>
            </a:extLst>
          </p:cNvPr>
          <p:cNvCxnSpPr>
            <a:cxnSpLocks/>
          </p:cNvCxnSpPr>
          <p:nvPr/>
        </p:nvCxnSpPr>
        <p:spPr>
          <a:xfrm flipV="1">
            <a:off x="3648346" y="3757956"/>
            <a:ext cx="1318509" cy="80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544DEA1-831E-2E53-49B1-A5219A763887}"/>
              </a:ext>
            </a:extLst>
          </p:cNvPr>
          <p:cNvCxnSpPr>
            <a:cxnSpLocks/>
          </p:cNvCxnSpPr>
          <p:nvPr/>
        </p:nvCxnSpPr>
        <p:spPr>
          <a:xfrm>
            <a:off x="4953002" y="2334290"/>
            <a:ext cx="0" cy="47491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97D70BD-15E9-324F-0628-52BB68D199F0}"/>
              </a:ext>
            </a:extLst>
          </p:cNvPr>
          <p:cNvCxnSpPr>
            <a:cxnSpLocks/>
          </p:cNvCxnSpPr>
          <p:nvPr/>
        </p:nvCxnSpPr>
        <p:spPr>
          <a:xfrm>
            <a:off x="4980710" y="3591819"/>
            <a:ext cx="0" cy="47491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5E4F707-2D6C-96A0-7693-48E48E6A6C3F}"/>
              </a:ext>
            </a:extLst>
          </p:cNvPr>
          <p:cNvCxnSpPr>
            <a:cxnSpLocks/>
          </p:cNvCxnSpPr>
          <p:nvPr/>
        </p:nvCxnSpPr>
        <p:spPr>
          <a:xfrm flipV="1">
            <a:off x="4980710" y="3599195"/>
            <a:ext cx="1318509" cy="80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7421720-20B3-1BBF-2098-14EE843B24E7}"/>
              </a:ext>
            </a:extLst>
          </p:cNvPr>
          <p:cNvCxnSpPr>
            <a:cxnSpLocks/>
          </p:cNvCxnSpPr>
          <p:nvPr/>
        </p:nvCxnSpPr>
        <p:spPr>
          <a:xfrm flipV="1">
            <a:off x="4980710" y="4065929"/>
            <a:ext cx="1318509" cy="80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9954D04-E693-F245-29F7-37E81C66897E}"/>
              </a:ext>
            </a:extLst>
          </p:cNvPr>
          <p:cNvCxnSpPr>
            <a:cxnSpLocks/>
          </p:cNvCxnSpPr>
          <p:nvPr/>
        </p:nvCxnSpPr>
        <p:spPr>
          <a:xfrm flipV="1">
            <a:off x="4947770" y="2338383"/>
            <a:ext cx="1318509" cy="80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0B7B561-772A-ED1D-037B-54759618DED0}"/>
              </a:ext>
            </a:extLst>
          </p:cNvPr>
          <p:cNvCxnSpPr>
            <a:cxnSpLocks/>
          </p:cNvCxnSpPr>
          <p:nvPr/>
        </p:nvCxnSpPr>
        <p:spPr>
          <a:xfrm flipV="1">
            <a:off x="4947769" y="2799619"/>
            <a:ext cx="1318509" cy="80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3A19C670-D5D3-021F-6B14-D23CC651DE95}"/>
              </a:ext>
            </a:extLst>
          </p:cNvPr>
          <p:cNvSpPr/>
          <p:nvPr/>
        </p:nvSpPr>
        <p:spPr>
          <a:xfrm>
            <a:off x="1362346" y="1915420"/>
            <a:ext cx="182145" cy="166946"/>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E9172638-0F1B-6F90-47DB-8D391D078248}"/>
              </a:ext>
            </a:extLst>
          </p:cNvPr>
          <p:cNvSpPr/>
          <p:nvPr/>
        </p:nvSpPr>
        <p:spPr>
          <a:xfrm>
            <a:off x="1271273" y="3591010"/>
            <a:ext cx="182145" cy="166946"/>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Isosceles Triangle 39">
            <a:extLst>
              <a:ext uri="{FF2B5EF4-FFF2-40B4-BE49-F238E27FC236}">
                <a16:creationId xmlns:a16="http://schemas.microsoft.com/office/drawing/2014/main" id="{02AE5045-19D2-3C23-6778-B30C8580FC1E}"/>
              </a:ext>
            </a:extLst>
          </p:cNvPr>
          <p:cNvSpPr/>
          <p:nvPr/>
        </p:nvSpPr>
        <p:spPr>
          <a:xfrm>
            <a:off x="4763811" y="1234227"/>
            <a:ext cx="126977" cy="15986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Isosceles Triangle 40">
            <a:extLst>
              <a:ext uri="{FF2B5EF4-FFF2-40B4-BE49-F238E27FC236}">
                <a16:creationId xmlns:a16="http://schemas.microsoft.com/office/drawing/2014/main" id="{6C39DA6A-2196-6661-BD41-7EDCB3ED966B}"/>
              </a:ext>
            </a:extLst>
          </p:cNvPr>
          <p:cNvSpPr/>
          <p:nvPr/>
        </p:nvSpPr>
        <p:spPr>
          <a:xfrm>
            <a:off x="4917221" y="2253759"/>
            <a:ext cx="126977" cy="15986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Isosceles Triangle 41">
            <a:extLst>
              <a:ext uri="{FF2B5EF4-FFF2-40B4-BE49-F238E27FC236}">
                <a16:creationId xmlns:a16="http://schemas.microsoft.com/office/drawing/2014/main" id="{1C4F37E9-DE6F-72FE-67CF-450383D66C4C}"/>
              </a:ext>
            </a:extLst>
          </p:cNvPr>
          <p:cNvSpPr/>
          <p:nvPr/>
        </p:nvSpPr>
        <p:spPr>
          <a:xfrm>
            <a:off x="4917220" y="2692087"/>
            <a:ext cx="126977" cy="15986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Isosceles Triangle 42">
            <a:extLst>
              <a:ext uri="{FF2B5EF4-FFF2-40B4-BE49-F238E27FC236}">
                <a16:creationId xmlns:a16="http://schemas.microsoft.com/office/drawing/2014/main" id="{B252AF16-AB78-9EDA-C6A4-199CBDFECBA2}"/>
              </a:ext>
            </a:extLst>
          </p:cNvPr>
          <p:cNvSpPr/>
          <p:nvPr/>
        </p:nvSpPr>
        <p:spPr>
          <a:xfrm>
            <a:off x="4927957" y="3522879"/>
            <a:ext cx="126977" cy="15986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Isosceles Triangle 43">
            <a:extLst>
              <a:ext uri="{FF2B5EF4-FFF2-40B4-BE49-F238E27FC236}">
                <a16:creationId xmlns:a16="http://schemas.microsoft.com/office/drawing/2014/main" id="{32BABFEA-AFD0-F359-C65F-6FE031435F6C}"/>
              </a:ext>
            </a:extLst>
          </p:cNvPr>
          <p:cNvSpPr/>
          <p:nvPr/>
        </p:nvSpPr>
        <p:spPr>
          <a:xfrm>
            <a:off x="4947008" y="3975809"/>
            <a:ext cx="126977" cy="15986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Google Shape;495;p61">
            <a:extLst>
              <a:ext uri="{FF2B5EF4-FFF2-40B4-BE49-F238E27FC236}">
                <a16:creationId xmlns:a16="http://schemas.microsoft.com/office/drawing/2014/main" id="{295E6922-40EC-F056-882C-663ED5C80E52}"/>
              </a:ext>
            </a:extLst>
          </p:cNvPr>
          <p:cNvSpPr txBox="1">
            <a:spLocks/>
          </p:cNvSpPr>
          <p:nvPr/>
        </p:nvSpPr>
        <p:spPr>
          <a:xfrm>
            <a:off x="4620827" y="2512367"/>
            <a:ext cx="1602602" cy="357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ca-ES" b="0" i="0" dirty="0">
                <a:solidFill>
                  <a:srgbClr val="000000"/>
                </a:solidFill>
                <a:effectLst/>
                <a:latin typeface="Open Sans" panose="020B0606030504020204" pitchFamily="34" charset="0"/>
              </a:rPr>
              <a:t>Vàlvula 2</a:t>
            </a:r>
            <a:endParaRPr lang="ca-ES" dirty="0"/>
          </a:p>
        </p:txBody>
      </p:sp>
      <p:sp>
        <p:nvSpPr>
          <p:cNvPr id="47" name="Google Shape;495;p61">
            <a:extLst>
              <a:ext uri="{FF2B5EF4-FFF2-40B4-BE49-F238E27FC236}">
                <a16:creationId xmlns:a16="http://schemas.microsoft.com/office/drawing/2014/main" id="{E8DF2E05-50B5-CA7F-BE76-1D5C088D5506}"/>
              </a:ext>
            </a:extLst>
          </p:cNvPr>
          <p:cNvSpPr txBox="1">
            <a:spLocks/>
          </p:cNvSpPr>
          <p:nvPr/>
        </p:nvSpPr>
        <p:spPr>
          <a:xfrm>
            <a:off x="4620827" y="2041450"/>
            <a:ext cx="1602602" cy="357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ca-ES" b="0" i="0" dirty="0">
                <a:solidFill>
                  <a:srgbClr val="000000"/>
                </a:solidFill>
                <a:effectLst/>
                <a:latin typeface="Open Sans" panose="020B0606030504020204" pitchFamily="34" charset="0"/>
              </a:rPr>
              <a:t>Vàlvula 1</a:t>
            </a:r>
            <a:endParaRPr lang="ca-ES" dirty="0"/>
          </a:p>
        </p:txBody>
      </p:sp>
      <p:sp>
        <p:nvSpPr>
          <p:cNvPr id="48" name="Google Shape;495;p61">
            <a:extLst>
              <a:ext uri="{FF2B5EF4-FFF2-40B4-BE49-F238E27FC236}">
                <a16:creationId xmlns:a16="http://schemas.microsoft.com/office/drawing/2014/main" id="{48636683-5EA5-5C8C-D49E-1FEE29711FEB}"/>
              </a:ext>
            </a:extLst>
          </p:cNvPr>
          <p:cNvSpPr txBox="1">
            <a:spLocks/>
          </p:cNvSpPr>
          <p:nvPr/>
        </p:nvSpPr>
        <p:spPr>
          <a:xfrm>
            <a:off x="4620827" y="3283565"/>
            <a:ext cx="1602602" cy="357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ca-ES" b="0" i="0" dirty="0">
                <a:solidFill>
                  <a:srgbClr val="000000"/>
                </a:solidFill>
                <a:effectLst/>
                <a:latin typeface="Open Sans" panose="020B0606030504020204" pitchFamily="34" charset="0"/>
              </a:rPr>
              <a:t>Vàlvula 3</a:t>
            </a:r>
            <a:endParaRPr lang="ca-ES" dirty="0"/>
          </a:p>
        </p:txBody>
      </p:sp>
      <p:sp>
        <p:nvSpPr>
          <p:cNvPr id="49" name="Google Shape;495;p61">
            <a:extLst>
              <a:ext uri="{FF2B5EF4-FFF2-40B4-BE49-F238E27FC236}">
                <a16:creationId xmlns:a16="http://schemas.microsoft.com/office/drawing/2014/main" id="{7FC5EF2C-5C22-099E-AA19-B255823392EB}"/>
              </a:ext>
            </a:extLst>
          </p:cNvPr>
          <p:cNvSpPr txBox="1">
            <a:spLocks/>
          </p:cNvSpPr>
          <p:nvPr/>
        </p:nvSpPr>
        <p:spPr>
          <a:xfrm>
            <a:off x="4684041" y="3764200"/>
            <a:ext cx="1602602" cy="357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ca-ES" b="0" i="0" dirty="0">
                <a:solidFill>
                  <a:srgbClr val="000000"/>
                </a:solidFill>
                <a:effectLst/>
                <a:latin typeface="Open Sans" panose="020B0606030504020204" pitchFamily="34" charset="0"/>
              </a:rPr>
              <a:t>Vàlvula 3</a:t>
            </a:r>
            <a:endParaRPr lang="ca-ES" dirty="0"/>
          </a:p>
        </p:txBody>
      </p:sp>
      <p:sp>
        <p:nvSpPr>
          <p:cNvPr id="51" name="Google Shape;495;p61">
            <a:extLst>
              <a:ext uri="{FF2B5EF4-FFF2-40B4-BE49-F238E27FC236}">
                <a16:creationId xmlns:a16="http://schemas.microsoft.com/office/drawing/2014/main" id="{6D62E544-BC7B-6A54-AF7C-FE4B11BB61BD}"/>
              </a:ext>
            </a:extLst>
          </p:cNvPr>
          <p:cNvSpPr txBox="1">
            <a:spLocks/>
          </p:cNvSpPr>
          <p:nvPr/>
        </p:nvSpPr>
        <p:spPr>
          <a:xfrm>
            <a:off x="4467351" y="1159636"/>
            <a:ext cx="1602602" cy="357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ca-ES" dirty="0"/>
              <a:t>Vàlvula</a:t>
            </a:r>
          </a:p>
        </p:txBody>
      </p:sp>
      <p:sp>
        <p:nvSpPr>
          <p:cNvPr id="52" name="Google Shape;495;p61">
            <a:extLst>
              <a:ext uri="{FF2B5EF4-FFF2-40B4-BE49-F238E27FC236}">
                <a16:creationId xmlns:a16="http://schemas.microsoft.com/office/drawing/2014/main" id="{9E222379-5DB3-B4A6-F7A0-76041CC580F0}"/>
              </a:ext>
            </a:extLst>
          </p:cNvPr>
          <p:cNvSpPr txBox="1">
            <a:spLocks/>
          </p:cNvSpPr>
          <p:nvPr/>
        </p:nvSpPr>
        <p:spPr>
          <a:xfrm>
            <a:off x="3721873" y="2285572"/>
            <a:ext cx="1602602" cy="357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ca-ES" b="0" i="0" dirty="0">
                <a:solidFill>
                  <a:srgbClr val="000000"/>
                </a:solidFill>
                <a:effectLst/>
                <a:latin typeface="Open Sans" panose="020B0606030504020204" pitchFamily="34" charset="0"/>
              </a:rPr>
              <a:t>Motor 1</a:t>
            </a:r>
            <a:endParaRPr lang="ca-ES" dirty="0"/>
          </a:p>
        </p:txBody>
      </p:sp>
      <p:sp>
        <p:nvSpPr>
          <p:cNvPr id="53" name="Google Shape;495;p61">
            <a:extLst>
              <a:ext uri="{FF2B5EF4-FFF2-40B4-BE49-F238E27FC236}">
                <a16:creationId xmlns:a16="http://schemas.microsoft.com/office/drawing/2014/main" id="{D12FA446-F194-EE38-20F1-185FC027DB29}"/>
              </a:ext>
            </a:extLst>
          </p:cNvPr>
          <p:cNvSpPr txBox="1">
            <a:spLocks/>
          </p:cNvSpPr>
          <p:nvPr/>
        </p:nvSpPr>
        <p:spPr>
          <a:xfrm>
            <a:off x="3721873" y="3487797"/>
            <a:ext cx="1602602" cy="357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ca-ES" b="0" i="0" dirty="0">
                <a:solidFill>
                  <a:srgbClr val="000000"/>
                </a:solidFill>
                <a:effectLst/>
                <a:latin typeface="Open Sans" panose="020B0606030504020204" pitchFamily="34" charset="0"/>
              </a:rPr>
              <a:t>Motor 2</a:t>
            </a:r>
            <a:endParaRPr lang="ca-ES" dirty="0"/>
          </a:p>
        </p:txBody>
      </p:sp>
      <p:grpSp>
        <p:nvGrpSpPr>
          <p:cNvPr id="54" name="Google Shape;9013;p146">
            <a:extLst>
              <a:ext uri="{FF2B5EF4-FFF2-40B4-BE49-F238E27FC236}">
                <a16:creationId xmlns:a16="http://schemas.microsoft.com/office/drawing/2014/main" id="{4A5177DE-690A-5D87-7950-4C1FA212F750}"/>
              </a:ext>
            </a:extLst>
          </p:cNvPr>
          <p:cNvGrpSpPr/>
          <p:nvPr/>
        </p:nvGrpSpPr>
        <p:grpSpPr>
          <a:xfrm>
            <a:off x="6489139" y="3975809"/>
            <a:ext cx="450470" cy="449325"/>
            <a:chOff x="-20946600" y="3317850"/>
            <a:chExt cx="304825" cy="304050"/>
          </a:xfrm>
          <a:solidFill>
            <a:schemeClr val="accent4">
              <a:lumMod val="60000"/>
              <a:lumOff val="40000"/>
            </a:schemeClr>
          </a:solidFill>
        </p:grpSpPr>
        <p:sp>
          <p:nvSpPr>
            <p:cNvPr id="55" name="Google Shape;9014;p146">
              <a:extLst>
                <a:ext uri="{FF2B5EF4-FFF2-40B4-BE49-F238E27FC236}">
                  <a16:creationId xmlns:a16="http://schemas.microsoft.com/office/drawing/2014/main" id="{87B45CCF-B011-B690-7B0E-CB84CD0C2F99}"/>
                </a:ext>
              </a:extLst>
            </p:cNvPr>
            <p:cNvSpPr/>
            <p:nvPr/>
          </p:nvSpPr>
          <p:spPr>
            <a:xfrm>
              <a:off x="-20946600" y="3317850"/>
              <a:ext cx="232350" cy="248925"/>
            </a:xfrm>
            <a:custGeom>
              <a:avLst/>
              <a:gdLst/>
              <a:ahLst/>
              <a:cxnLst/>
              <a:rect l="l" t="t" r="r" b="b"/>
              <a:pathLst>
                <a:path w="9294" h="9957" extrusionOk="0">
                  <a:moveTo>
                    <a:pt x="4631" y="1"/>
                  </a:moveTo>
                  <a:cubicBezTo>
                    <a:pt x="3340" y="1"/>
                    <a:pt x="2268" y="977"/>
                    <a:pt x="2142" y="2237"/>
                  </a:cubicBezTo>
                  <a:cubicBezTo>
                    <a:pt x="1292" y="2521"/>
                    <a:pt x="693" y="3340"/>
                    <a:pt x="693" y="4254"/>
                  </a:cubicBezTo>
                  <a:cubicBezTo>
                    <a:pt x="693" y="4695"/>
                    <a:pt x="819" y="5073"/>
                    <a:pt x="1040" y="5451"/>
                  </a:cubicBezTo>
                  <a:cubicBezTo>
                    <a:pt x="378" y="5923"/>
                    <a:pt x="0" y="6648"/>
                    <a:pt x="0" y="7499"/>
                  </a:cubicBezTo>
                  <a:cubicBezTo>
                    <a:pt x="0" y="8853"/>
                    <a:pt x="1134" y="9956"/>
                    <a:pt x="2520" y="9956"/>
                  </a:cubicBezTo>
                  <a:lnTo>
                    <a:pt x="4316" y="9956"/>
                  </a:lnTo>
                  <a:lnTo>
                    <a:pt x="4316" y="8349"/>
                  </a:lnTo>
                  <a:lnTo>
                    <a:pt x="2962" y="7026"/>
                  </a:lnTo>
                  <a:cubicBezTo>
                    <a:pt x="2804" y="6869"/>
                    <a:pt x="2804" y="6648"/>
                    <a:pt x="2962" y="6491"/>
                  </a:cubicBezTo>
                  <a:cubicBezTo>
                    <a:pt x="3040" y="6412"/>
                    <a:pt x="3135" y="6372"/>
                    <a:pt x="3229" y="6372"/>
                  </a:cubicBezTo>
                  <a:cubicBezTo>
                    <a:pt x="3324" y="6372"/>
                    <a:pt x="3418" y="6412"/>
                    <a:pt x="3497" y="6491"/>
                  </a:cubicBezTo>
                  <a:lnTo>
                    <a:pt x="4316" y="7341"/>
                  </a:lnTo>
                  <a:lnTo>
                    <a:pt x="4316" y="5482"/>
                  </a:lnTo>
                  <a:lnTo>
                    <a:pt x="2962" y="4128"/>
                  </a:lnTo>
                  <a:cubicBezTo>
                    <a:pt x="2804" y="3970"/>
                    <a:pt x="2804" y="3781"/>
                    <a:pt x="2962" y="3624"/>
                  </a:cubicBezTo>
                  <a:cubicBezTo>
                    <a:pt x="3040" y="3545"/>
                    <a:pt x="3135" y="3505"/>
                    <a:pt x="3229" y="3505"/>
                  </a:cubicBezTo>
                  <a:cubicBezTo>
                    <a:pt x="3324" y="3505"/>
                    <a:pt x="3418" y="3545"/>
                    <a:pt x="3497" y="3624"/>
                  </a:cubicBezTo>
                  <a:lnTo>
                    <a:pt x="4316" y="4443"/>
                  </a:lnTo>
                  <a:lnTo>
                    <a:pt x="4316" y="2458"/>
                  </a:lnTo>
                  <a:cubicBezTo>
                    <a:pt x="4316" y="2237"/>
                    <a:pt x="4474" y="2080"/>
                    <a:pt x="4663" y="2080"/>
                  </a:cubicBezTo>
                  <a:cubicBezTo>
                    <a:pt x="4852" y="2080"/>
                    <a:pt x="5009" y="2237"/>
                    <a:pt x="5009" y="2458"/>
                  </a:cubicBezTo>
                  <a:lnTo>
                    <a:pt x="5009" y="5860"/>
                  </a:lnTo>
                  <a:lnTo>
                    <a:pt x="5860" y="5041"/>
                  </a:lnTo>
                  <a:cubicBezTo>
                    <a:pt x="5939" y="4963"/>
                    <a:pt x="6025" y="4923"/>
                    <a:pt x="6112" y="4923"/>
                  </a:cubicBezTo>
                  <a:cubicBezTo>
                    <a:pt x="6199" y="4923"/>
                    <a:pt x="6285" y="4963"/>
                    <a:pt x="6364" y="5041"/>
                  </a:cubicBezTo>
                  <a:cubicBezTo>
                    <a:pt x="6522" y="5199"/>
                    <a:pt x="6522" y="5388"/>
                    <a:pt x="6364" y="5545"/>
                  </a:cubicBezTo>
                  <a:lnTo>
                    <a:pt x="5009" y="6900"/>
                  </a:lnTo>
                  <a:lnTo>
                    <a:pt x="5009" y="9956"/>
                  </a:lnTo>
                  <a:lnTo>
                    <a:pt x="6805" y="9956"/>
                  </a:lnTo>
                  <a:cubicBezTo>
                    <a:pt x="8160" y="9956"/>
                    <a:pt x="9294" y="8853"/>
                    <a:pt x="9294" y="7499"/>
                  </a:cubicBezTo>
                  <a:cubicBezTo>
                    <a:pt x="9294" y="6648"/>
                    <a:pt x="8884" y="5923"/>
                    <a:pt x="8223" y="5451"/>
                  </a:cubicBezTo>
                  <a:cubicBezTo>
                    <a:pt x="8443" y="5073"/>
                    <a:pt x="8569" y="4695"/>
                    <a:pt x="8569" y="4254"/>
                  </a:cubicBezTo>
                  <a:cubicBezTo>
                    <a:pt x="8569" y="3340"/>
                    <a:pt x="7971" y="2521"/>
                    <a:pt x="7120" y="2237"/>
                  </a:cubicBezTo>
                  <a:cubicBezTo>
                    <a:pt x="6994" y="977"/>
                    <a:pt x="5923" y="1"/>
                    <a:pt x="46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9015;p146">
              <a:extLst>
                <a:ext uri="{FF2B5EF4-FFF2-40B4-BE49-F238E27FC236}">
                  <a16:creationId xmlns:a16="http://schemas.microsoft.com/office/drawing/2014/main" id="{65E6AD30-CD1A-46D3-F7E8-29E88809E106}"/>
                </a:ext>
              </a:extLst>
            </p:cNvPr>
            <p:cNvSpPr/>
            <p:nvPr/>
          </p:nvSpPr>
          <p:spPr>
            <a:xfrm>
              <a:off x="-20775700" y="3318650"/>
              <a:ext cx="133925" cy="249700"/>
            </a:xfrm>
            <a:custGeom>
              <a:avLst/>
              <a:gdLst/>
              <a:ahLst/>
              <a:cxnLst/>
              <a:rect l="l" t="t" r="r" b="b"/>
              <a:pathLst>
                <a:path w="5357" h="9988" extrusionOk="0">
                  <a:moveTo>
                    <a:pt x="694" y="0"/>
                  </a:moveTo>
                  <a:cubicBezTo>
                    <a:pt x="473" y="0"/>
                    <a:pt x="253" y="32"/>
                    <a:pt x="1" y="126"/>
                  </a:cubicBezTo>
                  <a:cubicBezTo>
                    <a:pt x="473" y="567"/>
                    <a:pt x="820" y="1103"/>
                    <a:pt x="977" y="1764"/>
                  </a:cubicBezTo>
                  <a:cubicBezTo>
                    <a:pt x="1891" y="2300"/>
                    <a:pt x="2490" y="3245"/>
                    <a:pt x="2490" y="4285"/>
                  </a:cubicBezTo>
                  <a:cubicBezTo>
                    <a:pt x="2490" y="4663"/>
                    <a:pt x="2395" y="4978"/>
                    <a:pt x="2269" y="5293"/>
                  </a:cubicBezTo>
                  <a:cubicBezTo>
                    <a:pt x="2836" y="5860"/>
                    <a:pt x="3183" y="6648"/>
                    <a:pt x="3183" y="7498"/>
                  </a:cubicBezTo>
                  <a:cubicBezTo>
                    <a:pt x="3183" y="8506"/>
                    <a:pt x="2710" y="9389"/>
                    <a:pt x="1985" y="9987"/>
                  </a:cubicBezTo>
                  <a:lnTo>
                    <a:pt x="2836" y="9987"/>
                  </a:lnTo>
                  <a:cubicBezTo>
                    <a:pt x="4222" y="9987"/>
                    <a:pt x="5325" y="8853"/>
                    <a:pt x="5325" y="7498"/>
                  </a:cubicBezTo>
                  <a:cubicBezTo>
                    <a:pt x="5357" y="6679"/>
                    <a:pt x="4915" y="5891"/>
                    <a:pt x="4285" y="5450"/>
                  </a:cubicBezTo>
                  <a:cubicBezTo>
                    <a:pt x="4537" y="5104"/>
                    <a:pt x="4632" y="4694"/>
                    <a:pt x="4632" y="4253"/>
                  </a:cubicBezTo>
                  <a:cubicBezTo>
                    <a:pt x="4632" y="3340"/>
                    <a:pt x="4065" y="2520"/>
                    <a:pt x="3183" y="2237"/>
                  </a:cubicBezTo>
                  <a:cubicBezTo>
                    <a:pt x="3057" y="977"/>
                    <a:pt x="2017" y="0"/>
                    <a:pt x="69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9016;p146">
              <a:extLst>
                <a:ext uri="{FF2B5EF4-FFF2-40B4-BE49-F238E27FC236}">
                  <a16:creationId xmlns:a16="http://schemas.microsoft.com/office/drawing/2014/main" id="{7D32294A-460E-BD25-D794-CC1FE0B7A7AB}"/>
                </a:ext>
              </a:extLst>
            </p:cNvPr>
            <p:cNvSpPr/>
            <p:nvPr/>
          </p:nvSpPr>
          <p:spPr>
            <a:xfrm>
              <a:off x="-20890700" y="3586425"/>
              <a:ext cx="195375" cy="35475"/>
            </a:xfrm>
            <a:custGeom>
              <a:avLst/>
              <a:gdLst/>
              <a:ahLst/>
              <a:cxnLst/>
              <a:rect l="l" t="t" r="r" b="b"/>
              <a:pathLst>
                <a:path w="7815" h="1419" extrusionOk="0">
                  <a:moveTo>
                    <a:pt x="2112" y="1"/>
                  </a:moveTo>
                  <a:lnTo>
                    <a:pt x="2112" y="725"/>
                  </a:lnTo>
                  <a:lnTo>
                    <a:pt x="347" y="725"/>
                  </a:lnTo>
                  <a:cubicBezTo>
                    <a:pt x="158" y="725"/>
                    <a:pt x="1" y="883"/>
                    <a:pt x="1" y="1072"/>
                  </a:cubicBezTo>
                  <a:cubicBezTo>
                    <a:pt x="1" y="1261"/>
                    <a:pt x="158" y="1418"/>
                    <a:pt x="347" y="1418"/>
                  </a:cubicBezTo>
                  <a:lnTo>
                    <a:pt x="7468" y="1418"/>
                  </a:lnTo>
                  <a:cubicBezTo>
                    <a:pt x="7657" y="1418"/>
                    <a:pt x="7814" y="1261"/>
                    <a:pt x="7814" y="1072"/>
                  </a:cubicBezTo>
                  <a:cubicBezTo>
                    <a:pt x="7814" y="883"/>
                    <a:pt x="7625" y="725"/>
                    <a:pt x="7436" y="725"/>
                  </a:cubicBezTo>
                  <a:lnTo>
                    <a:pt x="5672" y="725"/>
                  </a:lnTo>
                  <a:lnTo>
                    <a:pt x="5672" y="1"/>
                  </a:lnTo>
                  <a:lnTo>
                    <a:pt x="4947" y="1"/>
                  </a:lnTo>
                  <a:lnTo>
                    <a:pt x="4947" y="725"/>
                  </a:lnTo>
                  <a:lnTo>
                    <a:pt x="2836" y="725"/>
                  </a:lnTo>
                  <a:lnTo>
                    <a:pt x="283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8" name="Google Shape;9257;p146">
            <a:extLst>
              <a:ext uri="{FF2B5EF4-FFF2-40B4-BE49-F238E27FC236}">
                <a16:creationId xmlns:a16="http://schemas.microsoft.com/office/drawing/2014/main" id="{B290E991-6FFA-53AF-C1E5-73049895472C}"/>
              </a:ext>
            </a:extLst>
          </p:cNvPr>
          <p:cNvSpPr/>
          <p:nvPr/>
        </p:nvSpPr>
        <p:spPr>
          <a:xfrm>
            <a:off x="6489139" y="3366938"/>
            <a:ext cx="449288" cy="448143"/>
          </a:xfrm>
          <a:custGeom>
            <a:avLst/>
            <a:gdLst/>
            <a:ahLst/>
            <a:cxnLst/>
            <a:rect l="l" t="t" r="r" b="b"/>
            <a:pathLst>
              <a:path w="12161" h="12130" extrusionOk="0">
                <a:moveTo>
                  <a:pt x="3245" y="0"/>
                </a:moveTo>
                <a:cubicBezTo>
                  <a:pt x="3245" y="0"/>
                  <a:pt x="2174" y="820"/>
                  <a:pt x="2174" y="1765"/>
                </a:cubicBezTo>
                <a:cubicBezTo>
                  <a:pt x="2174" y="2363"/>
                  <a:pt x="2552" y="2930"/>
                  <a:pt x="2867" y="3245"/>
                </a:cubicBezTo>
                <a:lnTo>
                  <a:pt x="2867" y="4254"/>
                </a:lnTo>
                <a:cubicBezTo>
                  <a:pt x="2867" y="3466"/>
                  <a:pt x="2237" y="2836"/>
                  <a:pt x="1449" y="2836"/>
                </a:cubicBezTo>
                <a:lnTo>
                  <a:pt x="756" y="2836"/>
                </a:lnTo>
                <a:lnTo>
                  <a:pt x="756" y="3560"/>
                </a:lnTo>
                <a:cubicBezTo>
                  <a:pt x="756" y="4348"/>
                  <a:pt x="1386" y="4978"/>
                  <a:pt x="2174" y="4978"/>
                </a:cubicBezTo>
                <a:lnTo>
                  <a:pt x="2867" y="4978"/>
                </a:lnTo>
                <a:lnTo>
                  <a:pt x="2867" y="6742"/>
                </a:lnTo>
                <a:cubicBezTo>
                  <a:pt x="2867" y="5955"/>
                  <a:pt x="2237" y="5325"/>
                  <a:pt x="1449" y="5325"/>
                </a:cubicBezTo>
                <a:lnTo>
                  <a:pt x="756" y="5325"/>
                </a:lnTo>
                <a:lnTo>
                  <a:pt x="756" y="6018"/>
                </a:lnTo>
                <a:cubicBezTo>
                  <a:pt x="756" y="6805"/>
                  <a:pt x="1386" y="7467"/>
                  <a:pt x="2174" y="7467"/>
                </a:cubicBezTo>
                <a:lnTo>
                  <a:pt x="2867" y="7467"/>
                </a:lnTo>
                <a:lnTo>
                  <a:pt x="2867" y="9263"/>
                </a:lnTo>
                <a:cubicBezTo>
                  <a:pt x="2867" y="8475"/>
                  <a:pt x="2237" y="7845"/>
                  <a:pt x="1449" y="7845"/>
                </a:cubicBezTo>
                <a:lnTo>
                  <a:pt x="756" y="7845"/>
                </a:lnTo>
                <a:lnTo>
                  <a:pt x="756" y="8570"/>
                </a:lnTo>
                <a:cubicBezTo>
                  <a:pt x="756" y="9357"/>
                  <a:pt x="1386" y="9987"/>
                  <a:pt x="2174" y="9987"/>
                </a:cubicBezTo>
                <a:lnTo>
                  <a:pt x="2867" y="9987"/>
                </a:lnTo>
                <a:lnTo>
                  <a:pt x="2867" y="11437"/>
                </a:lnTo>
                <a:lnTo>
                  <a:pt x="347" y="11437"/>
                </a:lnTo>
                <a:cubicBezTo>
                  <a:pt x="158" y="11437"/>
                  <a:pt x="0" y="11594"/>
                  <a:pt x="0" y="11783"/>
                </a:cubicBezTo>
                <a:cubicBezTo>
                  <a:pt x="0" y="11972"/>
                  <a:pt x="158" y="12130"/>
                  <a:pt x="347" y="12130"/>
                </a:cubicBezTo>
                <a:lnTo>
                  <a:pt x="11814" y="12130"/>
                </a:lnTo>
                <a:cubicBezTo>
                  <a:pt x="12004" y="12130"/>
                  <a:pt x="12161" y="11972"/>
                  <a:pt x="12161" y="11783"/>
                </a:cubicBezTo>
                <a:cubicBezTo>
                  <a:pt x="12161" y="11594"/>
                  <a:pt x="12004" y="11437"/>
                  <a:pt x="11814" y="11437"/>
                </a:cubicBezTo>
                <a:lnTo>
                  <a:pt x="9294" y="11437"/>
                </a:lnTo>
                <a:lnTo>
                  <a:pt x="9294" y="9987"/>
                </a:lnTo>
                <a:lnTo>
                  <a:pt x="10019" y="9987"/>
                </a:lnTo>
                <a:cubicBezTo>
                  <a:pt x="10806" y="9987"/>
                  <a:pt x="11436" y="9357"/>
                  <a:pt x="11436" y="8570"/>
                </a:cubicBezTo>
                <a:lnTo>
                  <a:pt x="11436" y="7845"/>
                </a:lnTo>
                <a:lnTo>
                  <a:pt x="10712" y="7845"/>
                </a:lnTo>
                <a:cubicBezTo>
                  <a:pt x="9924" y="7845"/>
                  <a:pt x="9294" y="8475"/>
                  <a:pt x="9294" y="9263"/>
                </a:cubicBezTo>
                <a:lnTo>
                  <a:pt x="9294" y="7467"/>
                </a:lnTo>
                <a:lnTo>
                  <a:pt x="10019" y="7467"/>
                </a:lnTo>
                <a:cubicBezTo>
                  <a:pt x="10806" y="7467"/>
                  <a:pt x="11436" y="6805"/>
                  <a:pt x="11436" y="6018"/>
                </a:cubicBezTo>
                <a:lnTo>
                  <a:pt x="11436" y="5325"/>
                </a:lnTo>
                <a:lnTo>
                  <a:pt x="10712" y="5325"/>
                </a:lnTo>
                <a:cubicBezTo>
                  <a:pt x="9924" y="5325"/>
                  <a:pt x="9294" y="5955"/>
                  <a:pt x="9294" y="6742"/>
                </a:cubicBezTo>
                <a:lnTo>
                  <a:pt x="9294" y="4978"/>
                </a:lnTo>
                <a:lnTo>
                  <a:pt x="10019" y="4978"/>
                </a:lnTo>
                <a:cubicBezTo>
                  <a:pt x="10806" y="4978"/>
                  <a:pt x="11436" y="4348"/>
                  <a:pt x="11436" y="3560"/>
                </a:cubicBezTo>
                <a:lnTo>
                  <a:pt x="11436" y="2836"/>
                </a:lnTo>
                <a:lnTo>
                  <a:pt x="10712" y="2836"/>
                </a:lnTo>
                <a:cubicBezTo>
                  <a:pt x="9924" y="2836"/>
                  <a:pt x="9294" y="3466"/>
                  <a:pt x="9294" y="4254"/>
                </a:cubicBezTo>
                <a:lnTo>
                  <a:pt x="9294" y="3245"/>
                </a:lnTo>
                <a:cubicBezTo>
                  <a:pt x="9609" y="2930"/>
                  <a:pt x="10019" y="2363"/>
                  <a:pt x="10019" y="1765"/>
                </a:cubicBezTo>
                <a:cubicBezTo>
                  <a:pt x="10019" y="788"/>
                  <a:pt x="8948" y="0"/>
                  <a:pt x="8948" y="0"/>
                </a:cubicBezTo>
                <a:cubicBezTo>
                  <a:pt x="8948" y="0"/>
                  <a:pt x="7876" y="820"/>
                  <a:pt x="7876" y="1765"/>
                </a:cubicBezTo>
                <a:cubicBezTo>
                  <a:pt x="7876" y="2363"/>
                  <a:pt x="8286" y="2930"/>
                  <a:pt x="8601" y="3245"/>
                </a:cubicBezTo>
                <a:lnTo>
                  <a:pt x="8601" y="4254"/>
                </a:lnTo>
                <a:cubicBezTo>
                  <a:pt x="8601" y="3466"/>
                  <a:pt x="7971" y="2836"/>
                  <a:pt x="7183" y="2836"/>
                </a:cubicBezTo>
                <a:lnTo>
                  <a:pt x="6459" y="2836"/>
                </a:lnTo>
                <a:lnTo>
                  <a:pt x="6459" y="3560"/>
                </a:lnTo>
                <a:cubicBezTo>
                  <a:pt x="6459" y="4348"/>
                  <a:pt x="7089" y="4978"/>
                  <a:pt x="7876" y="4978"/>
                </a:cubicBezTo>
                <a:lnTo>
                  <a:pt x="8601" y="4978"/>
                </a:lnTo>
                <a:lnTo>
                  <a:pt x="8601" y="6742"/>
                </a:lnTo>
                <a:cubicBezTo>
                  <a:pt x="8601" y="5955"/>
                  <a:pt x="7971" y="5325"/>
                  <a:pt x="7183" y="5325"/>
                </a:cubicBezTo>
                <a:lnTo>
                  <a:pt x="6459" y="5325"/>
                </a:lnTo>
                <a:lnTo>
                  <a:pt x="6459" y="6018"/>
                </a:lnTo>
                <a:cubicBezTo>
                  <a:pt x="6459" y="6805"/>
                  <a:pt x="7089" y="7467"/>
                  <a:pt x="7876" y="7467"/>
                </a:cubicBezTo>
                <a:lnTo>
                  <a:pt x="8601" y="7467"/>
                </a:lnTo>
                <a:lnTo>
                  <a:pt x="8601" y="9263"/>
                </a:lnTo>
                <a:cubicBezTo>
                  <a:pt x="8601" y="8475"/>
                  <a:pt x="7971" y="7845"/>
                  <a:pt x="7183" y="7845"/>
                </a:cubicBezTo>
                <a:lnTo>
                  <a:pt x="6459" y="7845"/>
                </a:lnTo>
                <a:lnTo>
                  <a:pt x="6459" y="8570"/>
                </a:lnTo>
                <a:cubicBezTo>
                  <a:pt x="6459" y="9357"/>
                  <a:pt x="7089" y="9987"/>
                  <a:pt x="7876" y="9987"/>
                </a:cubicBezTo>
                <a:lnTo>
                  <a:pt x="8601" y="9987"/>
                </a:lnTo>
                <a:lnTo>
                  <a:pt x="8601" y="11437"/>
                </a:lnTo>
                <a:lnTo>
                  <a:pt x="3592" y="11437"/>
                </a:lnTo>
                <a:lnTo>
                  <a:pt x="3592" y="9987"/>
                </a:lnTo>
                <a:lnTo>
                  <a:pt x="4285" y="9987"/>
                </a:lnTo>
                <a:cubicBezTo>
                  <a:pt x="5072" y="9987"/>
                  <a:pt x="5703" y="9357"/>
                  <a:pt x="5703" y="8570"/>
                </a:cubicBezTo>
                <a:lnTo>
                  <a:pt x="5703" y="7845"/>
                </a:lnTo>
                <a:lnTo>
                  <a:pt x="5009" y="7845"/>
                </a:lnTo>
                <a:cubicBezTo>
                  <a:pt x="4222" y="7845"/>
                  <a:pt x="3592" y="8475"/>
                  <a:pt x="3592" y="9263"/>
                </a:cubicBezTo>
                <a:lnTo>
                  <a:pt x="3592" y="7467"/>
                </a:lnTo>
                <a:lnTo>
                  <a:pt x="4285" y="7467"/>
                </a:lnTo>
                <a:cubicBezTo>
                  <a:pt x="5072" y="7467"/>
                  <a:pt x="5703" y="6805"/>
                  <a:pt x="5703" y="6018"/>
                </a:cubicBezTo>
                <a:lnTo>
                  <a:pt x="5703" y="5325"/>
                </a:lnTo>
                <a:lnTo>
                  <a:pt x="5009" y="5325"/>
                </a:lnTo>
                <a:cubicBezTo>
                  <a:pt x="4222" y="5325"/>
                  <a:pt x="3592" y="5955"/>
                  <a:pt x="3592" y="6742"/>
                </a:cubicBezTo>
                <a:lnTo>
                  <a:pt x="3592" y="4978"/>
                </a:lnTo>
                <a:lnTo>
                  <a:pt x="4285" y="4978"/>
                </a:lnTo>
                <a:cubicBezTo>
                  <a:pt x="5072" y="4978"/>
                  <a:pt x="5703" y="4348"/>
                  <a:pt x="5703" y="3560"/>
                </a:cubicBezTo>
                <a:lnTo>
                  <a:pt x="5703" y="2836"/>
                </a:lnTo>
                <a:lnTo>
                  <a:pt x="5009" y="2836"/>
                </a:lnTo>
                <a:cubicBezTo>
                  <a:pt x="4222" y="2836"/>
                  <a:pt x="3592" y="3466"/>
                  <a:pt x="3592" y="4254"/>
                </a:cubicBezTo>
                <a:lnTo>
                  <a:pt x="3592" y="3245"/>
                </a:lnTo>
                <a:cubicBezTo>
                  <a:pt x="3907" y="2930"/>
                  <a:pt x="4285" y="2363"/>
                  <a:pt x="4285" y="1765"/>
                </a:cubicBezTo>
                <a:cubicBezTo>
                  <a:pt x="4285" y="788"/>
                  <a:pt x="3245" y="0"/>
                  <a:pt x="3245"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1"/>
              </a:solidFill>
            </a:endParaRPr>
          </a:p>
        </p:txBody>
      </p:sp>
      <p:grpSp>
        <p:nvGrpSpPr>
          <p:cNvPr id="59" name="Google Shape;9022;p146">
            <a:extLst>
              <a:ext uri="{FF2B5EF4-FFF2-40B4-BE49-F238E27FC236}">
                <a16:creationId xmlns:a16="http://schemas.microsoft.com/office/drawing/2014/main" id="{D990622C-A22C-C7C2-FD31-D7B8B0B7D9AF}"/>
              </a:ext>
            </a:extLst>
          </p:cNvPr>
          <p:cNvGrpSpPr/>
          <p:nvPr/>
        </p:nvGrpSpPr>
        <p:grpSpPr>
          <a:xfrm>
            <a:off x="6505190" y="2643600"/>
            <a:ext cx="398119" cy="448143"/>
            <a:chOff x="-20930075" y="4066100"/>
            <a:chExt cx="269400" cy="303250"/>
          </a:xfrm>
          <a:solidFill>
            <a:schemeClr val="accent2">
              <a:lumMod val="60000"/>
              <a:lumOff val="40000"/>
            </a:schemeClr>
          </a:solidFill>
        </p:grpSpPr>
        <p:sp>
          <p:nvSpPr>
            <p:cNvPr id="60" name="Google Shape;9023;p146">
              <a:extLst>
                <a:ext uri="{FF2B5EF4-FFF2-40B4-BE49-F238E27FC236}">
                  <a16:creationId xmlns:a16="http://schemas.microsoft.com/office/drawing/2014/main" id="{D74696F3-0888-2E16-47CE-8FD13F4BFD79}"/>
                </a:ext>
              </a:extLst>
            </p:cNvPr>
            <p:cNvSpPr/>
            <p:nvPr/>
          </p:nvSpPr>
          <p:spPr>
            <a:xfrm>
              <a:off x="-20865475" y="4066100"/>
              <a:ext cx="141775" cy="144150"/>
            </a:xfrm>
            <a:custGeom>
              <a:avLst/>
              <a:gdLst/>
              <a:ahLst/>
              <a:cxnLst/>
              <a:rect l="l" t="t" r="r" b="b"/>
              <a:pathLst>
                <a:path w="5671" h="5766" extrusionOk="0">
                  <a:moveTo>
                    <a:pt x="2836" y="2174"/>
                  </a:moveTo>
                  <a:cubicBezTo>
                    <a:pt x="3245" y="2174"/>
                    <a:pt x="3560" y="2489"/>
                    <a:pt x="3560" y="2867"/>
                  </a:cubicBezTo>
                  <a:cubicBezTo>
                    <a:pt x="3560" y="3277"/>
                    <a:pt x="3245" y="3592"/>
                    <a:pt x="2836" y="3592"/>
                  </a:cubicBezTo>
                  <a:cubicBezTo>
                    <a:pt x="2457" y="3592"/>
                    <a:pt x="2142" y="3277"/>
                    <a:pt x="2142" y="2867"/>
                  </a:cubicBezTo>
                  <a:cubicBezTo>
                    <a:pt x="2142" y="2489"/>
                    <a:pt x="2457" y="2174"/>
                    <a:pt x="2836" y="2174"/>
                  </a:cubicBezTo>
                  <a:close/>
                  <a:moveTo>
                    <a:pt x="2836" y="0"/>
                  </a:moveTo>
                  <a:cubicBezTo>
                    <a:pt x="2457" y="0"/>
                    <a:pt x="2111" y="252"/>
                    <a:pt x="1890" y="599"/>
                  </a:cubicBezTo>
                  <a:cubicBezTo>
                    <a:pt x="1791" y="563"/>
                    <a:pt x="1685" y="545"/>
                    <a:pt x="1577" y="545"/>
                  </a:cubicBezTo>
                  <a:cubicBezTo>
                    <a:pt x="1307" y="545"/>
                    <a:pt x="1031" y="657"/>
                    <a:pt x="851" y="882"/>
                  </a:cubicBezTo>
                  <a:cubicBezTo>
                    <a:pt x="630" y="1071"/>
                    <a:pt x="536" y="1355"/>
                    <a:pt x="536" y="1607"/>
                  </a:cubicBezTo>
                  <a:cubicBezTo>
                    <a:pt x="536" y="1733"/>
                    <a:pt x="536" y="1827"/>
                    <a:pt x="567" y="1922"/>
                  </a:cubicBezTo>
                  <a:cubicBezTo>
                    <a:pt x="189" y="2142"/>
                    <a:pt x="0" y="2489"/>
                    <a:pt x="0" y="2867"/>
                  </a:cubicBezTo>
                  <a:cubicBezTo>
                    <a:pt x="0" y="3308"/>
                    <a:pt x="189" y="3655"/>
                    <a:pt x="567" y="3812"/>
                  </a:cubicBezTo>
                  <a:cubicBezTo>
                    <a:pt x="536" y="3938"/>
                    <a:pt x="536" y="4033"/>
                    <a:pt x="536" y="4127"/>
                  </a:cubicBezTo>
                  <a:cubicBezTo>
                    <a:pt x="536" y="4411"/>
                    <a:pt x="630" y="4694"/>
                    <a:pt x="851" y="4883"/>
                  </a:cubicBezTo>
                  <a:cubicBezTo>
                    <a:pt x="1036" y="5092"/>
                    <a:pt x="1325" y="5216"/>
                    <a:pt x="1603" y="5216"/>
                  </a:cubicBezTo>
                  <a:cubicBezTo>
                    <a:pt x="1702" y="5216"/>
                    <a:pt x="1799" y="5200"/>
                    <a:pt x="1890" y="5167"/>
                  </a:cubicBezTo>
                  <a:cubicBezTo>
                    <a:pt x="2111" y="5513"/>
                    <a:pt x="2457" y="5766"/>
                    <a:pt x="2836" y="5766"/>
                  </a:cubicBezTo>
                  <a:cubicBezTo>
                    <a:pt x="3245" y="5766"/>
                    <a:pt x="3592" y="5513"/>
                    <a:pt x="3781" y="5167"/>
                  </a:cubicBezTo>
                  <a:cubicBezTo>
                    <a:pt x="3889" y="5203"/>
                    <a:pt x="3999" y="5221"/>
                    <a:pt x="4109" y="5221"/>
                  </a:cubicBezTo>
                  <a:cubicBezTo>
                    <a:pt x="4382" y="5221"/>
                    <a:pt x="4649" y="5108"/>
                    <a:pt x="4852" y="4883"/>
                  </a:cubicBezTo>
                  <a:cubicBezTo>
                    <a:pt x="5041" y="4694"/>
                    <a:pt x="5167" y="4411"/>
                    <a:pt x="5167" y="4127"/>
                  </a:cubicBezTo>
                  <a:cubicBezTo>
                    <a:pt x="5167" y="4033"/>
                    <a:pt x="5167" y="3938"/>
                    <a:pt x="5135" y="3812"/>
                  </a:cubicBezTo>
                  <a:cubicBezTo>
                    <a:pt x="5482" y="3623"/>
                    <a:pt x="5671" y="3277"/>
                    <a:pt x="5671" y="2867"/>
                  </a:cubicBezTo>
                  <a:cubicBezTo>
                    <a:pt x="5671" y="2489"/>
                    <a:pt x="5450" y="2142"/>
                    <a:pt x="5135" y="1922"/>
                  </a:cubicBezTo>
                  <a:cubicBezTo>
                    <a:pt x="5167" y="1827"/>
                    <a:pt x="5167" y="1733"/>
                    <a:pt x="5167" y="1607"/>
                  </a:cubicBezTo>
                  <a:cubicBezTo>
                    <a:pt x="5167" y="1355"/>
                    <a:pt x="5041" y="1071"/>
                    <a:pt x="4852" y="882"/>
                  </a:cubicBezTo>
                  <a:cubicBezTo>
                    <a:pt x="4643" y="673"/>
                    <a:pt x="4348" y="550"/>
                    <a:pt x="4069" y="550"/>
                  </a:cubicBezTo>
                  <a:cubicBezTo>
                    <a:pt x="3969" y="550"/>
                    <a:pt x="3872" y="566"/>
                    <a:pt x="3781" y="599"/>
                  </a:cubicBezTo>
                  <a:cubicBezTo>
                    <a:pt x="3592" y="252"/>
                    <a:pt x="3245" y="0"/>
                    <a:pt x="283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9024;p146">
              <a:extLst>
                <a:ext uri="{FF2B5EF4-FFF2-40B4-BE49-F238E27FC236}">
                  <a16:creationId xmlns:a16="http://schemas.microsoft.com/office/drawing/2014/main" id="{BE7A2B7B-7E95-025D-ADE4-58D991FABDA3}"/>
                </a:ext>
              </a:extLst>
            </p:cNvPr>
            <p:cNvSpPr/>
            <p:nvPr/>
          </p:nvSpPr>
          <p:spPr>
            <a:xfrm>
              <a:off x="-20930075" y="4191325"/>
              <a:ext cx="269400" cy="178025"/>
            </a:xfrm>
            <a:custGeom>
              <a:avLst/>
              <a:gdLst/>
              <a:ahLst/>
              <a:cxnLst/>
              <a:rect l="l" t="t" r="r" b="b"/>
              <a:pathLst>
                <a:path w="10776" h="7121" extrusionOk="0">
                  <a:moveTo>
                    <a:pt x="379" y="0"/>
                  </a:moveTo>
                  <a:cubicBezTo>
                    <a:pt x="253" y="0"/>
                    <a:pt x="190" y="32"/>
                    <a:pt x="95" y="95"/>
                  </a:cubicBezTo>
                  <a:cubicBezTo>
                    <a:pt x="32" y="189"/>
                    <a:pt x="1" y="252"/>
                    <a:pt x="1" y="378"/>
                  </a:cubicBezTo>
                  <a:cubicBezTo>
                    <a:pt x="1" y="473"/>
                    <a:pt x="190" y="2710"/>
                    <a:pt x="1103" y="3655"/>
                  </a:cubicBezTo>
                  <a:cubicBezTo>
                    <a:pt x="1513" y="4096"/>
                    <a:pt x="1922" y="4285"/>
                    <a:pt x="2364" y="4285"/>
                  </a:cubicBezTo>
                  <a:cubicBezTo>
                    <a:pt x="2679" y="4285"/>
                    <a:pt x="3025" y="4159"/>
                    <a:pt x="3340" y="3907"/>
                  </a:cubicBezTo>
                  <a:lnTo>
                    <a:pt x="4947" y="5514"/>
                  </a:lnTo>
                  <a:lnTo>
                    <a:pt x="4947" y="6427"/>
                  </a:lnTo>
                  <a:lnTo>
                    <a:pt x="2458" y="6427"/>
                  </a:lnTo>
                  <a:cubicBezTo>
                    <a:pt x="2269" y="6427"/>
                    <a:pt x="2112" y="6585"/>
                    <a:pt x="2112" y="6774"/>
                  </a:cubicBezTo>
                  <a:cubicBezTo>
                    <a:pt x="2112" y="6963"/>
                    <a:pt x="2269" y="7120"/>
                    <a:pt x="2458" y="7120"/>
                  </a:cubicBezTo>
                  <a:lnTo>
                    <a:pt x="8192" y="7120"/>
                  </a:lnTo>
                  <a:cubicBezTo>
                    <a:pt x="8381" y="7120"/>
                    <a:pt x="8539" y="6963"/>
                    <a:pt x="8539" y="6774"/>
                  </a:cubicBezTo>
                  <a:cubicBezTo>
                    <a:pt x="8539" y="6585"/>
                    <a:pt x="8381" y="6427"/>
                    <a:pt x="8192" y="6427"/>
                  </a:cubicBezTo>
                  <a:lnTo>
                    <a:pt x="5672" y="6427"/>
                  </a:lnTo>
                  <a:lnTo>
                    <a:pt x="5672" y="6207"/>
                  </a:lnTo>
                  <a:lnTo>
                    <a:pt x="7278" y="4600"/>
                  </a:lnTo>
                  <a:cubicBezTo>
                    <a:pt x="7751" y="4884"/>
                    <a:pt x="8066" y="5010"/>
                    <a:pt x="8413" y="5010"/>
                  </a:cubicBezTo>
                  <a:cubicBezTo>
                    <a:pt x="8854" y="5010"/>
                    <a:pt x="9232" y="4789"/>
                    <a:pt x="9673" y="4380"/>
                  </a:cubicBezTo>
                  <a:cubicBezTo>
                    <a:pt x="10586" y="3466"/>
                    <a:pt x="10775" y="1229"/>
                    <a:pt x="10775" y="1103"/>
                  </a:cubicBezTo>
                  <a:cubicBezTo>
                    <a:pt x="10775" y="977"/>
                    <a:pt x="10744" y="883"/>
                    <a:pt x="10649" y="820"/>
                  </a:cubicBezTo>
                  <a:cubicBezTo>
                    <a:pt x="10586" y="757"/>
                    <a:pt x="10492" y="693"/>
                    <a:pt x="10397" y="693"/>
                  </a:cubicBezTo>
                  <a:cubicBezTo>
                    <a:pt x="10303" y="693"/>
                    <a:pt x="8066" y="883"/>
                    <a:pt x="7121" y="1796"/>
                  </a:cubicBezTo>
                  <a:cubicBezTo>
                    <a:pt x="6365" y="2552"/>
                    <a:pt x="6302" y="3308"/>
                    <a:pt x="6869" y="4033"/>
                  </a:cubicBezTo>
                  <a:lnTo>
                    <a:pt x="5735" y="5167"/>
                  </a:lnTo>
                  <a:lnTo>
                    <a:pt x="5735" y="1324"/>
                  </a:lnTo>
                  <a:cubicBezTo>
                    <a:pt x="5609" y="1387"/>
                    <a:pt x="5514" y="1387"/>
                    <a:pt x="5388" y="1387"/>
                  </a:cubicBezTo>
                  <a:cubicBezTo>
                    <a:pt x="5262" y="1387"/>
                    <a:pt x="5136" y="1387"/>
                    <a:pt x="5041" y="1324"/>
                  </a:cubicBezTo>
                  <a:lnTo>
                    <a:pt x="5041" y="4443"/>
                  </a:lnTo>
                  <a:lnTo>
                    <a:pt x="3876" y="3340"/>
                  </a:lnTo>
                  <a:cubicBezTo>
                    <a:pt x="4474" y="2584"/>
                    <a:pt x="4411" y="1828"/>
                    <a:pt x="3655" y="1103"/>
                  </a:cubicBezTo>
                  <a:cubicBezTo>
                    <a:pt x="2742" y="189"/>
                    <a:pt x="505" y="0"/>
                    <a:pt x="3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2" name="Google Shape;9137;p146">
            <a:extLst>
              <a:ext uri="{FF2B5EF4-FFF2-40B4-BE49-F238E27FC236}">
                <a16:creationId xmlns:a16="http://schemas.microsoft.com/office/drawing/2014/main" id="{EFA09551-84D9-F37D-83C4-B4F4E4FAF52D}"/>
              </a:ext>
            </a:extLst>
          </p:cNvPr>
          <p:cNvGrpSpPr/>
          <p:nvPr/>
        </p:nvGrpSpPr>
        <p:grpSpPr>
          <a:xfrm>
            <a:off x="6444038" y="2041450"/>
            <a:ext cx="457453" cy="449325"/>
            <a:chOff x="-20199150" y="3317850"/>
            <a:chExt cx="309550" cy="304050"/>
          </a:xfrm>
          <a:solidFill>
            <a:schemeClr val="accent6">
              <a:lumMod val="60000"/>
              <a:lumOff val="40000"/>
            </a:schemeClr>
          </a:solidFill>
        </p:grpSpPr>
        <p:sp>
          <p:nvSpPr>
            <p:cNvPr id="63" name="Google Shape;9138;p146">
              <a:extLst>
                <a:ext uri="{FF2B5EF4-FFF2-40B4-BE49-F238E27FC236}">
                  <a16:creationId xmlns:a16="http://schemas.microsoft.com/office/drawing/2014/main" id="{D9C6CFD2-FE7E-3534-AF27-5F8DC69B48C4}"/>
                </a:ext>
              </a:extLst>
            </p:cNvPr>
            <p:cNvSpPr/>
            <p:nvPr/>
          </p:nvSpPr>
          <p:spPr>
            <a:xfrm>
              <a:off x="-20161350" y="3507675"/>
              <a:ext cx="68550" cy="43325"/>
            </a:xfrm>
            <a:custGeom>
              <a:avLst/>
              <a:gdLst/>
              <a:ahLst/>
              <a:cxnLst/>
              <a:rect l="l" t="t" r="r" b="b"/>
              <a:pathLst>
                <a:path w="2742" h="1733" extrusionOk="0">
                  <a:moveTo>
                    <a:pt x="2647" y="0"/>
                  </a:moveTo>
                  <a:cubicBezTo>
                    <a:pt x="2174" y="158"/>
                    <a:pt x="1639" y="284"/>
                    <a:pt x="1072" y="284"/>
                  </a:cubicBezTo>
                  <a:cubicBezTo>
                    <a:pt x="788" y="284"/>
                    <a:pt x="505" y="252"/>
                    <a:pt x="221" y="221"/>
                  </a:cubicBezTo>
                  <a:cubicBezTo>
                    <a:pt x="64" y="567"/>
                    <a:pt x="1" y="945"/>
                    <a:pt x="1" y="1386"/>
                  </a:cubicBezTo>
                  <a:cubicBezTo>
                    <a:pt x="1" y="1575"/>
                    <a:pt x="158" y="1733"/>
                    <a:pt x="347" y="1733"/>
                  </a:cubicBezTo>
                  <a:cubicBezTo>
                    <a:pt x="1292" y="1733"/>
                    <a:pt x="2174" y="1292"/>
                    <a:pt x="2741" y="630"/>
                  </a:cubicBezTo>
                  <a:cubicBezTo>
                    <a:pt x="2710" y="441"/>
                    <a:pt x="2678" y="189"/>
                    <a:pt x="26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8" name="Google Shape;9139;p146">
              <a:extLst>
                <a:ext uri="{FF2B5EF4-FFF2-40B4-BE49-F238E27FC236}">
                  <a16:creationId xmlns:a16="http://schemas.microsoft.com/office/drawing/2014/main" id="{958D138E-F6F9-D437-5FE4-5123FA161792}"/>
                </a:ext>
              </a:extLst>
            </p:cNvPr>
            <p:cNvSpPr/>
            <p:nvPr/>
          </p:nvSpPr>
          <p:spPr>
            <a:xfrm>
              <a:off x="-20161350" y="3389525"/>
              <a:ext cx="68550" cy="43350"/>
            </a:xfrm>
            <a:custGeom>
              <a:avLst/>
              <a:gdLst/>
              <a:ahLst/>
              <a:cxnLst/>
              <a:rect l="l" t="t" r="r" b="b"/>
              <a:pathLst>
                <a:path w="2742" h="1734" extrusionOk="0">
                  <a:moveTo>
                    <a:pt x="347" y="1"/>
                  </a:moveTo>
                  <a:cubicBezTo>
                    <a:pt x="158" y="1"/>
                    <a:pt x="1" y="158"/>
                    <a:pt x="1" y="379"/>
                  </a:cubicBezTo>
                  <a:cubicBezTo>
                    <a:pt x="1" y="757"/>
                    <a:pt x="64" y="1166"/>
                    <a:pt x="221" y="1544"/>
                  </a:cubicBezTo>
                  <a:cubicBezTo>
                    <a:pt x="505" y="1513"/>
                    <a:pt x="788" y="1481"/>
                    <a:pt x="1072" y="1481"/>
                  </a:cubicBezTo>
                  <a:cubicBezTo>
                    <a:pt x="1639" y="1481"/>
                    <a:pt x="2174" y="1576"/>
                    <a:pt x="2647" y="1733"/>
                  </a:cubicBezTo>
                  <a:cubicBezTo>
                    <a:pt x="2678" y="1544"/>
                    <a:pt x="2741" y="1292"/>
                    <a:pt x="2741" y="1103"/>
                  </a:cubicBezTo>
                  <a:cubicBezTo>
                    <a:pt x="2174" y="442"/>
                    <a:pt x="1292"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9" name="Google Shape;9140;p146">
              <a:extLst>
                <a:ext uri="{FF2B5EF4-FFF2-40B4-BE49-F238E27FC236}">
                  <a16:creationId xmlns:a16="http://schemas.microsoft.com/office/drawing/2014/main" id="{BE3B6917-9B3C-EA0E-AA5C-D55780709D9E}"/>
                </a:ext>
              </a:extLst>
            </p:cNvPr>
            <p:cNvSpPr/>
            <p:nvPr/>
          </p:nvSpPr>
          <p:spPr>
            <a:xfrm>
              <a:off x="-20199150" y="3443075"/>
              <a:ext cx="97675" cy="53225"/>
            </a:xfrm>
            <a:custGeom>
              <a:avLst/>
              <a:gdLst/>
              <a:ahLst/>
              <a:cxnLst/>
              <a:rect l="l" t="t" r="r" b="b"/>
              <a:pathLst>
                <a:path w="3907" h="2129" extrusionOk="0">
                  <a:moveTo>
                    <a:pt x="2584" y="1"/>
                  </a:moveTo>
                  <a:cubicBezTo>
                    <a:pt x="1260" y="1"/>
                    <a:pt x="252" y="725"/>
                    <a:pt x="221" y="788"/>
                  </a:cubicBezTo>
                  <a:cubicBezTo>
                    <a:pt x="0" y="914"/>
                    <a:pt x="0" y="1230"/>
                    <a:pt x="221" y="1324"/>
                  </a:cubicBezTo>
                  <a:cubicBezTo>
                    <a:pt x="252" y="1387"/>
                    <a:pt x="1260" y="2112"/>
                    <a:pt x="2584" y="2112"/>
                  </a:cubicBezTo>
                  <a:cubicBezTo>
                    <a:pt x="2669" y="2123"/>
                    <a:pt x="2754" y="2128"/>
                    <a:pt x="2839" y="2128"/>
                  </a:cubicBezTo>
                  <a:cubicBezTo>
                    <a:pt x="3224" y="2128"/>
                    <a:pt x="3597" y="2020"/>
                    <a:pt x="3907" y="1891"/>
                  </a:cubicBezTo>
                  <a:cubicBezTo>
                    <a:pt x="3844" y="1639"/>
                    <a:pt x="3718" y="1450"/>
                    <a:pt x="3592" y="1230"/>
                  </a:cubicBezTo>
                  <a:cubicBezTo>
                    <a:pt x="3560" y="1103"/>
                    <a:pt x="3560" y="1009"/>
                    <a:pt x="3592" y="914"/>
                  </a:cubicBezTo>
                  <a:cubicBezTo>
                    <a:pt x="3718" y="662"/>
                    <a:pt x="3844" y="473"/>
                    <a:pt x="3907" y="221"/>
                  </a:cubicBezTo>
                  <a:cubicBezTo>
                    <a:pt x="3529" y="127"/>
                    <a:pt x="3088" y="1"/>
                    <a:pt x="258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0" name="Google Shape;9141;p146">
              <a:extLst>
                <a:ext uri="{FF2B5EF4-FFF2-40B4-BE49-F238E27FC236}">
                  <a16:creationId xmlns:a16="http://schemas.microsoft.com/office/drawing/2014/main" id="{E93CB812-2145-6D60-4304-322D63B9785D}"/>
                </a:ext>
              </a:extLst>
            </p:cNvPr>
            <p:cNvSpPr/>
            <p:nvPr/>
          </p:nvSpPr>
          <p:spPr>
            <a:xfrm>
              <a:off x="-20091250" y="3479325"/>
              <a:ext cx="92175" cy="142575"/>
            </a:xfrm>
            <a:custGeom>
              <a:avLst/>
              <a:gdLst/>
              <a:ahLst/>
              <a:cxnLst/>
              <a:rect l="l" t="t" r="r" b="b"/>
              <a:pathLst>
                <a:path w="3687" h="5703" extrusionOk="0">
                  <a:moveTo>
                    <a:pt x="190" y="0"/>
                  </a:moveTo>
                  <a:cubicBezTo>
                    <a:pt x="946" y="1638"/>
                    <a:pt x="883" y="3592"/>
                    <a:pt x="95" y="5198"/>
                  </a:cubicBezTo>
                  <a:cubicBezTo>
                    <a:pt x="0" y="5450"/>
                    <a:pt x="158" y="5702"/>
                    <a:pt x="442" y="5702"/>
                  </a:cubicBezTo>
                  <a:lnTo>
                    <a:pt x="3245" y="5702"/>
                  </a:lnTo>
                  <a:cubicBezTo>
                    <a:pt x="3529" y="5702"/>
                    <a:pt x="3687" y="5450"/>
                    <a:pt x="3592" y="5198"/>
                  </a:cubicBezTo>
                  <a:cubicBezTo>
                    <a:pt x="2741" y="3592"/>
                    <a:pt x="2741" y="1607"/>
                    <a:pt x="349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1" name="Google Shape;9142;p146">
              <a:extLst>
                <a:ext uri="{FF2B5EF4-FFF2-40B4-BE49-F238E27FC236}">
                  <a16:creationId xmlns:a16="http://schemas.microsoft.com/office/drawing/2014/main" id="{D8056797-0A8B-3F7A-9F33-46E541E3FC3A}"/>
                </a:ext>
              </a:extLst>
            </p:cNvPr>
            <p:cNvSpPr/>
            <p:nvPr/>
          </p:nvSpPr>
          <p:spPr>
            <a:xfrm>
              <a:off x="-20090475" y="3317850"/>
              <a:ext cx="91400" cy="142575"/>
            </a:xfrm>
            <a:custGeom>
              <a:avLst/>
              <a:gdLst/>
              <a:ahLst/>
              <a:cxnLst/>
              <a:rect l="l" t="t" r="r" b="b"/>
              <a:pathLst>
                <a:path w="3656" h="5703" extrusionOk="0">
                  <a:moveTo>
                    <a:pt x="411" y="1"/>
                  </a:moveTo>
                  <a:cubicBezTo>
                    <a:pt x="285" y="1"/>
                    <a:pt x="159" y="95"/>
                    <a:pt x="64" y="158"/>
                  </a:cubicBezTo>
                  <a:cubicBezTo>
                    <a:pt x="1" y="284"/>
                    <a:pt x="1" y="410"/>
                    <a:pt x="64" y="505"/>
                  </a:cubicBezTo>
                  <a:cubicBezTo>
                    <a:pt x="915" y="2143"/>
                    <a:pt x="915" y="4096"/>
                    <a:pt x="159" y="5703"/>
                  </a:cubicBezTo>
                  <a:lnTo>
                    <a:pt x="3467" y="5703"/>
                  </a:lnTo>
                  <a:cubicBezTo>
                    <a:pt x="2710" y="4065"/>
                    <a:pt x="2710" y="2143"/>
                    <a:pt x="3530" y="505"/>
                  </a:cubicBezTo>
                  <a:cubicBezTo>
                    <a:pt x="3656" y="284"/>
                    <a:pt x="3467" y="1"/>
                    <a:pt x="32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 name="Google Shape;9143;p146">
              <a:extLst>
                <a:ext uri="{FF2B5EF4-FFF2-40B4-BE49-F238E27FC236}">
                  <a16:creationId xmlns:a16="http://schemas.microsoft.com/office/drawing/2014/main" id="{9979E54A-55E1-AC7B-BB93-419756B78C3A}"/>
                </a:ext>
              </a:extLst>
            </p:cNvPr>
            <p:cNvSpPr/>
            <p:nvPr/>
          </p:nvSpPr>
          <p:spPr>
            <a:xfrm>
              <a:off x="-19984925" y="3389525"/>
              <a:ext cx="94550" cy="107925"/>
            </a:xfrm>
            <a:custGeom>
              <a:avLst/>
              <a:gdLst/>
              <a:ahLst/>
              <a:cxnLst/>
              <a:rect l="l" t="t" r="r" b="b"/>
              <a:pathLst>
                <a:path w="3782" h="4317" extrusionOk="0">
                  <a:moveTo>
                    <a:pt x="473" y="1"/>
                  </a:moveTo>
                  <a:cubicBezTo>
                    <a:pt x="190" y="1"/>
                    <a:pt x="1" y="316"/>
                    <a:pt x="158" y="568"/>
                  </a:cubicBezTo>
                  <a:cubicBezTo>
                    <a:pt x="946" y="1702"/>
                    <a:pt x="946" y="3119"/>
                    <a:pt x="253" y="4317"/>
                  </a:cubicBezTo>
                  <a:lnTo>
                    <a:pt x="3529" y="4317"/>
                  </a:lnTo>
                  <a:cubicBezTo>
                    <a:pt x="2868" y="3151"/>
                    <a:pt x="2868" y="1702"/>
                    <a:pt x="3624" y="568"/>
                  </a:cubicBezTo>
                  <a:cubicBezTo>
                    <a:pt x="3781" y="316"/>
                    <a:pt x="3624" y="1"/>
                    <a:pt x="33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 name="Google Shape;9144;p146">
              <a:extLst>
                <a:ext uri="{FF2B5EF4-FFF2-40B4-BE49-F238E27FC236}">
                  <a16:creationId xmlns:a16="http://schemas.microsoft.com/office/drawing/2014/main" id="{18DB32BC-FA33-FA46-6569-FC601739DF43}"/>
                </a:ext>
              </a:extLst>
            </p:cNvPr>
            <p:cNvSpPr/>
            <p:nvPr/>
          </p:nvSpPr>
          <p:spPr>
            <a:xfrm>
              <a:off x="-19984125" y="3514750"/>
              <a:ext cx="94525" cy="107150"/>
            </a:xfrm>
            <a:custGeom>
              <a:avLst/>
              <a:gdLst/>
              <a:ahLst/>
              <a:cxnLst/>
              <a:rect l="l" t="t" r="r" b="b"/>
              <a:pathLst>
                <a:path w="3781" h="4286" extrusionOk="0">
                  <a:moveTo>
                    <a:pt x="221" y="1"/>
                  </a:moveTo>
                  <a:cubicBezTo>
                    <a:pt x="914" y="1135"/>
                    <a:pt x="914" y="2647"/>
                    <a:pt x="158" y="3750"/>
                  </a:cubicBezTo>
                  <a:cubicBezTo>
                    <a:pt x="0" y="3970"/>
                    <a:pt x="158" y="4285"/>
                    <a:pt x="473" y="4285"/>
                  </a:cubicBezTo>
                  <a:lnTo>
                    <a:pt x="3308" y="4285"/>
                  </a:lnTo>
                  <a:cubicBezTo>
                    <a:pt x="3592" y="4285"/>
                    <a:pt x="3781" y="3970"/>
                    <a:pt x="3623" y="3750"/>
                  </a:cubicBezTo>
                  <a:cubicBezTo>
                    <a:pt x="2836" y="2584"/>
                    <a:pt x="2804" y="1135"/>
                    <a:pt x="34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54" name="Google Shape;495;p61">
            <a:extLst>
              <a:ext uri="{FF2B5EF4-FFF2-40B4-BE49-F238E27FC236}">
                <a16:creationId xmlns:a16="http://schemas.microsoft.com/office/drawing/2014/main" id="{46B859F8-6BF3-0FEF-2968-62E8BB19A4D8}"/>
              </a:ext>
            </a:extLst>
          </p:cNvPr>
          <p:cNvSpPr txBox="1">
            <a:spLocks/>
          </p:cNvSpPr>
          <p:nvPr/>
        </p:nvSpPr>
        <p:spPr>
          <a:xfrm>
            <a:off x="6855243" y="2108156"/>
            <a:ext cx="1602602" cy="357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ca-ES" b="0" i="0" dirty="0">
                <a:solidFill>
                  <a:srgbClr val="000000"/>
                </a:solidFill>
                <a:effectLst/>
                <a:latin typeface="Open Sans" panose="020B0606030504020204" pitchFamily="34" charset="0"/>
              </a:rPr>
              <a:t>Jardí Interior</a:t>
            </a:r>
            <a:endParaRPr lang="ca-ES" dirty="0"/>
          </a:p>
        </p:txBody>
      </p:sp>
      <p:sp>
        <p:nvSpPr>
          <p:cNvPr id="455" name="Google Shape;495;p61">
            <a:extLst>
              <a:ext uri="{FF2B5EF4-FFF2-40B4-BE49-F238E27FC236}">
                <a16:creationId xmlns:a16="http://schemas.microsoft.com/office/drawing/2014/main" id="{D824EE0A-6AF1-F63F-91AF-8AF4C794650E}"/>
              </a:ext>
            </a:extLst>
          </p:cNvPr>
          <p:cNvSpPr txBox="1">
            <a:spLocks/>
          </p:cNvSpPr>
          <p:nvPr/>
        </p:nvSpPr>
        <p:spPr>
          <a:xfrm>
            <a:off x="6900346" y="2717496"/>
            <a:ext cx="1602602" cy="357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ca-ES" b="0" i="0" dirty="0">
                <a:solidFill>
                  <a:srgbClr val="000000"/>
                </a:solidFill>
                <a:effectLst/>
                <a:latin typeface="Open Sans" panose="020B0606030504020204" pitchFamily="34" charset="0"/>
              </a:rPr>
              <a:t>Jardí Exterior</a:t>
            </a:r>
            <a:endParaRPr lang="ca-ES" dirty="0"/>
          </a:p>
        </p:txBody>
      </p:sp>
      <p:sp>
        <p:nvSpPr>
          <p:cNvPr id="456" name="Google Shape;495;p61">
            <a:extLst>
              <a:ext uri="{FF2B5EF4-FFF2-40B4-BE49-F238E27FC236}">
                <a16:creationId xmlns:a16="http://schemas.microsoft.com/office/drawing/2014/main" id="{F2FF5DCD-BF4E-8107-053E-0F8875D3AF99}"/>
              </a:ext>
            </a:extLst>
          </p:cNvPr>
          <p:cNvSpPr txBox="1">
            <a:spLocks/>
          </p:cNvSpPr>
          <p:nvPr/>
        </p:nvSpPr>
        <p:spPr>
          <a:xfrm>
            <a:off x="6583312" y="3436206"/>
            <a:ext cx="1602602" cy="357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ca-ES" b="0" i="0" dirty="0">
                <a:solidFill>
                  <a:srgbClr val="000000"/>
                </a:solidFill>
                <a:effectLst/>
                <a:latin typeface="Open Sans" panose="020B0606030504020204" pitchFamily="34" charset="0"/>
              </a:rPr>
              <a:t>Hort</a:t>
            </a:r>
            <a:endParaRPr lang="ca-ES" dirty="0"/>
          </a:p>
        </p:txBody>
      </p:sp>
      <p:sp>
        <p:nvSpPr>
          <p:cNvPr id="457" name="Google Shape;495;p61">
            <a:extLst>
              <a:ext uri="{FF2B5EF4-FFF2-40B4-BE49-F238E27FC236}">
                <a16:creationId xmlns:a16="http://schemas.microsoft.com/office/drawing/2014/main" id="{0FF53255-3A17-1E7D-4365-361C80AB299F}"/>
              </a:ext>
            </a:extLst>
          </p:cNvPr>
          <p:cNvSpPr txBox="1">
            <a:spLocks/>
          </p:cNvSpPr>
          <p:nvPr/>
        </p:nvSpPr>
        <p:spPr>
          <a:xfrm>
            <a:off x="7019446" y="4041921"/>
            <a:ext cx="1602602" cy="357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ca-ES" dirty="0">
                <a:latin typeface="Open Sans" panose="020B0606030504020204" pitchFamily="34" charset="0"/>
              </a:rPr>
              <a:t>Arbres Fruiters</a:t>
            </a:r>
            <a:endParaRPr lang="ca-ES" dirty="0"/>
          </a:p>
        </p:txBody>
      </p:sp>
      <mc:AlternateContent xmlns:mc="http://schemas.openxmlformats.org/markup-compatibility/2006" xmlns:a14="http://schemas.microsoft.com/office/drawing/2010/main">
        <mc:Choice Requires="a14">
          <p:sp>
            <p:nvSpPr>
              <p:cNvPr id="459" name="TextBox 458">
                <a:extLst>
                  <a:ext uri="{FF2B5EF4-FFF2-40B4-BE49-F238E27FC236}">
                    <a16:creationId xmlns:a16="http://schemas.microsoft.com/office/drawing/2014/main" id="{05D6D645-FC42-F3C7-C383-7151006F82E9}"/>
                  </a:ext>
                </a:extLst>
              </p:cNvPr>
              <p:cNvSpPr txBox="1"/>
              <p:nvPr/>
            </p:nvSpPr>
            <p:spPr>
              <a:xfrm>
                <a:off x="2721881" y="2799619"/>
                <a:ext cx="76691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00"/>
                          </a:solidFill>
                          <a:effectLst/>
                          <a:latin typeface="Cambria Math" panose="02040503050406030204" pitchFamily="18" charset="0"/>
                          <a:ea typeface="Cambria Math" panose="02040503050406030204" pitchFamily="18" charset="0"/>
                          <a:cs typeface="Open Sans" panose="020B0606030504020204" pitchFamily="34" charset="0"/>
                        </a:rPr>
                        <m:t>180 </m:t>
                      </m:r>
                      <m:sSup>
                        <m:sSupPr>
                          <m:ctrlPr>
                            <a:rPr lang="en-US" b="0" i="1" smtClean="0">
                              <a:solidFill>
                                <a:srgbClr val="000000"/>
                              </a:solidFill>
                              <a:effectLst/>
                              <a:latin typeface="Cambria Math" panose="02040503050406030204" pitchFamily="18" charset="0"/>
                              <a:ea typeface="Cambria Math" panose="02040503050406030204" pitchFamily="18" charset="0"/>
                              <a:cs typeface="Open Sans" panose="020B0606030504020204" pitchFamily="34" charset="0"/>
                            </a:rPr>
                          </m:ctrlPr>
                        </m:sSupPr>
                        <m:e>
                          <m:r>
                            <a:rPr lang="en-US" b="0" i="1" smtClean="0">
                              <a:solidFill>
                                <a:srgbClr val="000000"/>
                              </a:solidFill>
                              <a:effectLst/>
                              <a:latin typeface="Cambria Math" panose="02040503050406030204" pitchFamily="18" charset="0"/>
                              <a:ea typeface="Cambria Math" panose="02040503050406030204" pitchFamily="18" charset="0"/>
                              <a:cs typeface="Open Sans" panose="020B0606030504020204" pitchFamily="34" charset="0"/>
                            </a:rPr>
                            <m:t>𝑚</m:t>
                          </m:r>
                        </m:e>
                        <m:sup>
                          <m:r>
                            <a:rPr lang="en-US" b="0" i="1" smtClean="0">
                              <a:solidFill>
                                <a:srgbClr val="000000"/>
                              </a:solidFill>
                              <a:effectLst/>
                              <a:latin typeface="Cambria Math" panose="02040503050406030204" pitchFamily="18" charset="0"/>
                              <a:ea typeface="Cambria Math" panose="02040503050406030204" pitchFamily="18" charset="0"/>
                              <a:cs typeface="Open Sans" panose="020B0606030504020204" pitchFamily="34" charset="0"/>
                            </a:rPr>
                            <m:t>3</m:t>
                          </m:r>
                        </m:sup>
                      </m:sSup>
                      <m:r>
                        <a:rPr lang="en-US" b="0" i="1" smtClean="0">
                          <a:solidFill>
                            <a:srgbClr val="000000"/>
                          </a:solidFill>
                          <a:effectLst/>
                          <a:latin typeface="Cambria Math" panose="02040503050406030204" pitchFamily="18" charset="0"/>
                          <a:ea typeface="Cambria Math" panose="02040503050406030204" pitchFamily="18" charset="0"/>
                          <a:cs typeface="Open Sans" panose="020B0606030504020204" pitchFamily="34" charset="0"/>
                        </a:rPr>
                        <m:t> </m:t>
                      </m:r>
                    </m:oMath>
                  </m:oMathPara>
                </a14:m>
                <a:endParaRPr lang="en-US" dirty="0"/>
              </a:p>
            </p:txBody>
          </p:sp>
        </mc:Choice>
        <mc:Fallback xmlns="">
          <p:sp>
            <p:nvSpPr>
              <p:cNvPr id="459" name="TextBox 458">
                <a:extLst>
                  <a:ext uri="{FF2B5EF4-FFF2-40B4-BE49-F238E27FC236}">
                    <a16:creationId xmlns:a16="http://schemas.microsoft.com/office/drawing/2014/main" id="{05D6D645-FC42-F3C7-C383-7151006F82E9}"/>
                  </a:ext>
                </a:extLst>
              </p:cNvPr>
              <p:cNvSpPr txBox="1">
                <a:spLocks noRot="1" noChangeAspect="1" noMove="1" noResize="1" noEditPoints="1" noAdjustHandles="1" noChangeArrowheads="1" noChangeShapeType="1" noTextEdit="1"/>
              </p:cNvSpPr>
              <p:nvPr/>
            </p:nvSpPr>
            <p:spPr>
              <a:xfrm>
                <a:off x="2721881" y="2799619"/>
                <a:ext cx="766917"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0" name="TextBox 459">
                <a:extLst>
                  <a:ext uri="{FF2B5EF4-FFF2-40B4-BE49-F238E27FC236}">
                    <a16:creationId xmlns:a16="http://schemas.microsoft.com/office/drawing/2014/main" id="{7B0BB892-4434-71A4-C181-ED84EF2921DB}"/>
                  </a:ext>
                </a:extLst>
              </p:cNvPr>
              <p:cNvSpPr txBox="1"/>
              <p:nvPr/>
            </p:nvSpPr>
            <p:spPr>
              <a:xfrm rot="16200000">
                <a:off x="223101" y="2341469"/>
                <a:ext cx="1135344" cy="307777"/>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12.315</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r>
                        <a:rPr lang="en-US" b="0" i="1" smtClean="0">
                          <a:latin typeface="Cambria Math" panose="02040503050406030204" pitchFamily="18" charset="0"/>
                        </a:rPr>
                        <m:t> </m:t>
                      </m:r>
                    </m:oMath>
                  </m:oMathPara>
                </a14:m>
                <a:endParaRPr lang="ca-ES" dirty="0"/>
              </a:p>
            </p:txBody>
          </p:sp>
        </mc:Choice>
        <mc:Fallback xmlns="">
          <p:sp>
            <p:nvSpPr>
              <p:cNvPr id="460" name="TextBox 459">
                <a:extLst>
                  <a:ext uri="{FF2B5EF4-FFF2-40B4-BE49-F238E27FC236}">
                    <a16:creationId xmlns:a16="http://schemas.microsoft.com/office/drawing/2014/main" id="{7B0BB892-4434-71A4-C181-ED84EF2921DB}"/>
                  </a:ext>
                </a:extLst>
              </p:cNvPr>
              <p:cNvSpPr txBox="1">
                <a:spLocks noRot="1" noChangeAspect="1" noMove="1" noResize="1" noEditPoints="1" noAdjustHandles="1" noChangeArrowheads="1" noChangeShapeType="1" noTextEdit="1"/>
              </p:cNvSpPr>
              <p:nvPr/>
            </p:nvSpPr>
            <p:spPr>
              <a:xfrm rot="16200000">
                <a:off x="223101" y="2341469"/>
                <a:ext cx="1135344" cy="307777"/>
              </a:xfrm>
              <a:prstGeom prst="rect">
                <a:avLst/>
              </a:prstGeom>
              <a:blipFill>
                <a:blip r:embed="rId4"/>
                <a:stretch>
                  <a:fillRect/>
                </a:stretch>
              </a:blipFill>
            </p:spPr>
            <p:txBody>
              <a:bodyPr/>
              <a:lstStyle/>
              <a:p>
                <a:r>
                  <a:rPr lang="en-US">
                    <a:noFill/>
                  </a:rPr>
                  <a:t> </a:t>
                </a:r>
              </a:p>
            </p:txBody>
          </p:sp>
        </mc:Fallback>
      </mc:AlternateContent>
      <p:grpSp>
        <p:nvGrpSpPr>
          <p:cNvPr id="461" name="Google Shape;9208;p146">
            <a:extLst>
              <a:ext uri="{FF2B5EF4-FFF2-40B4-BE49-F238E27FC236}">
                <a16:creationId xmlns:a16="http://schemas.microsoft.com/office/drawing/2014/main" id="{D2311178-3640-73D4-462E-1CAEFD476860}"/>
              </a:ext>
            </a:extLst>
          </p:cNvPr>
          <p:cNvGrpSpPr/>
          <p:nvPr/>
        </p:nvGrpSpPr>
        <p:grpSpPr>
          <a:xfrm>
            <a:off x="944662" y="4294026"/>
            <a:ext cx="486566" cy="414708"/>
            <a:chOff x="-19835275" y="3330250"/>
            <a:chExt cx="329250" cy="280625"/>
          </a:xfrm>
          <a:solidFill>
            <a:schemeClr val="tx1"/>
          </a:solidFill>
        </p:grpSpPr>
        <p:sp>
          <p:nvSpPr>
            <p:cNvPr id="462" name="Google Shape;9209;p146">
              <a:extLst>
                <a:ext uri="{FF2B5EF4-FFF2-40B4-BE49-F238E27FC236}">
                  <a16:creationId xmlns:a16="http://schemas.microsoft.com/office/drawing/2014/main" id="{9C6EBF65-5214-532F-81E3-EFAFEA2F2860}"/>
                </a:ext>
              </a:extLst>
            </p:cNvPr>
            <p:cNvSpPr/>
            <p:nvPr/>
          </p:nvSpPr>
          <p:spPr>
            <a:xfrm>
              <a:off x="-19768325" y="3361750"/>
              <a:ext cx="197725" cy="249125"/>
            </a:xfrm>
            <a:custGeom>
              <a:avLst/>
              <a:gdLst/>
              <a:ahLst/>
              <a:cxnLst/>
              <a:rect l="l" t="t" r="r" b="b"/>
              <a:pathLst>
                <a:path w="7909" h="9965" extrusionOk="0">
                  <a:moveTo>
                    <a:pt x="3927" y="1"/>
                  </a:moveTo>
                  <a:cubicBezTo>
                    <a:pt x="3797" y="1"/>
                    <a:pt x="3671" y="56"/>
                    <a:pt x="3624" y="166"/>
                  </a:cubicBezTo>
                  <a:lnTo>
                    <a:pt x="1103" y="5302"/>
                  </a:lnTo>
                  <a:cubicBezTo>
                    <a:pt x="1" y="7412"/>
                    <a:pt x="1607" y="9964"/>
                    <a:pt x="3970" y="9964"/>
                  </a:cubicBezTo>
                  <a:cubicBezTo>
                    <a:pt x="6333" y="9964"/>
                    <a:pt x="7908" y="7412"/>
                    <a:pt x="6837" y="5302"/>
                  </a:cubicBezTo>
                  <a:lnTo>
                    <a:pt x="4254" y="166"/>
                  </a:lnTo>
                  <a:cubicBezTo>
                    <a:pt x="4191" y="56"/>
                    <a:pt x="4057" y="1"/>
                    <a:pt x="392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3" name="Google Shape;9210;p146">
              <a:extLst>
                <a:ext uri="{FF2B5EF4-FFF2-40B4-BE49-F238E27FC236}">
                  <a16:creationId xmlns:a16="http://schemas.microsoft.com/office/drawing/2014/main" id="{B5148991-0C10-8152-B793-A208F787FCFA}"/>
                </a:ext>
              </a:extLst>
            </p:cNvPr>
            <p:cNvSpPr/>
            <p:nvPr/>
          </p:nvSpPr>
          <p:spPr>
            <a:xfrm>
              <a:off x="-19622625" y="3330250"/>
              <a:ext cx="116600" cy="189250"/>
            </a:xfrm>
            <a:custGeom>
              <a:avLst/>
              <a:gdLst/>
              <a:ahLst/>
              <a:cxnLst/>
              <a:rect l="l" t="t" r="r" b="b"/>
              <a:pathLst>
                <a:path w="4664" h="7570" extrusionOk="0">
                  <a:moveTo>
                    <a:pt x="1683" y="1"/>
                  </a:moveTo>
                  <a:cubicBezTo>
                    <a:pt x="1553" y="1"/>
                    <a:pt x="1419" y="56"/>
                    <a:pt x="1356" y="166"/>
                  </a:cubicBezTo>
                  <a:lnTo>
                    <a:pt x="1" y="2939"/>
                  </a:lnTo>
                  <a:lnTo>
                    <a:pt x="1608" y="6215"/>
                  </a:lnTo>
                  <a:cubicBezTo>
                    <a:pt x="1828" y="6625"/>
                    <a:pt x="1954" y="7097"/>
                    <a:pt x="1986" y="7570"/>
                  </a:cubicBezTo>
                  <a:cubicBezTo>
                    <a:pt x="3687" y="7381"/>
                    <a:pt x="4664" y="5585"/>
                    <a:pt x="3876" y="4010"/>
                  </a:cubicBezTo>
                  <a:lnTo>
                    <a:pt x="1986" y="166"/>
                  </a:lnTo>
                  <a:cubicBezTo>
                    <a:pt x="1938" y="56"/>
                    <a:pt x="1812" y="1"/>
                    <a:pt x="168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4" name="Google Shape;9211;p146">
              <a:extLst>
                <a:ext uri="{FF2B5EF4-FFF2-40B4-BE49-F238E27FC236}">
                  <a16:creationId xmlns:a16="http://schemas.microsoft.com/office/drawing/2014/main" id="{7A067BC2-C3FF-FCDA-0B49-79E4798990F9}"/>
                </a:ext>
              </a:extLst>
            </p:cNvPr>
            <p:cNvSpPr/>
            <p:nvPr/>
          </p:nvSpPr>
          <p:spPr>
            <a:xfrm>
              <a:off x="-19835275" y="3330250"/>
              <a:ext cx="116600" cy="189250"/>
            </a:xfrm>
            <a:custGeom>
              <a:avLst/>
              <a:gdLst/>
              <a:ahLst/>
              <a:cxnLst/>
              <a:rect l="l" t="t" r="r" b="b"/>
              <a:pathLst>
                <a:path w="4664" h="7570" extrusionOk="0">
                  <a:moveTo>
                    <a:pt x="2982" y="1"/>
                  </a:moveTo>
                  <a:cubicBezTo>
                    <a:pt x="2852" y="1"/>
                    <a:pt x="2726" y="56"/>
                    <a:pt x="2679" y="166"/>
                  </a:cubicBezTo>
                  <a:lnTo>
                    <a:pt x="788" y="4010"/>
                  </a:lnTo>
                  <a:cubicBezTo>
                    <a:pt x="1" y="5522"/>
                    <a:pt x="977" y="7381"/>
                    <a:pt x="2679" y="7570"/>
                  </a:cubicBezTo>
                  <a:cubicBezTo>
                    <a:pt x="2710" y="7097"/>
                    <a:pt x="2868" y="6593"/>
                    <a:pt x="3057" y="6152"/>
                  </a:cubicBezTo>
                  <a:lnTo>
                    <a:pt x="4663" y="2876"/>
                  </a:lnTo>
                  <a:lnTo>
                    <a:pt x="3309" y="166"/>
                  </a:lnTo>
                  <a:cubicBezTo>
                    <a:pt x="3246" y="56"/>
                    <a:pt x="3112" y="1"/>
                    <a:pt x="29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576963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3798268" y="683972"/>
            <a:ext cx="3745533" cy="712830"/>
          </a:xfrm>
          <a:prstGeom prst="rect">
            <a:avLst/>
          </a:prstGeom>
        </p:spPr>
        <p:txBody>
          <a:bodyPr spcFirstLastPara="1" wrap="square" lIns="91425" tIns="91425" rIns="91425" bIns="91425" anchor="t" anchorCtr="0">
            <a:noAutofit/>
          </a:bodyPr>
          <a:lstStyle/>
          <a:p>
            <a:pPr lvl="0"/>
            <a:r>
              <a:rPr lang="en-US" sz="3600" dirty="0"/>
              <a:t>Sistema de reg</a:t>
            </a:r>
            <a:endParaRPr sz="3600" dirty="0"/>
          </a:p>
        </p:txBody>
      </p:sp>
      <p:sp>
        <p:nvSpPr>
          <p:cNvPr id="566" name="Google Shape;566;p68"/>
          <p:cNvSpPr txBox="1">
            <a:spLocks noGrp="1"/>
          </p:cNvSpPr>
          <p:nvPr>
            <p:ph type="subTitle" idx="1"/>
          </p:nvPr>
        </p:nvSpPr>
        <p:spPr>
          <a:xfrm>
            <a:off x="3798268" y="1396802"/>
            <a:ext cx="4545000" cy="2821907"/>
          </a:xfrm>
          <a:prstGeom prst="rect">
            <a:avLst/>
          </a:prstGeom>
        </p:spPr>
        <p:txBody>
          <a:bodyPr spcFirstLastPara="1" wrap="square" lIns="91425" tIns="91425" rIns="91425" bIns="91425" anchor="t" anchorCtr="0">
            <a:noAutofit/>
          </a:bodyPr>
          <a:lstStyle/>
          <a:p>
            <a:pPr marL="0" lvl="0" indent="0"/>
            <a:r>
              <a:rPr lang="ca-ES" dirty="0"/>
              <a:t>El sistema de reg amb té dos modes de funcionament:</a:t>
            </a:r>
          </a:p>
          <a:p>
            <a:pPr marL="0" lvl="0" indent="0"/>
            <a:endParaRPr lang="ca-ES" dirty="0"/>
          </a:p>
          <a:p>
            <a:pPr marL="285750" lvl="0" indent="-285750">
              <a:buFont typeface="Arial" panose="020B0604020202020204" pitchFamily="34" charset="0"/>
              <a:buChar char="•"/>
            </a:pPr>
            <a:r>
              <a:rPr lang="ca-ES" dirty="0"/>
              <a:t>Mode programat: Entrant els horaris de regar per cada espai, i la durada.</a:t>
            </a:r>
            <a:br>
              <a:rPr lang="ca-ES" dirty="0"/>
            </a:br>
            <a:endParaRPr lang="ca-ES" dirty="0"/>
          </a:p>
          <a:p>
            <a:pPr marL="285750" lvl="0" indent="-285750">
              <a:buFont typeface="Arial" panose="020B0604020202020204" pitchFamily="34" charset="0"/>
              <a:buChar char="•"/>
            </a:pPr>
            <a:r>
              <a:rPr lang="ca-ES" dirty="0"/>
              <a:t>Mode automàtic: Es reguen tots els espais de forma continuada entrant únicament una durada comuna a tots ells. L'ordre en aquest cas és: jardí interior, jardí exterior, hort i arbres fruiters.</a:t>
            </a:r>
          </a:p>
        </p:txBody>
      </p:sp>
      <p:pic>
        <p:nvPicPr>
          <p:cNvPr id="3" name="Picture 2">
            <a:extLst>
              <a:ext uri="{FF2B5EF4-FFF2-40B4-BE49-F238E27FC236}">
                <a16:creationId xmlns:a16="http://schemas.microsoft.com/office/drawing/2014/main" id="{6C20585E-3410-6F4C-8908-CA3ADE96C813}"/>
              </a:ext>
            </a:extLst>
          </p:cNvPr>
          <p:cNvPicPr>
            <a:picLocks noChangeAspect="1"/>
          </p:cNvPicPr>
          <p:nvPr/>
        </p:nvPicPr>
        <p:blipFill rotWithShape="1">
          <a:blip r:embed="rId3"/>
          <a:srcRect l="31884"/>
          <a:stretch/>
        </p:blipFill>
        <p:spPr>
          <a:xfrm>
            <a:off x="1087582" y="1396802"/>
            <a:ext cx="2540968" cy="24868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8631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2993050" y="683972"/>
            <a:ext cx="3745533" cy="712830"/>
          </a:xfrm>
          <a:prstGeom prst="rect">
            <a:avLst/>
          </a:prstGeom>
        </p:spPr>
        <p:txBody>
          <a:bodyPr spcFirstLastPara="1" wrap="square" lIns="91425" tIns="91425" rIns="91425" bIns="91425" anchor="t" anchorCtr="0">
            <a:noAutofit/>
          </a:bodyPr>
          <a:lstStyle/>
          <a:p>
            <a:pPr lvl="0"/>
            <a:r>
              <a:rPr lang="en-US" sz="3600" dirty="0"/>
              <a:t>Sistema de reg</a:t>
            </a:r>
            <a:endParaRPr sz="3600" dirty="0"/>
          </a:p>
        </p:txBody>
      </p:sp>
      <p:sp>
        <p:nvSpPr>
          <p:cNvPr id="566" name="Google Shape;566;p68"/>
          <p:cNvSpPr txBox="1">
            <a:spLocks noGrp="1"/>
          </p:cNvSpPr>
          <p:nvPr>
            <p:ph type="subTitle" idx="1"/>
          </p:nvPr>
        </p:nvSpPr>
        <p:spPr>
          <a:xfrm>
            <a:off x="5001904" y="1514901"/>
            <a:ext cx="3341364" cy="2634018"/>
          </a:xfrm>
          <a:prstGeom prst="rect">
            <a:avLst/>
          </a:prstGeom>
        </p:spPr>
        <p:txBody>
          <a:bodyPr spcFirstLastPara="1" wrap="square" lIns="91425" tIns="91425" rIns="91425" bIns="91425" anchor="t" anchorCtr="0">
            <a:noAutofit/>
          </a:bodyPr>
          <a:lstStyle/>
          <a:p>
            <a:pPr marL="0" lvl="0" indent="0"/>
            <a:r>
              <a:rPr lang="ca-ES" dirty="0"/>
              <a:t>En el nostre cas disposa d’un dipòsit amb dos motors per extreure l’aigua, un pels jardins, l'altre per l'hort i la zona d'arbres fruiters. Per tal de poder regar de forma independent cada un dels espais hem afegit un sistema de vàlvules</a:t>
            </a:r>
          </a:p>
        </p:txBody>
      </p:sp>
      <p:pic>
        <p:nvPicPr>
          <p:cNvPr id="2" name="Picture 1">
            <a:extLst>
              <a:ext uri="{FF2B5EF4-FFF2-40B4-BE49-F238E27FC236}">
                <a16:creationId xmlns:a16="http://schemas.microsoft.com/office/drawing/2014/main" id="{FFF45298-721B-136C-6314-FE881B4D886E}"/>
              </a:ext>
            </a:extLst>
          </p:cNvPr>
          <p:cNvPicPr>
            <a:picLocks noChangeAspect="1"/>
          </p:cNvPicPr>
          <p:nvPr/>
        </p:nvPicPr>
        <p:blipFill rotWithShape="1">
          <a:blip r:embed="rId3"/>
          <a:srcRect t="21538"/>
          <a:stretch/>
        </p:blipFill>
        <p:spPr bwMode="auto">
          <a:xfrm>
            <a:off x="800731" y="1590219"/>
            <a:ext cx="4097669" cy="247681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31960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69"/>
        <p:cNvGrpSpPr/>
        <p:nvPr/>
      </p:nvGrpSpPr>
      <p:grpSpPr>
        <a:xfrm>
          <a:off x="0" y="0"/>
          <a:ext cx="0" cy="0"/>
          <a:chOff x="0" y="0"/>
          <a:chExt cx="0" cy="0"/>
        </a:xfrm>
      </p:grpSpPr>
      <p:sp>
        <p:nvSpPr>
          <p:cNvPr id="1170" name="Google Shape;1170;p101"/>
          <p:cNvSpPr txBox="1">
            <a:spLocks noGrp="1"/>
          </p:cNvSpPr>
          <p:nvPr>
            <p:ph type="title"/>
          </p:nvPr>
        </p:nvSpPr>
        <p:spPr>
          <a:xfrm>
            <a:off x="713225" y="445025"/>
            <a:ext cx="7890448"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Components</a:t>
            </a:r>
            <a:endParaRPr dirty="0"/>
          </a:p>
        </p:txBody>
      </p:sp>
      <p:sp>
        <p:nvSpPr>
          <p:cNvPr id="1171" name="Google Shape;1171;p101"/>
          <p:cNvSpPr txBox="1"/>
          <p:nvPr/>
        </p:nvSpPr>
        <p:spPr>
          <a:xfrm>
            <a:off x="713238" y="1785863"/>
            <a:ext cx="1955400" cy="61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2"/>
                </a:solidFill>
                <a:latin typeface="Montserrat"/>
                <a:ea typeface="Montserrat"/>
                <a:cs typeface="Montserrat"/>
                <a:sym typeface="Montserrat"/>
              </a:rPr>
              <a:t>Sortides actives a baixa.</a:t>
            </a:r>
            <a:endParaRPr dirty="0">
              <a:solidFill>
                <a:schemeClr val="dk2"/>
              </a:solidFill>
              <a:latin typeface="Montserrat"/>
              <a:ea typeface="Montserrat"/>
              <a:cs typeface="Montserrat"/>
              <a:sym typeface="Montserrat"/>
            </a:endParaRPr>
          </a:p>
        </p:txBody>
      </p:sp>
      <p:sp>
        <p:nvSpPr>
          <p:cNvPr id="1172" name="Google Shape;1172;p101"/>
          <p:cNvSpPr txBox="1"/>
          <p:nvPr/>
        </p:nvSpPr>
        <p:spPr>
          <a:xfrm>
            <a:off x="0" y="1136525"/>
            <a:ext cx="2135600" cy="66635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200" dirty="0">
                <a:solidFill>
                  <a:schemeClr val="dk1"/>
                </a:solidFill>
                <a:latin typeface="Vidaloka"/>
                <a:ea typeface="Vidaloka"/>
                <a:cs typeface="Vidaloka"/>
                <a:sym typeface="Vidaloka"/>
              </a:rPr>
              <a:t>7447</a:t>
            </a:r>
          </a:p>
          <a:p>
            <a:pPr marL="0" lvl="0" indent="0" algn="l" rtl="0">
              <a:spcBef>
                <a:spcPts val="0"/>
              </a:spcBef>
              <a:spcAft>
                <a:spcPts val="0"/>
              </a:spcAft>
              <a:buNone/>
            </a:pPr>
            <a:r>
              <a:rPr lang="en" dirty="0">
                <a:solidFill>
                  <a:schemeClr val="dk1"/>
                </a:solidFill>
                <a:latin typeface="Vidaloka"/>
                <a:ea typeface="Vidaloka"/>
                <a:cs typeface="Vidaloka"/>
                <a:sym typeface="Vidaloka"/>
              </a:rPr>
              <a:t>(Descodificador BCD)</a:t>
            </a:r>
            <a:endParaRPr sz="2400" dirty="0">
              <a:solidFill>
                <a:schemeClr val="dk1"/>
              </a:solidFill>
              <a:latin typeface="Vidaloka"/>
              <a:ea typeface="Vidaloka"/>
              <a:cs typeface="Vidaloka"/>
              <a:sym typeface="Vidaloka"/>
            </a:endParaRPr>
          </a:p>
        </p:txBody>
      </p:sp>
      <p:sp>
        <p:nvSpPr>
          <p:cNvPr id="1177" name="Google Shape;1177;p101"/>
          <p:cNvSpPr txBox="1"/>
          <p:nvPr/>
        </p:nvSpPr>
        <p:spPr>
          <a:xfrm>
            <a:off x="7008475" y="3649975"/>
            <a:ext cx="1422300" cy="3570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400" dirty="0">
                <a:solidFill>
                  <a:schemeClr val="dk1"/>
                </a:solidFill>
                <a:latin typeface="Vidaloka"/>
                <a:ea typeface="Vidaloka"/>
                <a:cs typeface="Vidaloka"/>
                <a:sym typeface="Vidaloka"/>
              </a:rPr>
              <a:t>74LS90</a:t>
            </a:r>
            <a:endParaRPr sz="2400" dirty="0">
              <a:solidFill>
                <a:schemeClr val="dk1"/>
              </a:solidFill>
              <a:latin typeface="Vidaloka"/>
              <a:ea typeface="Vidaloka"/>
              <a:cs typeface="Vidaloka"/>
              <a:sym typeface="Vidaloka"/>
            </a:endParaRPr>
          </a:p>
        </p:txBody>
      </p:sp>
      <p:sp>
        <p:nvSpPr>
          <p:cNvPr id="1178" name="Google Shape;1178;p101"/>
          <p:cNvSpPr txBox="1"/>
          <p:nvPr/>
        </p:nvSpPr>
        <p:spPr>
          <a:xfrm>
            <a:off x="6331042" y="4079875"/>
            <a:ext cx="1955700" cy="618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ca-ES" dirty="0">
                <a:solidFill>
                  <a:schemeClr val="dk2"/>
                </a:solidFill>
                <a:latin typeface="Montserrat"/>
                <a:ea typeface="Montserrat"/>
                <a:cs typeface="Montserrat"/>
                <a:sym typeface="Montserrat"/>
              </a:rPr>
              <a:t>Comptador de dècades asíncron</a:t>
            </a:r>
          </a:p>
        </p:txBody>
      </p:sp>
      <p:cxnSp>
        <p:nvCxnSpPr>
          <p:cNvPr id="1191" name="Google Shape;1191;p101"/>
          <p:cNvCxnSpPr>
            <a:cxnSpLocks/>
            <a:stCxn id="1172" idx="3"/>
          </p:cNvCxnSpPr>
          <p:nvPr/>
        </p:nvCxnSpPr>
        <p:spPr>
          <a:xfrm>
            <a:off x="2135600" y="1469700"/>
            <a:ext cx="1801500" cy="979975"/>
          </a:xfrm>
          <a:prstGeom prst="bentConnector3">
            <a:avLst>
              <a:gd name="adj1" fmla="val 50000"/>
            </a:avLst>
          </a:prstGeom>
          <a:noFill/>
          <a:ln w="28575" cap="flat" cmpd="sng">
            <a:solidFill>
              <a:schemeClr val="dk2"/>
            </a:solidFill>
            <a:prstDash val="solid"/>
            <a:round/>
            <a:headEnd type="none" w="med" len="med"/>
            <a:tailEnd type="oval" w="med" len="med"/>
          </a:ln>
        </p:spPr>
      </p:cxnSp>
      <p:cxnSp>
        <p:nvCxnSpPr>
          <p:cNvPr id="1194" name="Google Shape;1194;p101"/>
          <p:cNvCxnSpPr>
            <a:stCxn id="1177" idx="1"/>
          </p:cNvCxnSpPr>
          <p:nvPr/>
        </p:nvCxnSpPr>
        <p:spPr>
          <a:xfrm rot="10800000">
            <a:off x="5076775" y="3544975"/>
            <a:ext cx="1931700" cy="283500"/>
          </a:xfrm>
          <a:prstGeom prst="bentConnector3">
            <a:avLst>
              <a:gd name="adj1" fmla="val 50000"/>
            </a:avLst>
          </a:prstGeom>
          <a:noFill/>
          <a:ln w="28575" cap="flat" cmpd="sng">
            <a:solidFill>
              <a:schemeClr val="dk2"/>
            </a:solidFill>
            <a:prstDash val="solid"/>
            <a:round/>
            <a:headEnd type="none" w="med" len="med"/>
            <a:tailEnd type="oval" w="med" len="med"/>
          </a:ln>
        </p:spPr>
      </p:cxnSp>
      <p:pic>
        <p:nvPicPr>
          <p:cNvPr id="5" name="Picture 4">
            <a:extLst>
              <a:ext uri="{FF2B5EF4-FFF2-40B4-BE49-F238E27FC236}">
                <a16:creationId xmlns:a16="http://schemas.microsoft.com/office/drawing/2014/main" id="{FF1BF728-FEE9-E62F-4311-2081891E2B76}"/>
              </a:ext>
            </a:extLst>
          </p:cNvPr>
          <p:cNvPicPr>
            <a:picLocks noChangeAspect="1"/>
          </p:cNvPicPr>
          <p:nvPr/>
        </p:nvPicPr>
        <p:blipFill>
          <a:blip r:embed="rId3"/>
          <a:stretch>
            <a:fillRect/>
          </a:stretch>
        </p:blipFill>
        <p:spPr>
          <a:xfrm>
            <a:off x="4248171" y="1493525"/>
            <a:ext cx="4621920" cy="980677"/>
          </a:xfrm>
          <a:prstGeom prst="rect">
            <a:avLst/>
          </a:prstGeom>
        </p:spPr>
      </p:pic>
      <p:sp>
        <p:nvSpPr>
          <p:cNvPr id="6" name="Google Shape;1178;p101">
            <a:extLst>
              <a:ext uri="{FF2B5EF4-FFF2-40B4-BE49-F238E27FC236}">
                <a16:creationId xmlns:a16="http://schemas.microsoft.com/office/drawing/2014/main" id="{6371EC23-0A15-82CF-E700-BDEF902B85A3}"/>
              </a:ext>
            </a:extLst>
          </p:cNvPr>
          <p:cNvSpPr txBox="1"/>
          <p:nvPr/>
        </p:nvSpPr>
        <p:spPr>
          <a:xfrm>
            <a:off x="4120212" y="2460837"/>
            <a:ext cx="4709702" cy="1319509"/>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900" dirty="0">
                <a:solidFill>
                  <a:schemeClr val="dk2"/>
                </a:solidFill>
                <a:latin typeface="Montserrat"/>
                <a:ea typeface="Montserrat"/>
                <a:cs typeface="Montserrat"/>
                <a:sym typeface="Montserrat"/>
              </a:rPr>
              <a:t>LS7447 (Logisim Evolution): https://datasheetspdf.com/datasheet/7474.html (Data de consulta: 12/01/2023)</a:t>
            </a:r>
            <a:endParaRPr lang="en-US" sz="900" dirty="0">
              <a:solidFill>
                <a:schemeClr val="dk2"/>
              </a:solidFill>
              <a:latin typeface="Montserrat"/>
              <a:ea typeface="Montserrat"/>
              <a:cs typeface="Montserrat"/>
              <a:sym typeface="Montserrat"/>
            </a:endParaRPr>
          </a:p>
        </p:txBody>
      </p:sp>
      <p:pic>
        <p:nvPicPr>
          <p:cNvPr id="11" name="Picture 10">
            <a:extLst>
              <a:ext uri="{FF2B5EF4-FFF2-40B4-BE49-F238E27FC236}">
                <a16:creationId xmlns:a16="http://schemas.microsoft.com/office/drawing/2014/main" id="{6B22CCBF-5BD2-2B6A-62FE-83119BDD6C44}"/>
              </a:ext>
            </a:extLst>
          </p:cNvPr>
          <p:cNvPicPr>
            <a:picLocks noChangeAspect="1"/>
          </p:cNvPicPr>
          <p:nvPr/>
        </p:nvPicPr>
        <p:blipFill>
          <a:blip r:embed="rId4"/>
          <a:stretch>
            <a:fillRect/>
          </a:stretch>
        </p:blipFill>
        <p:spPr>
          <a:xfrm>
            <a:off x="2832730" y="3085150"/>
            <a:ext cx="1765763" cy="1129650"/>
          </a:xfrm>
          <a:prstGeom prst="rect">
            <a:avLst/>
          </a:prstGeom>
        </p:spPr>
      </p:pic>
      <p:pic>
        <p:nvPicPr>
          <p:cNvPr id="13" name="Picture 12">
            <a:extLst>
              <a:ext uri="{FF2B5EF4-FFF2-40B4-BE49-F238E27FC236}">
                <a16:creationId xmlns:a16="http://schemas.microsoft.com/office/drawing/2014/main" id="{DA39EFFC-4543-D92C-F562-47516130F53B}"/>
              </a:ext>
            </a:extLst>
          </p:cNvPr>
          <p:cNvPicPr>
            <a:picLocks noChangeAspect="1"/>
          </p:cNvPicPr>
          <p:nvPr/>
        </p:nvPicPr>
        <p:blipFill>
          <a:blip r:embed="rId5"/>
          <a:stretch>
            <a:fillRect/>
          </a:stretch>
        </p:blipFill>
        <p:spPr>
          <a:xfrm>
            <a:off x="679354" y="2827135"/>
            <a:ext cx="1914236" cy="1435677"/>
          </a:xfrm>
          <a:prstGeom prst="rect">
            <a:avLst/>
          </a:prstGeom>
        </p:spPr>
      </p:pic>
      <p:sp>
        <p:nvSpPr>
          <p:cNvPr id="14" name="Google Shape;1178;p101">
            <a:extLst>
              <a:ext uri="{FF2B5EF4-FFF2-40B4-BE49-F238E27FC236}">
                <a16:creationId xmlns:a16="http://schemas.microsoft.com/office/drawing/2014/main" id="{F60E64FF-F442-D5EA-94E3-8C4768E4D3A6}"/>
              </a:ext>
            </a:extLst>
          </p:cNvPr>
          <p:cNvSpPr txBox="1"/>
          <p:nvPr/>
        </p:nvSpPr>
        <p:spPr>
          <a:xfrm>
            <a:off x="-32227" y="4262812"/>
            <a:ext cx="4709702" cy="1319509"/>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900" dirty="0">
                <a:solidFill>
                  <a:schemeClr val="dk2"/>
                </a:solidFill>
                <a:latin typeface="Montserrat"/>
                <a:ea typeface="Montserrat"/>
                <a:cs typeface="Montserrat"/>
                <a:sym typeface="Montserrat"/>
              </a:rPr>
              <a:t>CL74LS90: https://www.alldatasheet.com/datasheet-pdf/pdf/5755/MOTOROLA/74LS90.html (Data de consulta: 12/01/2023))</a:t>
            </a:r>
            <a:endParaRPr lang="en-US" sz="900" dirty="0">
              <a:solidFill>
                <a:schemeClr val="dk2"/>
              </a:solidFill>
              <a:latin typeface="Montserrat"/>
              <a:ea typeface="Montserrat"/>
              <a:cs typeface="Montserrat"/>
              <a:sym typeface="Montserrat"/>
            </a:endParaRPr>
          </a:p>
        </p:txBody>
      </p:sp>
    </p:spTree>
    <p:extLst>
      <p:ext uri="{BB962C8B-B14F-4D97-AF65-F5344CB8AC3E}">
        <p14:creationId xmlns:p14="http://schemas.microsoft.com/office/powerpoint/2010/main" val="31424753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1087582" y="683972"/>
            <a:ext cx="6456219" cy="712830"/>
          </a:xfrm>
          <a:prstGeom prst="rect">
            <a:avLst/>
          </a:prstGeom>
        </p:spPr>
        <p:txBody>
          <a:bodyPr spcFirstLastPara="1" wrap="square" lIns="91425" tIns="91425" rIns="91425" bIns="91425" anchor="t" anchorCtr="0">
            <a:noAutofit/>
          </a:bodyPr>
          <a:lstStyle/>
          <a:p>
            <a:pPr lvl="0" algn="ctr"/>
            <a:r>
              <a:rPr lang="ca-ES" sz="3600" dirty="0"/>
              <a:t>Rellotge intern</a:t>
            </a:r>
            <a:br>
              <a:rPr lang="ca-ES" sz="3600" dirty="0"/>
            </a:br>
            <a:endParaRPr lang="ca-ES" sz="3600" dirty="0"/>
          </a:p>
        </p:txBody>
      </p:sp>
      <p:pic>
        <p:nvPicPr>
          <p:cNvPr id="6" name="Picture 5">
            <a:extLst>
              <a:ext uri="{FF2B5EF4-FFF2-40B4-BE49-F238E27FC236}">
                <a16:creationId xmlns:a16="http://schemas.microsoft.com/office/drawing/2014/main" id="{7028BFF7-15CA-3952-E050-F0678F265E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28621" y="1584733"/>
            <a:ext cx="4974139" cy="29297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5E986DDA-D422-BE37-B650-DAF8FD5411D7}"/>
              </a:ext>
            </a:extLst>
          </p:cNvPr>
          <p:cNvPicPr>
            <a:picLocks noChangeAspect="1"/>
          </p:cNvPicPr>
          <p:nvPr/>
        </p:nvPicPr>
        <p:blipFill rotWithShape="1">
          <a:blip r:embed="rId4">
            <a:extLst>
              <a:ext uri="{28A0092B-C50C-407E-A947-70E740481C1C}">
                <a14:useLocalDpi xmlns:a14="http://schemas.microsoft.com/office/drawing/2010/main" val="0"/>
              </a:ext>
            </a:extLst>
          </a:blip>
          <a:srcRect l="24417"/>
          <a:stretch/>
        </p:blipFill>
        <p:spPr>
          <a:xfrm>
            <a:off x="6941345" y="2571750"/>
            <a:ext cx="2148276" cy="7848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E3875E92-8D62-86DE-87A6-3E0ECAA8139D}"/>
              </a:ext>
            </a:extLst>
          </p:cNvPr>
          <p:cNvPicPr>
            <a:picLocks noChangeAspect="1"/>
          </p:cNvPicPr>
          <p:nvPr/>
        </p:nvPicPr>
        <p:blipFill rotWithShape="1">
          <a:blip r:embed="rId5"/>
          <a:srcRect l="36035" t="36507" b="-446"/>
          <a:stretch/>
        </p:blipFill>
        <p:spPr>
          <a:xfrm>
            <a:off x="5264728" y="4090597"/>
            <a:ext cx="2507674" cy="6118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2" name="Picture 11">
            <a:extLst>
              <a:ext uri="{FF2B5EF4-FFF2-40B4-BE49-F238E27FC236}">
                <a16:creationId xmlns:a16="http://schemas.microsoft.com/office/drawing/2014/main" id="{52D6AB8F-448F-1A68-B1B0-4CC88D1446B9}"/>
              </a:ext>
            </a:extLst>
          </p:cNvPr>
          <p:cNvPicPr>
            <a:picLocks noChangeAspect="1"/>
          </p:cNvPicPr>
          <p:nvPr/>
        </p:nvPicPr>
        <p:blipFill>
          <a:blip r:embed="rId6"/>
          <a:stretch>
            <a:fillRect/>
          </a:stretch>
        </p:blipFill>
        <p:spPr>
          <a:xfrm>
            <a:off x="259574" y="2247663"/>
            <a:ext cx="1425502" cy="4960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4" name="Picture 13">
            <a:extLst>
              <a:ext uri="{FF2B5EF4-FFF2-40B4-BE49-F238E27FC236}">
                <a16:creationId xmlns:a16="http://schemas.microsoft.com/office/drawing/2014/main" id="{03444A4A-FCE4-7069-F212-29317303285E}"/>
              </a:ext>
            </a:extLst>
          </p:cNvPr>
          <p:cNvPicPr>
            <a:picLocks noChangeAspect="1"/>
          </p:cNvPicPr>
          <p:nvPr/>
        </p:nvPicPr>
        <p:blipFill rotWithShape="1">
          <a:blip r:embed="rId7"/>
          <a:srcRect r="19811"/>
          <a:stretch/>
        </p:blipFill>
        <p:spPr>
          <a:xfrm>
            <a:off x="264535" y="3091877"/>
            <a:ext cx="1425501" cy="5981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8558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1087582" y="683972"/>
            <a:ext cx="6456219" cy="712830"/>
          </a:xfrm>
          <a:prstGeom prst="rect">
            <a:avLst/>
          </a:prstGeom>
        </p:spPr>
        <p:txBody>
          <a:bodyPr spcFirstLastPara="1" wrap="square" lIns="91425" tIns="91425" rIns="91425" bIns="91425" anchor="t" anchorCtr="0">
            <a:noAutofit/>
          </a:bodyPr>
          <a:lstStyle/>
          <a:p>
            <a:pPr lvl="0"/>
            <a:r>
              <a:rPr lang="ca-ES" sz="3600" dirty="0"/>
              <a:t>Rellotge</a:t>
            </a:r>
          </a:p>
        </p:txBody>
      </p:sp>
      <p:pic>
        <p:nvPicPr>
          <p:cNvPr id="4" name="Picture 3">
            <a:extLst>
              <a:ext uri="{FF2B5EF4-FFF2-40B4-BE49-F238E27FC236}">
                <a16:creationId xmlns:a16="http://schemas.microsoft.com/office/drawing/2014/main" id="{CF381FE8-D506-78DB-E6F4-B49175A0E2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1875" y="2109632"/>
            <a:ext cx="2778372" cy="16364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54D83F7A-AC2B-23A6-93B5-D6DBD40E24A4}"/>
              </a:ext>
            </a:extLst>
          </p:cNvPr>
          <p:cNvPicPr>
            <a:picLocks noChangeAspect="1"/>
          </p:cNvPicPr>
          <p:nvPr/>
        </p:nvPicPr>
        <p:blipFill>
          <a:blip r:embed="rId4"/>
          <a:stretch>
            <a:fillRect/>
          </a:stretch>
        </p:blipFill>
        <p:spPr>
          <a:xfrm>
            <a:off x="1186727" y="1615104"/>
            <a:ext cx="2295525" cy="276225"/>
          </a:xfrm>
          <a:prstGeom prst="rect">
            <a:avLst/>
          </a:prstGeom>
        </p:spPr>
      </p:pic>
      <p:pic>
        <p:nvPicPr>
          <p:cNvPr id="8" name="Picture 7">
            <a:extLst>
              <a:ext uri="{FF2B5EF4-FFF2-40B4-BE49-F238E27FC236}">
                <a16:creationId xmlns:a16="http://schemas.microsoft.com/office/drawing/2014/main" id="{EFB2A4B2-83F0-8885-8288-F148E3B5D99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84982" y="3935913"/>
            <a:ext cx="2374900" cy="6324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929A1AA7-3397-8420-EC08-28BC561E4C5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57852" y="782835"/>
            <a:ext cx="4500416" cy="26535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2" name="Picture 11">
            <a:extLst>
              <a:ext uri="{FF2B5EF4-FFF2-40B4-BE49-F238E27FC236}">
                <a16:creationId xmlns:a16="http://schemas.microsoft.com/office/drawing/2014/main" id="{305739F2-CD67-DE2D-313D-81CD07A84EFF}"/>
              </a:ext>
            </a:extLst>
          </p:cNvPr>
          <p:cNvPicPr>
            <a:picLocks noChangeAspect="1"/>
          </p:cNvPicPr>
          <p:nvPr/>
        </p:nvPicPr>
        <p:blipFill>
          <a:blip r:embed="rId7"/>
          <a:stretch>
            <a:fillRect/>
          </a:stretch>
        </p:blipFill>
        <p:spPr>
          <a:xfrm>
            <a:off x="4435167" y="3691513"/>
            <a:ext cx="3713232" cy="7870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14" name="Straight Arrow Connector 13">
            <a:extLst>
              <a:ext uri="{FF2B5EF4-FFF2-40B4-BE49-F238E27FC236}">
                <a16:creationId xmlns:a16="http://schemas.microsoft.com/office/drawing/2014/main" id="{0E4BA3C5-BCD7-04FC-E9BF-AB38FA03B3FC}"/>
              </a:ext>
            </a:extLst>
          </p:cNvPr>
          <p:cNvCxnSpPr>
            <a:cxnSpLocks/>
          </p:cNvCxnSpPr>
          <p:nvPr/>
        </p:nvCxnSpPr>
        <p:spPr>
          <a:xfrm>
            <a:off x="7826991" y="2292824"/>
            <a:ext cx="136478" cy="13101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4657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2248783" y="469227"/>
            <a:ext cx="4281054" cy="712830"/>
          </a:xfrm>
          <a:prstGeom prst="rect">
            <a:avLst/>
          </a:prstGeom>
        </p:spPr>
        <p:txBody>
          <a:bodyPr spcFirstLastPara="1" wrap="square" lIns="91425" tIns="91425" rIns="91425" bIns="91425" anchor="t" anchorCtr="0">
            <a:noAutofit/>
          </a:bodyPr>
          <a:lstStyle/>
          <a:p>
            <a:pPr lvl="0"/>
            <a:r>
              <a:rPr lang="ca-ES" sz="2800" dirty="0"/>
              <a:t>Sistema de reg programat</a:t>
            </a:r>
          </a:p>
        </p:txBody>
      </p:sp>
      <p:sp>
        <p:nvSpPr>
          <p:cNvPr id="566" name="Google Shape;566;p68"/>
          <p:cNvSpPr txBox="1">
            <a:spLocks noGrp="1"/>
          </p:cNvSpPr>
          <p:nvPr>
            <p:ph type="subTitle" idx="1"/>
          </p:nvPr>
        </p:nvSpPr>
        <p:spPr>
          <a:xfrm>
            <a:off x="630382" y="1396802"/>
            <a:ext cx="7883237" cy="4027253"/>
          </a:xfrm>
          <a:prstGeom prst="rect">
            <a:avLst/>
          </a:prstGeom>
        </p:spPr>
        <p:txBody>
          <a:bodyPr spcFirstLastPara="1" wrap="square" lIns="91425" tIns="91425" rIns="91425" bIns="91425" anchor="t" anchorCtr="0">
            <a:noAutofit/>
          </a:bodyPr>
          <a:lstStyle/>
          <a:p>
            <a:pPr marL="0" lvl="0" indent="0"/>
            <a:endParaRPr lang="ca-ES" dirty="0"/>
          </a:p>
          <a:p>
            <a:pPr marL="0" lvl="0" indent="0"/>
            <a:endParaRPr lang="ca-ES" dirty="0"/>
          </a:p>
        </p:txBody>
      </p:sp>
      <p:pic>
        <p:nvPicPr>
          <p:cNvPr id="2" name="Picture 1">
            <a:extLst>
              <a:ext uri="{FF2B5EF4-FFF2-40B4-BE49-F238E27FC236}">
                <a16:creationId xmlns:a16="http://schemas.microsoft.com/office/drawing/2014/main" id="{BF64CAFA-20EC-CD02-2A8C-1DD7D1D18B17}"/>
              </a:ext>
            </a:extLst>
          </p:cNvPr>
          <p:cNvPicPr>
            <a:picLocks noChangeAspect="1"/>
          </p:cNvPicPr>
          <p:nvPr/>
        </p:nvPicPr>
        <p:blipFill>
          <a:blip r:embed="rId3"/>
          <a:stretch>
            <a:fillRect/>
          </a:stretch>
        </p:blipFill>
        <p:spPr>
          <a:xfrm>
            <a:off x="6150234" y="1424255"/>
            <a:ext cx="2438400" cy="295275"/>
          </a:xfrm>
          <a:prstGeom prst="rect">
            <a:avLst/>
          </a:prstGeom>
        </p:spPr>
      </p:pic>
      <p:pic>
        <p:nvPicPr>
          <p:cNvPr id="3" name="Picture 2">
            <a:extLst>
              <a:ext uri="{FF2B5EF4-FFF2-40B4-BE49-F238E27FC236}">
                <a16:creationId xmlns:a16="http://schemas.microsoft.com/office/drawing/2014/main" id="{D1C3DF92-EE6A-70A5-3CE7-84F4ED83EFE9}"/>
              </a:ext>
            </a:extLst>
          </p:cNvPr>
          <p:cNvPicPr>
            <a:picLocks noChangeAspect="1"/>
          </p:cNvPicPr>
          <p:nvPr/>
        </p:nvPicPr>
        <p:blipFill>
          <a:blip r:embed="rId4"/>
          <a:stretch>
            <a:fillRect/>
          </a:stretch>
        </p:blipFill>
        <p:spPr>
          <a:xfrm>
            <a:off x="3401600" y="1424255"/>
            <a:ext cx="2276475" cy="228600"/>
          </a:xfrm>
          <a:prstGeom prst="rect">
            <a:avLst/>
          </a:prstGeom>
        </p:spPr>
      </p:pic>
      <p:pic>
        <p:nvPicPr>
          <p:cNvPr id="5" name="Picture 4">
            <a:extLst>
              <a:ext uri="{FF2B5EF4-FFF2-40B4-BE49-F238E27FC236}">
                <a16:creationId xmlns:a16="http://schemas.microsoft.com/office/drawing/2014/main" id="{543B7DB5-3EC0-44AE-78BA-7C04D3E1E9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5366" y="1392529"/>
            <a:ext cx="2247900" cy="276225"/>
          </a:xfrm>
          <a:prstGeom prst="rect">
            <a:avLst/>
          </a:prstGeom>
        </p:spPr>
      </p:pic>
      <p:sp>
        <p:nvSpPr>
          <p:cNvPr id="6" name="Google Shape;1172;p101">
            <a:extLst>
              <a:ext uri="{FF2B5EF4-FFF2-40B4-BE49-F238E27FC236}">
                <a16:creationId xmlns:a16="http://schemas.microsoft.com/office/drawing/2014/main" id="{D03CFB13-C0D6-424B-F773-F02FBA4451C7}"/>
              </a:ext>
            </a:extLst>
          </p:cNvPr>
          <p:cNvSpPr txBox="1"/>
          <p:nvPr/>
        </p:nvSpPr>
        <p:spPr>
          <a:xfrm>
            <a:off x="2851555" y="1205380"/>
            <a:ext cx="475029" cy="66635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200" dirty="0">
                <a:solidFill>
                  <a:schemeClr val="dk1"/>
                </a:solidFill>
                <a:latin typeface="Vidaloka"/>
                <a:ea typeface="Vidaloka"/>
                <a:cs typeface="Vidaloka"/>
                <a:sym typeface="Vidaloka"/>
              </a:rPr>
              <a:t>+</a:t>
            </a:r>
          </a:p>
        </p:txBody>
      </p:sp>
      <p:sp>
        <p:nvSpPr>
          <p:cNvPr id="7" name="Google Shape;1172;p101">
            <a:extLst>
              <a:ext uri="{FF2B5EF4-FFF2-40B4-BE49-F238E27FC236}">
                <a16:creationId xmlns:a16="http://schemas.microsoft.com/office/drawing/2014/main" id="{00412B75-26C7-E50E-E6C2-EC41CD2800D9}"/>
              </a:ext>
            </a:extLst>
          </p:cNvPr>
          <p:cNvSpPr txBox="1"/>
          <p:nvPr/>
        </p:nvSpPr>
        <p:spPr>
          <a:xfrm>
            <a:off x="5650447" y="1205380"/>
            <a:ext cx="475029" cy="66635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200" dirty="0">
                <a:solidFill>
                  <a:schemeClr val="dk1"/>
                </a:solidFill>
                <a:latin typeface="Vidaloka"/>
                <a:ea typeface="Vidaloka"/>
                <a:cs typeface="Vidaloka"/>
                <a:sym typeface="Vidaloka"/>
              </a:rPr>
              <a:t>=</a:t>
            </a:r>
          </a:p>
        </p:txBody>
      </p:sp>
      <p:pic>
        <p:nvPicPr>
          <p:cNvPr id="8" name="Picture 7">
            <a:extLst>
              <a:ext uri="{FF2B5EF4-FFF2-40B4-BE49-F238E27FC236}">
                <a16:creationId xmlns:a16="http://schemas.microsoft.com/office/drawing/2014/main" id="{BE564F71-6EC4-4A0F-1879-C88A6A9F084D}"/>
              </a:ext>
            </a:extLst>
          </p:cNvPr>
          <p:cNvPicPr>
            <a:picLocks noChangeAspect="1"/>
          </p:cNvPicPr>
          <p:nvPr/>
        </p:nvPicPr>
        <p:blipFill>
          <a:blip r:embed="rId6"/>
          <a:stretch>
            <a:fillRect/>
          </a:stretch>
        </p:blipFill>
        <p:spPr>
          <a:xfrm>
            <a:off x="705362" y="1967002"/>
            <a:ext cx="4077875" cy="23778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ECDF7B78-4539-F7EA-8AD1-E2A0DD2F2FA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95266" y="3782667"/>
            <a:ext cx="1753162" cy="5807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91685B1E-2BFF-F849-6ADF-657C6C0021E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29525" y="1968697"/>
            <a:ext cx="3499528" cy="15697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Picture 10">
            <a:extLst>
              <a:ext uri="{FF2B5EF4-FFF2-40B4-BE49-F238E27FC236}">
                <a16:creationId xmlns:a16="http://schemas.microsoft.com/office/drawing/2014/main" id="{C0BD03FD-95F5-27BF-DF0A-F2E795050D6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97965" y="3782667"/>
            <a:ext cx="1753162" cy="5807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56089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2248783" y="469227"/>
            <a:ext cx="4281054" cy="712830"/>
          </a:xfrm>
          <a:prstGeom prst="rect">
            <a:avLst/>
          </a:prstGeom>
        </p:spPr>
        <p:txBody>
          <a:bodyPr spcFirstLastPara="1" wrap="square" lIns="91425" tIns="91425" rIns="91425" bIns="91425" anchor="t" anchorCtr="0">
            <a:noAutofit/>
          </a:bodyPr>
          <a:lstStyle/>
          <a:p>
            <a:pPr lvl="0" algn="ctr"/>
            <a:r>
              <a:rPr lang="ca-ES" sz="2800" dirty="0"/>
              <a:t>Lògica de control</a:t>
            </a:r>
          </a:p>
        </p:txBody>
      </p:sp>
      <p:sp>
        <p:nvSpPr>
          <p:cNvPr id="566" name="Google Shape;566;p68"/>
          <p:cNvSpPr txBox="1">
            <a:spLocks noGrp="1"/>
          </p:cNvSpPr>
          <p:nvPr>
            <p:ph type="subTitle" idx="1"/>
          </p:nvPr>
        </p:nvSpPr>
        <p:spPr>
          <a:xfrm>
            <a:off x="630381" y="1182057"/>
            <a:ext cx="7883237" cy="1056176"/>
          </a:xfrm>
          <a:prstGeom prst="rect">
            <a:avLst/>
          </a:prstGeom>
        </p:spPr>
        <p:txBody>
          <a:bodyPr spcFirstLastPara="1" wrap="square" lIns="91425" tIns="91425" rIns="91425" bIns="91425" anchor="t" anchorCtr="0">
            <a:noAutofit/>
          </a:bodyPr>
          <a:lstStyle/>
          <a:p>
            <a:pPr marL="0" lvl="0" indent="0"/>
            <a:endParaRPr lang="ca-ES" dirty="0"/>
          </a:p>
          <a:p>
            <a:pPr marL="0" lvl="0" indent="0"/>
            <a:r>
              <a:rPr lang="ca-ES" dirty="0"/>
              <a:t>Lògica de control:  Els Blocs </a:t>
            </a:r>
            <a:r>
              <a:rPr lang="ca-ES" b="1" dirty="0"/>
              <a:t>A4_Rellotge_Intern </a:t>
            </a:r>
            <a:r>
              <a:rPr lang="ca-ES" dirty="0"/>
              <a:t>i </a:t>
            </a:r>
            <a:r>
              <a:rPr lang="ca-ES" b="1" dirty="0"/>
              <a:t>A3_Temp_Hores_Minuts</a:t>
            </a:r>
            <a:r>
              <a:rPr lang="ca-ES" dirty="0"/>
              <a:t> tenen sortides de 16B que es compararan dins del bloc </a:t>
            </a:r>
            <a:r>
              <a:rPr lang="ca-ES" b="1" dirty="0"/>
              <a:t>A6_Logica_Contol</a:t>
            </a:r>
            <a:r>
              <a:rPr lang="ca-ES" dirty="0"/>
              <a:t>.</a:t>
            </a:r>
          </a:p>
        </p:txBody>
      </p:sp>
      <p:sp>
        <p:nvSpPr>
          <p:cNvPr id="6" name="Google Shape;1172;p101">
            <a:extLst>
              <a:ext uri="{FF2B5EF4-FFF2-40B4-BE49-F238E27FC236}">
                <a16:creationId xmlns:a16="http://schemas.microsoft.com/office/drawing/2014/main" id="{D03CFB13-C0D6-424B-F773-F02FBA4451C7}"/>
              </a:ext>
            </a:extLst>
          </p:cNvPr>
          <p:cNvSpPr txBox="1"/>
          <p:nvPr/>
        </p:nvSpPr>
        <p:spPr>
          <a:xfrm>
            <a:off x="2851555" y="1205380"/>
            <a:ext cx="475029" cy="66635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en" sz="3200" dirty="0">
              <a:solidFill>
                <a:schemeClr val="dk1"/>
              </a:solidFill>
              <a:latin typeface="Vidaloka"/>
              <a:ea typeface="Vidaloka"/>
              <a:cs typeface="Vidaloka"/>
              <a:sym typeface="Vidaloka"/>
            </a:endParaRPr>
          </a:p>
        </p:txBody>
      </p:sp>
      <p:pic>
        <p:nvPicPr>
          <p:cNvPr id="4" name="Picture 3">
            <a:extLst>
              <a:ext uri="{FF2B5EF4-FFF2-40B4-BE49-F238E27FC236}">
                <a16:creationId xmlns:a16="http://schemas.microsoft.com/office/drawing/2014/main" id="{5DD5DA02-D7A9-12AA-3473-18A8EF14B6DB}"/>
              </a:ext>
            </a:extLst>
          </p:cNvPr>
          <p:cNvPicPr>
            <a:picLocks noChangeAspect="1"/>
          </p:cNvPicPr>
          <p:nvPr/>
        </p:nvPicPr>
        <p:blipFill>
          <a:blip r:embed="rId3"/>
          <a:stretch>
            <a:fillRect/>
          </a:stretch>
        </p:blipFill>
        <p:spPr>
          <a:xfrm>
            <a:off x="838195" y="2134296"/>
            <a:ext cx="2922905" cy="20942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2" name="Picture 11">
            <a:extLst>
              <a:ext uri="{FF2B5EF4-FFF2-40B4-BE49-F238E27FC236}">
                <a16:creationId xmlns:a16="http://schemas.microsoft.com/office/drawing/2014/main" id="{99C69684-9AAD-12FC-18EE-FB1BDB411A81}"/>
              </a:ext>
            </a:extLst>
          </p:cNvPr>
          <p:cNvPicPr>
            <a:picLocks noChangeAspect="1"/>
          </p:cNvPicPr>
          <p:nvPr/>
        </p:nvPicPr>
        <p:blipFill>
          <a:blip r:embed="rId4"/>
          <a:stretch>
            <a:fillRect/>
          </a:stretch>
        </p:blipFill>
        <p:spPr>
          <a:xfrm>
            <a:off x="3968914" y="3531886"/>
            <a:ext cx="4475324" cy="6966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3" name="Picture 12">
            <a:extLst>
              <a:ext uri="{FF2B5EF4-FFF2-40B4-BE49-F238E27FC236}">
                <a16:creationId xmlns:a16="http://schemas.microsoft.com/office/drawing/2014/main" id="{EDA068F9-8E3C-E288-98E6-20C3551E6B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68914" y="2144379"/>
            <a:ext cx="2928460" cy="11683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15" name="Straight Arrow Connector 14">
            <a:extLst>
              <a:ext uri="{FF2B5EF4-FFF2-40B4-BE49-F238E27FC236}">
                <a16:creationId xmlns:a16="http://schemas.microsoft.com/office/drawing/2014/main" id="{6E65A585-E2AA-0FCF-0445-6AF05DE066AC}"/>
              </a:ext>
            </a:extLst>
          </p:cNvPr>
          <p:cNvCxnSpPr>
            <a:cxnSpLocks/>
          </p:cNvCxnSpPr>
          <p:nvPr/>
        </p:nvCxnSpPr>
        <p:spPr>
          <a:xfrm flipH="1" flipV="1">
            <a:off x="6529837" y="2951063"/>
            <a:ext cx="1567683" cy="1010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CD3AD88E-327E-07BB-30F9-B534CB755A7A}"/>
              </a:ext>
            </a:extLst>
          </p:cNvPr>
          <p:cNvPicPr>
            <a:picLocks noChangeAspect="1"/>
          </p:cNvPicPr>
          <p:nvPr/>
        </p:nvPicPr>
        <p:blipFill>
          <a:blip r:embed="rId6"/>
          <a:stretch>
            <a:fillRect/>
          </a:stretch>
        </p:blipFill>
        <p:spPr>
          <a:xfrm>
            <a:off x="7108536" y="2499276"/>
            <a:ext cx="1446177" cy="4585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20" name="Straight Arrow Connector 19">
            <a:extLst>
              <a:ext uri="{FF2B5EF4-FFF2-40B4-BE49-F238E27FC236}">
                <a16:creationId xmlns:a16="http://schemas.microsoft.com/office/drawing/2014/main" id="{9E61B1F0-79B0-2791-6157-3D47CF12E611}"/>
              </a:ext>
            </a:extLst>
          </p:cNvPr>
          <p:cNvCxnSpPr>
            <a:cxnSpLocks/>
          </p:cNvCxnSpPr>
          <p:nvPr/>
        </p:nvCxnSpPr>
        <p:spPr>
          <a:xfrm flipH="1">
            <a:off x="6897374" y="2824480"/>
            <a:ext cx="717546" cy="846170"/>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F03CECD2-6F04-C56D-F413-F8E46E3314D7}"/>
              </a:ext>
            </a:extLst>
          </p:cNvPr>
          <p:cNvPicPr>
            <a:picLocks noChangeAspect="1"/>
          </p:cNvPicPr>
          <p:nvPr/>
        </p:nvPicPr>
        <p:blipFill>
          <a:blip r:embed="rId7"/>
          <a:stretch>
            <a:fillRect/>
          </a:stretch>
        </p:blipFill>
        <p:spPr>
          <a:xfrm>
            <a:off x="7105188" y="2003593"/>
            <a:ext cx="1933575" cy="228600"/>
          </a:xfrm>
          <a:prstGeom prst="rect">
            <a:avLst/>
          </a:prstGeom>
        </p:spPr>
      </p:pic>
    </p:spTree>
    <p:extLst>
      <p:ext uri="{BB962C8B-B14F-4D97-AF65-F5344CB8AC3E}">
        <p14:creationId xmlns:p14="http://schemas.microsoft.com/office/powerpoint/2010/main" val="2905564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2248783" y="469227"/>
            <a:ext cx="4281054" cy="712830"/>
          </a:xfrm>
          <a:prstGeom prst="rect">
            <a:avLst/>
          </a:prstGeom>
        </p:spPr>
        <p:txBody>
          <a:bodyPr spcFirstLastPara="1" wrap="square" lIns="91425" tIns="91425" rIns="91425" bIns="91425" anchor="t" anchorCtr="0">
            <a:noAutofit/>
          </a:bodyPr>
          <a:lstStyle/>
          <a:p>
            <a:pPr lvl="0" algn="ctr"/>
            <a:r>
              <a:rPr lang="ca-ES" sz="2800" dirty="0"/>
              <a:t>Lògica de control</a:t>
            </a:r>
          </a:p>
        </p:txBody>
      </p:sp>
      <p:sp>
        <p:nvSpPr>
          <p:cNvPr id="566" name="Google Shape;566;p68"/>
          <p:cNvSpPr txBox="1">
            <a:spLocks noGrp="1"/>
          </p:cNvSpPr>
          <p:nvPr>
            <p:ph type="subTitle" idx="1"/>
          </p:nvPr>
        </p:nvSpPr>
        <p:spPr>
          <a:xfrm>
            <a:off x="630381" y="1288473"/>
            <a:ext cx="7883237" cy="339436"/>
          </a:xfrm>
          <a:prstGeom prst="rect">
            <a:avLst/>
          </a:prstGeom>
        </p:spPr>
        <p:txBody>
          <a:bodyPr spcFirstLastPara="1" wrap="square" lIns="91425" tIns="91425" rIns="91425" bIns="91425" anchor="t" anchorCtr="0">
            <a:noAutofit/>
          </a:bodyPr>
          <a:lstStyle/>
          <a:p>
            <a:pPr marL="0" lvl="0" indent="0"/>
            <a:r>
              <a:rPr lang="ca-ES" dirty="0"/>
              <a:t>Hem trobat que els demux no se solen vendre -&gt; Sol: Decodificador 74138 amb una porta and en el </a:t>
            </a:r>
            <a:r>
              <a:rPr lang="ca-ES" dirty="0" err="1"/>
              <a:t>enable</a:t>
            </a:r>
            <a:r>
              <a:rPr lang="ca-ES" dirty="0"/>
              <a:t>.</a:t>
            </a:r>
          </a:p>
        </p:txBody>
      </p:sp>
      <p:sp>
        <p:nvSpPr>
          <p:cNvPr id="6" name="Google Shape;1172;p101">
            <a:extLst>
              <a:ext uri="{FF2B5EF4-FFF2-40B4-BE49-F238E27FC236}">
                <a16:creationId xmlns:a16="http://schemas.microsoft.com/office/drawing/2014/main" id="{D03CFB13-C0D6-424B-F773-F02FBA4451C7}"/>
              </a:ext>
            </a:extLst>
          </p:cNvPr>
          <p:cNvSpPr txBox="1"/>
          <p:nvPr/>
        </p:nvSpPr>
        <p:spPr>
          <a:xfrm>
            <a:off x="2851555" y="1205380"/>
            <a:ext cx="475029" cy="66635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en" sz="3200" dirty="0">
              <a:solidFill>
                <a:schemeClr val="dk1"/>
              </a:solidFill>
              <a:latin typeface="Vidaloka"/>
              <a:ea typeface="Vidaloka"/>
              <a:cs typeface="Vidaloka"/>
              <a:sym typeface="Vidaloka"/>
            </a:endParaRPr>
          </a:p>
        </p:txBody>
      </p:sp>
      <p:pic>
        <p:nvPicPr>
          <p:cNvPr id="3" name="Picture 2">
            <a:extLst>
              <a:ext uri="{FF2B5EF4-FFF2-40B4-BE49-F238E27FC236}">
                <a16:creationId xmlns:a16="http://schemas.microsoft.com/office/drawing/2014/main" id="{E35D9A22-F45C-BA8A-B7FA-0EF7154F0E47}"/>
              </a:ext>
            </a:extLst>
          </p:cNvPr>
          <p:cNvPicPr>
            <a:picLocks noChangeAspect="1"/>
          </p:cNvPicPr>
          <p:nvPr/>
        </p:nvPicPr>
        <p:blipFill>
          <a:blip r:embed="rId3"/>
          <a:stretch>
            <a:fillRect/>
          </a:stretch>
        </p:blipFill>
        <p:spPr>
          <a:xfrm>
            <a:off x="775854" y="1954823"/>
            <a:ext cx="5326375" cy="2324701"/>
          </a:xfrm>
          <a:prstGeom prst="rect">
            <a:avLst/>
          </a:prstGeom>
        </p:spPr>
      </p:pic>
      <p:pic>
        <p:nvPicPr>
          <p:cNvPr id="7" name="Picture 6">
            <a:extLst>
              <a:ext uri="{FF2B5EF4-FFF2-40B4-BE49-F238E27FC236}">
                <a16:creationId xmlns:a16="http://schemas.microsoft.com/office/drawing/2014/main" id="{7603350B-ACB3-AFB0-DB03-B566DAD259C8}"/>
              </a:ext>
            </a:extLst>
          </p:cNvPr>
          <p:cNvPicPr>
            <a:picLocks noChangeAspect="1"/>
          </p:cNvPicPr>
          <p:nvPr/>
        </p:nvPicPr>
        <p:blipFill>
          <a:blip r:embed="rId4"/>
          <a:stretch>
            <a:fillRect/>
          </a:stretch>
        </p:blipFill>
        <p:spPr>
          <a:xfrm>
            <a:off x="6292561" y="2206206"/>
            <a:ext cx="1846821" cy="2073318"/>
          </a:xfrm>
          <a:prstGeom prst="rect">
            <a:avLst/>
          </a:prstGeom>
        </p:spPr>
      </p:pic>
    </p:spTree>
    <p:extLst>
      <p:ext uri="{BB962C8B-B14F-4D97-AF65-F5344CB8AC3E}">
        <p14:creationId xmlns:p14="http://schemas.microsoft.com/office/powerpoint/2010/main" val="1218785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2248783" y="469227"/>
            <a:ext cx="4281054" cy="712830"/>
          </a:xfrm>
          <a:prstGeom prst="rect">
            <a:avLst/>
          </a:prstGeom>
        </p:spPr>
        <p:txBody>
          <a:bodyPr spcFirstLastPara="1" wrap="square" lIns="91425" tIns="91425" rIns="91425" bIns="91425" anchor="t" anchorCtr="0">
            <a:noAutofit/>
          </a:bodyPr>
          <a:lstStyle/>
          <a:p>
            <a:pPr lvl="0" algn="ctr"/>
            <a:r>
              <a:rPr lang="ca-ES" sz="2800" dirty="0"/>
              <a:t>Lògica de control</a:t>
            </a:r>
          </a:p>
        </p:txBody>
      </p:sp>
      <p:sp>
        <p:nvSpPr>
          <p:cNvPr id="566" name="Google Shape;566;p68"/>
          <p:cNvSpPr txBox="1">
            <a:spLocks noGrp="1"/>
          </p:cNvSpPr>
          <p:nvPr>
            <p:ph type="subTitle" idx="1"/>
          </p:nvPr>
        </p:nvSpPr>
        <p:spPr>
          <a:xfrm>
            <a:off x="630381" y="1182057"/>
            <a:ext cx="7883237" cy="1056176"/>
          </a:xfrm>
          <a:prstGeom prst="rect">
            <a:avLst/>
          </a:prstGeom>
        </p:spPr>
        <p:txBody>
          <a:bodyPr spcFirstLastPara="1" wrap="square" lIns="91425" tIns="91425" rIns="91425" bIns="91425" anchor="t" anchorCtr="0">
            <a:noAutofit/>
          </a:bodyPr>
          <a:lstStyle/>
          <a:p>
            <a:pPr marL="0" lvl="0" indent="0"/>
            <a:endParaRPr lang="ca-ES" dirty="0"/>
          </a:p>
          <a:p>
            <a:pPr marL="0" lvl="0" indent="0"/>
            <a:r>
              <a:rPr lang="ca-ES" dirty="0"/>
              <a:t>Lògica de control:  Els Blocs </a:t>
            </a:r>
            <a:r>
              <a:rPr lang="ca-ES" b="1" dirty="0"/>
              <a:t>A4_Rellotge_Intern </a:t>
            </a:r>
            <a:r>
              <a:rPr lang="ca-ES" dirty="0"/>
              <a:t>i </a:t>
            </a:r>
            <a:r>
              <a:rPr lang="ca-ES" b="1" dirty="0"/>
              <a:t>A3_Temp_Hores_Minuts</a:t>
            </a:r>
            <a:r>
              <a:rPr lang="ca-ES" dirty="0"/>
              <a:t> tenen sortides de 16B que es compararan dins del bloc </a:t>
            </a:r>
            <a:r>
              <a:rPr lang="ca-ES" b="1" dirty="0"/>
              <a:t>A6_Logica_Contol</a:t>
            </a:r>
            <a:r>
              <a:rPr lang="ca-ES" dirty="0"/>
              <a:t>.</a:t>
            </a:r>
          </a:p>
        </p:txBody>
      </p:sp>
      <p:sp>
        <p:nvSpPr>
          <p:cNvPr id="6" name="Google Shape;1172;p101">
            <a:extLst>
              <a:ext uri="{FF2B5EF4-FFF2-40B4-BE49-F238E27FC236}">
                <a16:creationId xmlns:a16="http://schemas.microsoft.com/office/drawing/2014/main" id="{D03CFB13-C0D6-424B-F773-F02FBA4451C7}"/>
              </a:ext>
            </a:extLst>
          </p:cNvPr>
          <p:cNvSpPr txBox="1"/>
          <p:nvPr/>
        </p:nvSpPr>
        <p:spPr>
          <a:xfrm>
            <a:off x="2851555" y="1205380"/>
            <a:ext cx="475029" cy="66635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en" sz="3200" dirty="0">
              <a:solidFill>
                <a:schemeClr val="dk1"/>
              </a:solidFill>
              <a:latin typeface="Vidaloka"/>
              <a:ea typeface="Vidaloka"/>
              <a:cs typeface="Vidaloka"/>
              <a:sym typeface="Vidaloka"/>
            </a:endParaRPr>
          </a:p>
        </p:txBody>
      </p:sp>
      <p:pic>
        <p:nvPicPr>
          <p:cNvPr id="23" name="Picture 22">
            <a:extLst>
              <a:ext uri="{FF2B5EF4-FFF2-40B4-BE49-F238E27FC236}">
                <a16:creationId xmlns:a16="http://schemas.microsoft.com/office/drawing/2014/main" id="{F03CECD2-6F04-C56D-F413-F8E46E3314D7}"/>
              </a:ext>
            </a:extLst>
          </p:cNvPr>
          <p:cNvPicPr>
            <a:picLocks noChangeAspect="1"/>
          </p:cNvPicPr>
          <p:nvPr/>
        </p:nvPicPr>
        <p:blipFill>
          <a:blip r:embed="rId3"/>
          <a:stretch>
            <a:fillRect/>
          </a:stretch>
        </p:blipFill>
        <p:spPr>
          <a:xfrm>
            <a:off x="6891828" y="1757430"/>
            <a:ext cx="1933575" cy="228600"/>
          </a:xfrm>
          <a:prstGeom prst="rect">
            <a:avLst/>
          </a:prstGeom>
        </p:spPr>
      </p:pic>
      <p:pic>
        <p:nvPicPr>
          <p:cNvPr id="3" name="Picture 2">
            <a:extLst>
              <a:ext uri="{FF2B5EF4-FFF2-40B4-BE49-F238E27FC236}">
                <a16:creationId xmlns:a16="http://schemas.microsoft.com/office/drawing/2014/main" id="{0CB02370-9E2C-9F6E-DA43-9CE9A59E54B2}"/>
              </a:ext>
            </a:extLst>
          </p:cNvPr>
          <p:cNvPicPr>
            <a:picLocks noChangeAspect="1"/>
          </p:cNvPicPr>
          <p:nvPr/>
        </p:nvPicPr>
        <p:blipFill>
          <a:blip r:embed="rId4"/>
          <a:stretch>
            <a:fillRect/>
          </a:stretch>
        </p:blipFill>
        <p:spPr>
          <a:xfrm>
            <a:off x="4232069" y="2168372"/>
            <a:ext cx="3554730" cy="24353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33FE0E14-DB34-42C8-7770-682C38C5F7F3}"/>
              </a:ext>
            </a:extLst>
          </p:cNvPr>
          <p:cNvPicPr>
            <a:picLocks noChangeAspect="1"/>
          </p:cNvPicPr>
          <p:nvPr/>
        </p:nvPicPr>
        <p:blipFill>
          <a:blip r:embed="rId5"/>
          <a:stretch>
            <a:fillRect/>
          </a:stretch>
        </p:blipFill>
        <p:spPr>
          <a:xfrm>
            <a:off x="778758" y="1986030"/>
            <a:ext cx="2940050" cy="1461135"/>
          </a:xfrm>
          <a:prstGeom prst="rect">
            <a:avLst/>
          </a:prstGeom>
        </p:spPr>
      </p:pic>
      <p:pic>
        <p:nvPicPr>
          <p:cNvPr id="7" name="Picture 6">
            <a:extLst>
              <a:ext uri="{FF2B5EF4-FFF2-40B4-BE49-F238E27FC236}">
                <a16:creationId xmlns:a16="http://schemas.microsoft.com/office/drawing/2014/main" id="{A0A851A0-7CE7-97AB-DA90-53175ADEBE2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8758" y="3660775"/>
            <a:ext cx="1362075" cy="824230"/>
          </a:xfrm>
          <a:prstGeom prst="rect">
            <a:avLst/>
          </a:prstGeom>
        </p:spPr>
      </p:pic>
      <p:pic>
        <p:nvPicPr>
          <p:cNvPr id="8" name="Picture 7">
            <a:extLst>
              <a:ext uri="{FF2B5EF4-FFF2-40B4-BE49-F238E27FC236}">
                <a16:creationId xmlns:a16="http://schemas.microsoft.com/office/drawing/2014/main" id="{29A89679-4A0F-C87F-7ACC-C06861C913C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490741" y="3629507"/>
            <a:ext cx="1482655" cy="11403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55759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2248783" y="469227"/>
            <a:ext cx="4281054" cy="712830"/>
          </a:xfrm>
          <a:prstGeom prst="rect">
            <a:avLst/>
          </a:prstGeom>
        </p:spPr>
        <p:txBody>
          <a:bodyPr spcFirstLastPara="1" wrap="square" lIns="91425" tIns="91425" rIns="91425" bIns="91425" anchor="t" anchorCtr="0">
            <a:noAutofit/>
          </a:bodyPr>
          <a:lstStyle/>
          <a:p>
            <a:pPr lvl="0" algn="ctr"/>
            <a:r>
              <a:rPr lang="ca-ES" sz="2800" dirty="0"/>
              <a:t>Sistema de reg</a:t>
            </a:r>
          </a:p>
        </p:txBody>
      </p:sp>
      <p:sp>
        <p:nvSpPr>
          <p:cNvPr id="566" name="Google Shape;566;p68"/>
          <p:cNvSpPr txBox="1">
            <a:spLocks noGrp="1"/>
          </p:cNvSpPr>
          <p:nvPr>
            <p:ph type="subTitle" idx="1"/>
          </p:nvPr>
        </p:nvSpPr>
        <p:spPr>
          <a:xfrm>
            <a:off x="630382" y="1396802"/>
            <a:ext cx="7883237" cy="4027253"/>
          </a:xfrm>
          <a:prstGeom prst="rect">
            <a:avLst/>
          </a:prstGeom>
        </p:spPr>
        <p:txBody>
          <a:bodyPr spcFirstLastPara="1" wrap="square" lIns="91425" tIns="91425" rIns="91425" bIns="91425" anchor="t" anchorCtr="0">
            <a:noAutofit/>
          </a:bodyPr>
          <a:lstStyle/>
          <a:p>
            <a:pPr marL="0" lvl="0" indent="0"/>
            <a:endParaRPr lang="ca-ES" dirty="0"/>
          </a:p>
          <a:p>
            <a:pPr marL="0" lvl="0" indent="0"/>
            <a:endParaRPr lang="ca-ES" dirty="0"/>
          </a:p>
        </p:txBody>
      </p:sp>
      <p:pic>
        <p:nvPicPr>
          <p:cNvPr id="4" name="Picture 3">
            <a:extLst>
              <a:ext uri="{FF2B5EF4-FFF2-40B4-BE49-F238E27FC236}">
                <a16:creationId xmlns:a16="http://schemas.microsoft.com/office/drawing/2014/main" id="{43D61088-1851-8364-D18B-CF486E33640C}"/>
              </a:ext>
            </a:extLst>
          </p:cNvPr>
          <p:cNvPicPr>
            <a:picLocks noChangeAspect="1"/>
          </p:cNvPicPr>
          <p:nvPr/>
        </p:nvPicPr>
        <p:blipFill>
          <a:blip r:embed="rId3"/>
          <a:stretch>
            <a:fillRect/>
          </a:stretch>
        </p:blipFill>
        <p:spPr>
          <a:xfrm>
            <a:off x="1614055" y="1186093"/>
            <a:ext cx="5550510" cy="34836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34690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997528" y="683972"/>
            <a:ext cx="7516090" cy="712830"/>
          </a:xfrm>
          <a:prstGeom prst="rect">
            <a:avLst/>
          </a:prstGeom>
        </p:spPr>
        <p:txBody>
          <a:bodyPr spcFirstLastPara="1" wrap="square" lIns="91425" tIns="91425" rIns="91425" bIns="91425" anchor="t" anchorCtr="0">
            <a:noAutofit/>
          </a:bodyPr>
          <a:lstStyle/>
          <a:p>
            <a:pPr lvl="0"/>
            <a:r>
              <a:rPr lang="ca-ES" sz="2800" dirty="0"/>
              <a:t>Sistema de control de temperatura i humitat</a:t>
            </a:r>
            <a:endParaRPr sz="2800" dirty="0"/>
          </a:p>
        </p:txBody>
      </p:sp>
      <p:sp>
        <p:nvSpPr>
          <p:cNvPr id="566" name="Google Shape;566;p68"/>
          <p:cNvSpPr txBox="1">
            <a:spLocks noGrp="1"/>
          </p:cNvSpPr>
          <p:nvPr>
            <p:ph type="subTitle" idx="1"/>
          </p:nvPr>
        </p:nvSpPr>
        <p:spPr>
          <a:xfrm>
            <a:off x="1124341" y="1396802"/>
            <a:ext cx="4545000" cy="4027253"/>
          </a:xfrm>
          <a:prstGeom prst="rect">
            <a:avLst/>
          </a:prstGeom>
        </p:spPr>
        <p:txBody>
          <a:bodyPr spcFirstLastPara="1" wrap="square" lIns="91425" tIns="91425" rIns="91425" bIns="91425" anchor="t" anchorCtr="0">
            <a:noAutofit/>
          </a:bodyPr>
          <a:lstStyle/>
          <a:p>
            <a:pPr marL="0" lvl="0" indent="0"/>
            <a:r>
              <a:rPr lang="ca-ES" dirty="0"/>
              <a:t>Sistema de control de temperatura i humitat: Ha de permetre configurar els nivells d'humitat i temperatura en el jardí interior:</a:t>
            </a:r>
          </a:p>
          <a:p>
            <a:pPr marL="0" lvl="0" indent="0"/>
            <a:endParaRPr lang="ca-ES" dirty="0"/>
          </a:p>
          <a:p>
            <a:pPr marL="285750" indent="-285750">
              <a:buFont typeface="Arial" panose="020B0604020202020204" pitchFamily="34" charset="0"/>
              <a:buChar char="•"/>
            </a:pPr>
            <a:r>
              <a:rPr lang="ca-ES" dirty="0"/>
              <a:t>Un nivell baix d'humitat activarà un humidificador fins a arribar al llindar programat, en la seva contrapart un deshumidificador.</a:t>
            </a:r>
          </a:p>
          <a:p>
            <a:pPr marL="0" indent="0"/>
            <a:endParaRPr lang="ca-ES" dirty="0"/>
          </a:p>
          <a:p>
            <a:pPr marL="285750" indent="-285750">
              <a:buFont typeface="Arial" panose="020B0604020202020204" pitchFamily="34" charset="0"/>
              <a:buChar char="•"/>
            </a:pPr>
            <a:r>
              <a:rPr lang="ca-ES" dirty="0"/>
              <a:t>Un nivell alt de temperatura activarà el sistema d'aire condicionat fins a assolir la temperatura programada (Ventilador / Calefactor).</a:t>
            </a:r>
          </a:p>
        </p:txBody>
      </p:sp>
      <p:pic>
        <p:nvPicPr>
          <p:cNvPr id="6" name="Picture 5">
            <a:extLst>
              <a:ext uri="{FF2B5EF4-FFF2-40B4-BE49-F238E27FC236}">
                <a16:creationId xmlns:a16="http://schemas.microsoft.com/office/drawing/2014/main" id="{43E0609C-E2E8-F76C-9659-3DBC8B7C932C}"/>
              </a:ext>
            </a:extLst>
          </p:cNvPr>
          <p:cNvPicPr>
            <a:picLocks noChangeAspect="1"/>
          </p:cNvPicPr>
          <p:nvPr/>
        </p:nvPicPr>
        <p:blipFill rotWithShape="1">
          <a:blip r:embed="rId3"/>
          <a:srcRect l="30280"/>
          <a:stretch/>
        </p:blipFill>
        <p:spPr>
          <a:xfrm>
            <a:off x="5669341" y="1890382"/>
            <a:ext cx="2306782" cy="22075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1554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997528" y="683972"/>
            <a:ext cx="7516090" cy="712830"/>
          </a:xfrm>
          <a:prstGeom prst="rect">
            <a:avLst/>
          </a:prstGeom>
        </p:spPr>
        <p:txBody>
          <a:bodyPr spcFirstLastPara="1" wrap="square" lIns="91425" tIns="91425" rIns="91425" bIns="91425" anchor="t" anchorCtr="0">
            <a:noAutofit/>
          </a:bodyPr>
          <a:lstStyle/>
          <a:p>
            <a:pPr lvl="0"/>
            <a:r>
              <a:rPr lang="ca-ES" sz="2800" dirty="0"/>
              <a:t>Sistema de control de temperatura i humitat</a:t>
            </a:r>
            <a:endParaRPr sz="2800" dirty="0"/>
          </a:p>
        </p:txBody>
      </p:sp>
      <p:sp>
        <p:nvSpPr>
          <p:cNvPr id="566" name="Google Shape;566;p68"/>
          <p:cNvSpPr txBox="1">
            <a:spLocks noGrp="1"/>
          </p:cNvSpPr>
          <p:nvPr>
            <p:ph type="subTitle" idx="1"/>
          </p:nvPr>
        </p:nvSpPr>
        <p:spPr>
          <a:xfrm>
            <a:off x="914401" y="1396802"/>
            <a:ext cx="7599218" cy="4027253"/>
          </a:xfrm>
          <a:prstGeom prst="rect">
            <a:avLst/>
          </a:prstGeom>
        </p:spPr>
        <p:txBody>
          <a:bodyPr spcFirstLastPara="1" wrap="square" lIns="91425" tIns="91425" rIns="91425" bIns="91425" anchor="t" anchorCtr="0">
            <a:noAutofit/>
          </a:bodyPr>
          <a:lstStyle/>
          <a:p>
            <a:pPr marL="0" lvl="0" indent="0"/>
            <a:r>
              <a:rPr lang="ca-ES" b="1" dirty="0"/>
              <a:t>Simulació: </a:t>
            </a:r>
            <a:r>
              <a:rPr lang="ca-ES" dirty="0"/>
              <a:t>Si tenim una temperatura/humitat actual i una temperatura/humitat objectiu (Termòstat) diferents encendrem els diferents dispositius de regulació i cada 3s actualitzarem la temperatura/humitat real fins que siguin iguals.</a:t>
            </a:r>
            <a:br>
              <a:rPr lang="ca-ES" dirty="0"/>
            </a:br>
            <a:br>
              <a:rPr lang="ca-ES" dirty="0"/>
            </a:br>
            <a:endParaRPr lang="ca-ES" dirty="0"/>
          </a:p>
        </p:txBody>
      </p:sp>
      <p:pic>
        <p:nvPicPr>
          <p:cNvPr id="3" name="Picture 2">
            <a:extLst>
              <a:ext uri="{FF2B5EF4-FFF2-40B4-BE49-F238E27FC236}">
                <a16:creationId xmlns:a16="http://schemas.microsoft.com/office/drawing/2014/main" id="{D3A1EBE8-BCF3-F41E-6156-94A5A2E99645}"/>
              </a:ext>
            </a:extLst>
          </p:cNvPr>
          <p:cNvPicPr>
            <a:picLocks noChangeAspect="1"/>
          </p:cNvPicPr>
          <p:nvPr/>
        </p:nvPicPr>
        <p:blipFill>
          <a:blip r:embed="rId3"/>
          <a:stretch>
            <a:fillRect/>
          </a:stretch>
        </p:blipFill>
        <p:spPr>
          <a:xfrm>
            <a:off x="1239408" y="2571750"/>
            <a:ext cx="6145064" cy="2117515"/>
          </a:xfrm>
          <a:prstGeom prst="rect">
            <a:avLst/>
          </a:prstGeom>
        </p:spPr>
      </p:pic>
    </p:spTree>
    <p:extLst>
      <p:ext uri="{BB962C8B-B14F-4D97-AF65-F5344CB8AC3E}">
        <p14:creationId xmlns:p14="http://schemas.microsoft.com/office/powerpoint/2010/main" val="2228162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997528" y="683972"/>
            <a:ext cx="7516090" cy="712830"/>
          </a:xfrm>
          <a:prstGeom prst="rect">
            <a:avLst/>
          </a:prstGeom>
        </p:spPr>
        <p:txBody>
          <a:bodyPr spcFirstLastPara="1" wrap="square" lIns="91425" tIns="91425" rIns="91425" bIns="91425" anchor="t" anchorCtr="0">
            <a:noAutofit/>
          </a:bodyPr>
          <a:lstStyle/>
          <a:p>
            <a:pPr lvl="0"/>
            <a:r>
              <a:rPr lang="ca-ES" sz="2800" dirty="0"/>
              <a:t>Sistema de control de temperatura i humitat</a:t>
            </a:r>
            <a:endParaRPr sz="2800" dirty="0"/>
          </a:p>
        </p:txBody>
      </p:sp>
      <p:sp>
        <p:nvSpPr>
          <p:cNvPr id="566" name="Google Shape;566;p68"/>
          <p:cNvSpPr txBox="1">
            <a:spLocks noGrp="1"/>
          </p:cNvSpPr>
          <p:nvPr>
            <p:ph type="subTitle" idx="1"/>
          </p:nvPr>
        </p:nvSpPr>
        <p:spPr>
          <a:xfrm>
            <a:off x="914401" y="1396802"/>
            <a:ext cx="7599218" cy="4027253"/>
          </a:xfrm>
          <a:prstGeom prst="rect">
            <a:avLst/>
          </a:prstGeom>
        </p:spPr>
        <p:txBody>
          <a:bodyPr spcFirstLastPara="1" wrap="square" lIns="91425" tIns="91425" rIns="91425" bIns="91425" anchor="t" anchorCtr="0">
            <a:noAutofit/>
          </a:bodyPr>
          <a:lstStyle/>
          <a:p>
            <a:pPr marL="0" lvl="0" indent="0"/>
            <a:endParaRPr lang="ca-ES" dirty="0"/>
          </a:p>
          <a:p>
            <a:pPr marL="0" lvl="0" indent="0"/>
            <a:endParaRPr lang="ca-ES" dirty="0"/>
          </a:p>
        </p:txBody>
      </p:sp>
      <p:pic>
        <p:nvPicPr>
          <p:cNvPr id="3" name="Picture 2">
            <a:extLst>
              <a:ext uri="{FF2B5EF4-FFF2-40B4-BE49-F238E27FC236}">
                <a16:creationId xmlns:a16="http://schemas.microsoft.com/office/drawing/2014/main" id="{B11D8E46-A510-84C3-78A2-DFBC895E81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511" y="1329400"/>
            <a:ext cx="4752109" cy="2893405"/>
          </a:xfrm>
          <a:prstGeom prst="rect">
            <a:avLst/>
          </a:prstGeom>
        </p:spPr>
      </p:pic>
      <p:pic>
        <p:nvPicPr>
          <p:cNvPr id="4" name="Picture 3">
            <a:extLst>
              <a:ext uri="{FF2B5EF4-FFF2-40B4-BE49-F238E27FC236}">
                <a16:creationId xmlns:a16="http://schemas.microsoft.com/office/drawing/2014/main" id="{C57F9C0D-CFE5-22A2-5EBC-4C23103B38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6094" y="3663848"/>
            <a:ext cx="2322830" cy="895350"/>
          </a:xfrm>
          <a:prstGeom prst="rect">
            <a:avLst/>
          </a:prstGeom>
        </p:spPr>
      </p:pic>
      <p:pic>
        <p:nvPicPr>
          <p:cNvPr id="5" name="Picture 4">
            <a:extLst>
              <a:ext uri="{FF2B5EF4-FFF2-40B4-BE49-F238E27FC236}">
                <a16:creationId xmlns:a16="http://schemas.microsoft.com/office/drawing/2014/main" id="{AA8C4331-F47C-204B-F4A5-03BD429616DA}"/>
              </a:ext>
            </a:extLst>
          </p:cNvPr>
          <p:cNvPicPr>
            <a:picLocks noChangeAspect="1"/>
          </p:cNvPicPr>
          <p:nvPr/>
        </p:nvPicPr>
        <p:blipFill>
          <a:blip r:embed="rId5"/>
          <a:stretch>
            <a:fillRect/>
          </a:stretch>
        </p:blipFill>
        <p:spPr>
          <a:xfrm>
            <a:off x="5320036" y="2109632"/>
            <a:ext cx="3193582" cy="1153579"/>
          </a:xfrm>
          <a:prstGeom prst="rect">
            <a:avLst/>
          </a:prstGeom>
        </p:spPr>
      </p:pic>
    </p:spTree>
    <p:extLst>
      <p:ext uri="{BB962C8B-B14F-4D97-AF65-F5344CB8AC3E}">
        <p14:creationId xmlns:p14="http://schemas.microsoft.com/office/powerpoint/2010/main" val="3855931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997528" y="683972"/>
            <a:ext cx="7516090" cy="712830"/>
          </a:xfrm>
          <a:prstGeom prst="rect">
            <a:avLst/>
          </a:prstGeom>
        </p:spPr>
        <p:txBody>
          <a:bodyPr spcFirstLastPara="1" wrap="square" lIns="91425" tIns="91425" rIns="91425" bIns="91425" anchor="t" anchorCtr="0">
            <a:noAutofit/>
          </a:bodyPr>
          <a:lstStyle/>
          <a:p>
            <a:pPr lvl="0"/>
            <a:r>
              <a:rPr lang="ca-ES" sz="2800" dirty="0"/>
              <a:t>Sistema de control de temperatura i humitat</a:t>
            </a:r>
            <a:endParaRPr sz="2800" dirty="0"/>
          </a:p>
        </p:txBody>
      </p:sp>
      <p:sp>
        <p:nvSpPr>
          <p:cNvPr id="566" name="Google Shape;566;p68"/>
          <p:cNvSpPr txBox="1">
            <a:spLocks noGrp="1"/>
          </p:cNvSpPr>
          <p:nvPr>
            <p:ph type="subTitle" idx="1"/>
          </p:nvPr>
        </p:nvSpPr>
        <p:spPr>
          <a:xfrm>
            <a:off x="630382" y="1396802"/>
            <a:ext cx="7883237" cy="4027253"/>
          </a:xfrm>
          <a:prstGeom prst="rect">
            <a:avLst/>
          </a:prstGeom>
        </p:spPr>
        <p:txBody>
          <a:bodyPr spcFirstLastPara="1" wrap="square" lIns="91425" tIns="91425" rIns="91425" bIns="91425" anchor="t" anchorCtr="0">
            <a:noAutofit/>
          </a:bodyPr>
          <a:lstStyle/>
          <a:p>
            <a:pPr marL="0" lvl="0" indent="0"/>
            <a:r>
              <a:rPr lang="ca-ES" dirty="0"/>
              <a:t>En els dos modes la sortida és binària i la volem expressar en BCD hem implementat</a:t>
            </a:r>
            <a:r>
              <a:rPr lang="ca-ES" b="1" dirty="0"/>
              <a:t> l’algoritme Double Dabble </a:t>
            </a:r>
            <a:r>
              <a:rPr lang="ca-ES" dirty="0"/>
              <a:t>explicat en wikipèdia: </a:t>
            </a:r>
            <a:r>
              <a:rPr lang="ca-ES" u="sng" dirty="0">
                <a:solidFill>
                  <a:schemeClr val="tx2">
                    <a:lumMod val="50000"/>
                  </a:schemeClr>
                </a:solidFill>
                <a:hlinkClick r:id="rId3">
                  <a:extLst>
                    <a:ext uri="{A12FA001-AC4F-418D-AE19-62706E023703}">
                      <ahyp:hlinkClr xmlns:ahyp="http://schemas.microsoft.com/office/drawing/2018/hyperlinkcolor" val="tx"/>
                    </a:ext>
                  </a:extLst>
                </a:hlinkClick>
              </a:rPr>
              <a:t>https://en.wikipedia.org/wiki/Double_dabble</a:t>
            </a:r>
            <a:r>
              <a:rPr lang="ca-ES" dirty="0"/>
              <a:t>:</a:t>
            </a:r>
          </a:p>
          <a:p>
            <a:pPr marL="0" lvl="0" indent="0"/>
            <a:endParaRPr lang="ca-ES" dirty="0"/>
          </a:p>
          <a:p>
            <a:pPr marL="0" lvl="0" indent="0"/>
            <a:endParaRPr lang="ca-ES" dirty="0"/>
          </a:p>
        </p:txBody>
      </p:sp>
      <p:pic>
        <p:nvPicPr>
          <p:cNvPr id="4" name="Picture 3">
            <a:extLst>
              <a:ext uri="{FF2B5EF4-FFF2-40B4-BE49-F238E27FC236}">
                <a16:creationId xmlns:a16="http://schemas.microsoft.com/office/drawing/2014/main" id="{A3D95072-3607-D4C6-6ABD-B38C830E88DE}"/>
              </a:ext>
            </a:extLst>
          </p:cNvPr>
          <p:cNvPicPr>
            <a:picLocks noChangeAspect="1"/>
          </p:cNvPicPr>
          <p:nvPr/>
        </p:nvPicPr>
        <p:blipFill>
          <a:blip r:embed="rId4"/>
          <a:stretch>
            <a:fillRect/>
          </a:stretch>
        </p:blipFill>
        <p:spPr>
          <a:xfrm>
            <a:off x="1382856" y="2210016"/>
            <a:ext cx="5980834" cy="1998302"/>
          </a:xfrm>
          <a:prstGeom prst="rect">
            <a:avLst/>
          </a:prstGeom>
        </p:spPr>
      </p:pic>
    </p:spTree>
    <p:extLst>
      <p:ext uri="{BB962C8B-B14F-4D97-AF65-F5344CB8AC3E}">
        <p14:creationId xmlns:p14="http://schemas.microsoft.com/office/powerpoint/2010/main" val="40525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997528" y="683972"/>
            <a:ext cx="7516090" cy="712830"/>
          </a:xfrm>
          <a:prstGeom prst="rect">
            <a:avLst/>
          </a:prstGeom>
        </p:spPr>
        <p:txBody>
          <a:bodyPr spcFirstLastPara="1" wrap="square" lIns="91425" tIns="91425" rIns="91425" bIns="91425" anchor="t" anchorCtr="0">
            <a:noAutofit/>
          </a:bodyPr>
          <a:lstStyle/>
          <a:p>
            <a:pPr lvl="0"/>
            <a:r>
              <a:rPr lang="ca-ES" sz="2800" dirty="0"/>
              <a:t>Sistema de control de temperatura i humitat</a:t>
            </a:r>
            <a:endParaRPr sz="2800" dirty="0"/>
          </a:p>
        </p:txBody>
      </p:sp>
      <p:sp>
        <p:nvSpPr>
          <p:cNvPr id="566" name="Google Shape;566;p68"/>
          <p:cNvSpPr txBox="1">
            <a:spLocks noGrp="1"/>
          </p:cNvSpPr>
          <p:nvPr>
            <p:ph type="subTitle" idx="1"/>
          </p:nvPr>
        </p:nvSpPr>
        <p:spPr>
          <a:xfrm>
            <a:off x="630382" y="1396802"/>
            <a:ext cx="7883237" cy="4027253"/>
          </a:xfrm>
          <a:prstGeom prst="rect">
            <a:avLst/>
          </a:prstGeom>
        </p:spPr>
        <p:txBody>
          <a:bodyPr spcFirstLastPara="1" wrap="square" lIns="91425" tIns="91425" rIns="91425" bIns="91425" anchor="t" anchorCtr="0">
            <a:noAutofit/>
          </a:bodyPr>
          <a:lstStyle/>
          <a:p>
            <a:pPr marL="0" lvl="0" indent="0"/>
            <a:r>
              <a:rPr lang="ca-ES" dirty="0"/>
              <a:t>En els dos modes la sortida és binària i la volem expressar en BCD hem implementat</a:t>
            </a:r>
            <a:r>
              <a:rPr lang="ca-ES" b="1" dirty="0"/>
              <a:t> l’algoritme Double Dabble </a:t>
            </a:r>
            <a:r>
              <a:rPr lang="ca-ES" dirty="0"/>
              <a:t>explicat en wikipèdia: </a:t>
            </a:r>
            <a:r>
              <a:rPr lang="ca-ES" u="sng" dirty="0">
                <a:solidFill>
                  <a:schemeClr val="tx2">
                    <a:lumMod val="50000"/>
                  </a:schemeClr>
                </a:solidFill>
                <a:hlinkClick r:id="rId3">
                  <a:extLst>
                    <a:ext uri="{A12FA001-AC4F-418D-AE19-62706E023703}">
                      <ahyp:hlinkClr xmlns:ahyp="http://schemas.microsoft.com/office/drawing/2018/hyperlinkcolor" val="tx"/>
                    </a:ext>
                  </a:extLst>
                </a:hlinkClick>
              </a:rPr>
              <a:t>https://en.wikipedia.org/wiki/Double_dabble</a:t>
            </a:r>
            <a:r>
              <a:rPr lang="ca-ES" dirty="0"/>
              <a:t>:</a:t>
            </a:r>
          </a:p>
          <a:p>
            <a:pPr marL="0" lvl="0" indent="0"/>
            <a:endParaRPr lang="ca-ES" dirty="0"/>
          </a:p>
          <a:p>
            <a:pPr marL="0" lvl="0" indent="0"/>
            <a:endParaRPr lang="ca-ES" dirty="0"/>
          </a:p>
        </p:txBody>
      </p:sp>
      <p:pic>
        <p:nvPicPr>
          <p:cNvPr id="3" name="Picture 2">
            <a:extLst>
              <a:ext uri="{FF2B5EF4-FFF2-40B4-BE49-F238E27FC236}">
                <a16:creationId xmlns:a16="http://schemas.microsoft.com/office/drawing/2014/main" id="{D2087A7E-4C3F-2F0D-F8BF-2A15F6704DEE}"/>
              </a:ext>
            </a:extLst>
          </p:cNvPr>
          <p:cNvPicPr>
            <a:picLocks noChangeAspect="1"/>
          </p:cNvPicPr>
          <p:nvPr/>
        </p:nvPicPr>
        <p:blipFill>
          <a:blip r:embed="rId4"/>
          <a:stretch>
            <a:fillRect/>
          </a:stretch>
        </p:blipFill>
        <p:spPr>
          <a:xfrm>
            <a:off x="1807584" y="2340680"/>
            <a:ext cx="4690197" cy="2399009"/>
          </a:xfrm>
          <a:prstGeom prst="rect">
            <a:avLst/>
          </a:prstGeom>
        </p:spPr>
      </p:pic>
    </p:spTree>
    <p:extLst>
      <p:ext uri="{BB962C8B-B14F-4D97-AF65-F5344CB8AC3E}">
        <p14:creationId xmlns:p14="http://schemas.microsoft.com/office/powerpoint/2010/main" val="333557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997528" y="683972"/>
            <a:ext cx="7516090" cy="712830"/>
          </a:xfrm>
          <a:prstGeom prst="rect">
            <a:avLst/>
          </a:prstGeom>
        </p:spPr>
        <p:txBody>
          <a:bodyPr spcFirstLastPara="1" wrap="square" lIns="91425" tIns="91425" rIns="91425" bIns="91425" anchor="t" anchorCtr="0">
            <a:noAutofit/>
          </a:bodyPr>
          <a:lstStyle/>
          <a:p>
            <a:pPr lvl="0"/>
            <a:r>
              <a:rPr lang="ca-ES" sz="2800" dirty="0"/>
              <a:t>Sistema de control de temperatura i humitat</a:t>
            </a:r>
            <a:endParaRPr sz="2800" dirty="0"/>
          </a:p>
        </p:txBody>
      </p:sp>
      <p:sp>
        <p:nvSpPr>
          <p:cNvPr id="566" name="Google Shape;566;p68"/>
          <p:cNvSpPr txBox="1">
            <a:spLocks noGrp="1"/>
          </p:cNvSpPr>
          <p:nvPr>
            <p:ph type="subTitle" idx="1"/>
          </p:nvPr>
        </p:nvSpPr>
        <p:spPr>
          <a:xfrm>
            <a:off x="914401" y="1396802"/>
            <a:ext cx="7599218" cy="4027253"/>
          </a:xfrm>
          <a:prstGeom prst="rect">
            <a:avLst/>
          </a:prstGeom>
        </p:spPr>
        <p:txBody>
          <a:bodyPr spcFirstLastPara="1" wrap="square" lIns="91425" tIns="91425" rIns="91425" bIns="91425" anchor="t" anchorCtr="0">
            <a:noAutofit/>
          </a:bodyPr>
          <a:lstStyle/>
          <a:p>
            <a:pPr marL="0" lvl="0" indent="0"/>
            <a:r>
              <a:rPr lang="ca-ES" b="1" dirty="0"/>
              <a:t>Implementació: </a:t>
            </a:r>
            <a:r>
              <a:rPr lang="ca-ES" dirty="0"/>
              <a:t>Tenim les sortides de la temperatura/humitat real en binari així com els seus objectius. Amb comparadors si la temperatura/humitat real és inferior encendrem els dispositius (calefactor o humidificador). Si la temperatura/humitat real és superior, encendrem els dispositius de baixada (ventilador o deshumidificador) Cada 3 segons, actualitzarem +- 1 els valors de temperatura i humitat fins a arribar als valors programats.</a:t>
            </a:r>
          </a:p>
          <a:p>
            <a:pPr marL="0" lvl="0" indent="0"/>
            <a:endParaRPr lang="ca-ES" dirty="0"/>
          </a:p>
          <a:p>
            <a:pPr marL="0" indent="0"/>
            <a:r>
              <a:rPr lang="ca-ES" b="1" dirty="0"/>
              <a:t>Modes</a:t>
            </a:r>
            <a:r>
              <a:rPr lang="ca-ES" dirty="0"/>
              <a:t>: Els dispositius els he dissenyat de forma que siguin genèrics, es comporten de diferent manera en funció del mode.</a:t>
            </a:r>
          </a:p>
          <a:p>
            <a:pPr marL="0" lvl="0" indent="0"/>
            <a:endParaRPr lang="ca-ES" dirty="0"/>
          </a:p>
        </p:txBody>
      </p:sp>
    </p:spTree>
    <p:extLst>
      <p:ext uri="{BB962C8B-B14F-4D97-AF65-F5344CB8AC3E}">
        <p14:creationId xmlns:p14="http://schemas.microsoft.com/office/powerpoint/2010/main" val="3412920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997528" y="683972"/>
            <a:ext cx="7516090" cy="712830"/>
          </a:xfrm>
          <a:prstGeom prst="rect">
            <a:avLst/>
          </a:prstGeom>
        </p:spPr>
        <p:txBody>
          <a:bodyPr spcFirstLastPara="1" wrap="square" lIns="91425" tIns="91425" rIns="91425" bIns="91425" anchor="t" anchorCtr="0">
            <a:noAutofit/>
          </a:bodyPr>
          <a:lstStyle/>
          <a:p>
            <a:pPr lvl="0"/>
            <a:r>
              <a:rPr lang="ca-ES" sz="2800" dirty="0"/>
              <a:t>Sistema de control de temperatura i humitat</a:t>
            </a:r>
            <a:endParaRPr sz="2800" dirty="0"/>
          </a:p>
        </p:txBody>
      </p:sp>
      <p:sp>
        <p:nvSpPr>
          <p:cNvPr id="566" name="Google Shape;566;p68"/>
          <p:cNvSpPr txBox="1">
            <a:spLocks noGrp="1"/>
          </p:cNvSpPr>
          <p:nvPr>
            <p:ph type="subTitle" idx="1"/>
          </p:nvPr>
        </p:nvSpPr>
        <p:spPr>
          <a:xfrm>
            <a:off x="630382" y="1396802"/>
            <a:ext cx="7883237" cy="4027253"/>
          </a:xfrm>
          <a:prstGeom prst="rect">
            <a:avLst/>
          </a:prstGeom>
        </p:spPr>
        <p:txBody>
          <a:bodyPr spcFirstLastPara="1" wrap="square" lIns="91425" tIns="91425" rIns="91425" bIns="91425" anchor="t" anchorCtr="0">
            <a:noAutofit/>
          </a:bodyPr>
          <a:lstStyle/>
          <a:p>
            <a:pPr marL="0" lvl="0" indent="0"/>
            <a:endParaRPr lang="ca-ES" dirty="0"/>
          </a:p>
          <a:p>
            <a:pPr marL="0" lvl="0" indent="0"/>
            <a:endParaRPr lang="ca-ES" dirty="0"/>
          </a:p>
        </p:txBody>
      </p:sp>
      <p:pic>
        <p:nvPicPr>
          <p:cNvPr id="4" name="Picture 3">
            <a:extLst>
              <a:ext uri="{FF2B5EF4-FFF2-40B4-BE49-F238E27FC236}">
                <a16:creationId xmlns:a16="http://schemas.microsoft.com/office/drawing/2014/main" id="{69A385B9-4057-A4FE-467C-DEA19D128CEF}"/>
              </a:ext>
            </a:extLst>
          </p:cNvPr>
          <p:cNvPicPr>
            <a:picLocks noChangeAspect="1"/>
          </p:cNvPicPr>
          <p:nvPr/>
        </p:nvPicPr>
        <p:blipFill>
          <a:blip r:embed="rId3"/>
          <a:stretch>
            <a:fillRect/>
          </a:stretch>
        </p:blipFill>
        <p:spPr>
          <a:xfrm>
            <a:off x="927772" y="635481"/>
            <a:ext cx="7052446" cy="4035450"/>
          </a:xfrm>
          <a:prstGeom prst="rect">
            <a:avLst/>
          </a:prstGeom>
        </p:spPr>
      </p:pic>
      <p:pic>
        <p:nvPicPr>
          <p:cNvPr id="5" name="Picture 4">
            <a:extLst>
              <a:ext uri="{FF2B5EF4-FFF2-40B4-BE49-F238E27FC236}">
                <a16:creationId xmlns:a16="http://schemas.microsoft.com/office/drawing/2014/main" id="{2FA67C33-ED74-819D-B900-5581DD0E78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1005" y="3410428"/>
            <a:ext cx="1576603" cy="1314667"/>
          </a:xfrm>
          <a:prstGeom prst="rect">
            <a:avLst/>
          </a:prstGeom>
        </p:spPr>
      </p:pic>
    </p:spTree>
    <p:extLst>
      <p:ext uri="{BB962C8B-B14F-4D97-AF65-F5344CB8AC3E}">
        <p14:creationId xmlns:p14="http://schemas.microsoft.com/office/powerpoint/2010/main" val="2278122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997528" y="683972"/>
            <a:ext cx="7516090" cy="712830"/>
          </a:xfrm>
          <a:prstGeom prst="rect">
            <a:avLst/>
          </a:prstGeom>
        </p:spPr>
        <p:txBody>
          <a:bodyPr spcFirstLastPara="1" wrap="square" lIns="91425" tIns="91425" rIns="91425" bIns="91425" anchor="t" anchorCtr="0">
            <a:noAutofit/>
          </a:bodyPr>
          <a:lstStyle/>
          <a:p>
            <a:pPr lvl="0"/>
            <a:r>
              <a:rPr lang="ca-ES" sz="2800" dirty="0"/>
              <a:t>Sistema de control de temperatura i humitat</a:t>
            </a:r>
            <a:endParaRPr sz="2800" dirty="0"/>
          </a:p>
        </p:txBody>
      </p:sp>
      <p:sp>
        <p:nvSpPr>
          <p:cNvPr id="566" name="Google Shape;566;p68"/>
          <p:cNvSpPr txBox="1">
            <a:spLocks noGrp="1"/>
          </p:cNvSpPr>
          <p:nvPr>
            <p:ph type="subTitle" idx="1"/>
          </p:nvPr>
        </p:nvSpPr>
        <p:spPr>
          <a:xfrm>
            <a:off x="630382" y="1396802"/>
            <a:ext cx="7883237" cy="4027253"/>
          </a:xfrm>
          <a:prstGeom prst="rect">
            <a:avLst/>
          </a:prstGeom>
        </p:spPr>
        <p:txBody>
          <a:bodyPr spcFirstLastPara="1" wrap="square" lIns="91425" tIns="91425" rIns="91425" bIns="91425" anchor="t" anchorCtr="0">
            <a:noAutofit/>
          </a:bodyPr>
          <a:lstStyle/>
          <a:p>
            <a:pPr marL="0" lvl="0" indent="0"/>
            <a:endParaRPr lang="ca-ES" dirty="0"/>
          </a:p>
          <a:p>
            <a:pPr marL="0" lvl="0" indent="0"/>
            <a:endParaRPr lang="ca-ES" dirty="0"/>
          </a:p>
        </p:txBody>
      </p:sp>
      <p:pic>
        <p:nvPicPr>
          <p:cNvPr id="3" name="Picture 2">
            <a:extLst>
              <a:ext uri="{FF2B5EF4-FFF2-40B4-BE49-F238E27FC236}">
                <a16:creationId xmlns:a16="http://schemas.microsoft.com/office/drawing/2014/main" id="{EF4A4C73-EE7E-A340-5D7F-1A13817E4B14}"/>
              </a:ext>
            </a:extLst>
          </p:cNvPr>
          <p:cNvPicPr>
            <a:picLocks noChangeAspect="1"/>
          </p:cNvPicPr>
          <p:nvPr/>
        </p:nvPicPr>
        <p:blipFill>
          <a:blip r:embed="rId3"/>
          <a:stretch>
            <a:fillRect/>
          </a:stretch>
        </p:blipFill>
        <p:spPr>
          <a:xfrm>
            <a:off x="905579" y="1330036"/>
            <a:ext cx="7240893" cy="3444032"/>
          </a:xfrm>
          <a:prstGeom prst="rect">
            <a:avLst/>
          </a:prstGeom>
        </p:spPr>
      </p:pic>
    </p:spTree>
    <p:extLst>
      <p:ext uri="{BB962C8B-B14F-4D97-AF65-F5344CB8AC3E}">
        <p14:creationId xmlns:p14="http://schemas.microsoft.com/office/powerpoint/2010/main" val="1217015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3798268" y="683972"/>
            <a:ext cx="4784623" cy="712830"/>
          </a:xfrm>
          <a:prstGeom prst="rect">
            <a:avLst/>
          </a:prstGeom>
        </p:spPr>
        <p:txBody>
          <a:bodyPr spcFirstLastPara="1" wrap="square" lIns="91425" tIns="91425" rIns="91425" bIns="91425" anchor="t" anchorCtr="0">
            <a:noAutofit/>
          </a:bodyPr>
          <a:lstStyle/>
          <a:p>
            <a:pPr lvl="0"/>
            <a:r>
              <a:rPr lang="ca-ES" sz="3600" dirty="0"/>
              <a:t>Sistema d’avisos</a:t>
            </a:r>
          </a:p>
        </p:txBody>
      </p:sp>
      <p:sp>
        <p:nvSpPr>
          <p:cNvPr id="566" name="Google Shape;566;p68"/>
          <p:cNvSpPr txBox="1">
            <a:spLocks noGrp="1"/>
          </p:cNvSpPr>
          <p:nvPr>
            <p:ph type="subTitle" idx="1"/>
          </p:nvPr>
        </p:nvSpPr>
        <p:spPr>
          <a:xfrm>
            <a:off x="3798268" y="1454726"/>
            <a:ext cx="4545000" cy="3186547"/>
          </a:xfrm>
          <a:prstGeom prst="rect">
            <a:avLst/>
          </a:prstGeom>
        </p:spPr>
        <p:txBody>
          <a:bodyPr spcFirstLastPara="1" wrap="square" lIns="91425" tIns="91425" rIns="91425" bIns="91425" anchor="t" anchorCtr="0">
            <a:noAutofit/>
          </a:bodyPr>
          <a:lstStyle/>
          <a:p>
            <a:pPr marL="0" lvl="0" indent="0"/>
            <a:r>
              <a:rPr lang="ca-ES" dirty="0"/>
              <a:t>El sistema complirà amb els següents punts:</a:t>
            </a:r>
          </a:p>
          <a:p>
            <a:pPr marL="0" lvl="0" indent="0"/>
            <a:endParaRPr lang="ca-ES" dirty="0"/>
          </a:p>
          <a:p>
            <a:pPr marL="285750" lvl="0" indent="-285750">
              <a:buFont typeface="Arial" panose="020B0604020202020204" pitchFamily="34" charset="0"/>
              <a:buChar char="•"/>
            </a:pPr>
            <a:r>
              <a:rPr lang="ca-ES" dirty="0"/>
              <a:t>Si es dispara el sensor de moviment, caldrà avisar-ho a la policia i al propietari.</a:t>
            </a:r>
          </a:p>
          <a:p>
            <a:pPr marL="0" lvl="0" indent="0"/>
            <a:endParaRPr lang="ca-ES" dirty="0"/>
          </a:p>
          <a:p>
            <a:pPr marL="285750" lvl="0" indent="-285750">
              <a:buFont typeface="Arial" panose="020B0604020202020204" pitchFamily="34" charset="0"/>
              <a:buChar char="•"/>
            </a:pPr>
            <a:r>
              <a:rPr lang="ca-ES" dirty="0"/>
              <a:t>Si falla algun dels motors avisarem al mecànic i al jardiner.</a:t>
            </a:r>
          </a:p>
          <a:p>
            <a:pPr marL="0" lvl="0" indent="0"/>
            <a:endParaRPr lang="ca-ES" dirty="0"/>
          </a:p>
          <a:p>
            <a:pPr marL="285750" lvl="0" indent="-285750">
              <a:buFont typeface="Arial" panose="020B0604020202020204" pitchFamily="34" charset="0"/>
              <a:buChar char="•"/>
            </a:pPr>
            <a:r>
              <a:rPr lang="ca-ES" dirty="0"/>
              <a:t>Si hi ha problemes amb el ventilador o calefactor, cal avisar al mecànic.</a:t>
            </a:r>
          </a:p>
          <a:p>
            <a:pPr marL="285750" lvl="0" indent="-285750">
              <a:buFont typeface="Arial" panose="020B0604020202020204" pitchFamily="34" charset="0"/>
              <a:buChar char="•"/>
            </a:pPr>
            <a:endParaRPr lang="ca-ES" dirty="0"/>
          </a:p>
          <a:p>
            <a:pPr marL="285750" lvl="0" indent="-285750">
              <a:buFont typeface="Arial" panose="020B0604020202020204" pitchFamily="34" charset="0"/>
              <a:buChar char="•"/>
            </a:pPr>
            <a:r>
              <a:rPr lang="ca-ES" dirty="0"/>
              <a:t>Si s'espaien els sensors de temperatura o humitat, cal notificar-ho al jardiner i al propietari.</a:t>
            </a:r>
          </a:p>
          <a:p>
            <a:pPr marL="0" lvl="0" indent="0"/>
            <a:endParaRPr lang="ca-ES" dirty="0"/>
          </a:p>
          <a:p>
            <a:pPr marL="0" lvl="0" indent="0"/>
            <a:br>
              <a:rPr lang="ca-ES" dirty="0"/>
            </a:br>
            <a:br>
              <a:rPr lang="ca-ES" dirty="0"/>
            </a:br>
            <a:br>
              <a:rPr lang="ca-ES" dirty="0"/>
            </a:br>
            <a:r>
              <a:rPr lang="ca-ES" dirty="0"/>
              <a:t>.</a:t>
            </a:r>
          </a:p>
        </p:txBody>
      </p:sp>
      <p:pic>
        <p:nvPicPr>
          <p:cNvPr id="4" name="Picture 3">
            <a:extLst>
              <a:ext uri="{FF2B5EF4-FFF2-40B4-BE49-F238E27FC236}">
                <a16:creationId xmlns:a16="http://schemas.microsoft.com/office/drawing/2014/main" id="{2535C096-27AE-EFC6-55E2-7D1B8CEC0987}"/>
              </a:ext>
            </a:extLst>
          </p:cNvPr>
          <p:cNvPicPr>
            <a:picLocks noChangeAspect="1"/>
          </p:cNvPicPr>
          <p:nvPr/>
        </p:nvPicPr>
        <p:blipFill rotWithShape="1">
          <a:blip r:embed="rId3"/>
          <a:srcRect l="5379" r="20785"/>
          <a:stretch/>
        </p:blipFill>
        <p:spPr>
          <a:xfrm>
            <a:off x="800732" y="1198418"/>
            <a:ext cx="2701637" cy="28471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8213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992723" y="649336"/>
            <a:ext cx="4784623" cy="712830"/>
          </a:xfrm>
          <a:prstGeom prst="rect">
            <a:avLst/>
          </a:prstGeom>
        </p:spPr>
        <p:txBody>
          <a:bodyPr spcFirstLastPara="1" wrap="square" lIns="91425" tIns="91425" rIns="91425" bIns="91425" anchor="t" anchorCtr="0">
            <a:noAutofit/>
          </a:bodyPr>
          <a:lstStyle/>
          <a:p>
            <a:pPr lvl="0"/>
            <a:r>
              <a:rPr lang="ca-ES" sz="3600" dirty="0"/>
              <a:t>Sistema d’avisos</a:t>
            </a:r>
          </a:p>
        </p:txBody>
      </p:sp>
      <p:sp>
        <p:nvSpPr>
          <p:cNvPr id="566" name="Google Shape;566;p68"/>
          <p:cNvSpPr txBox="1">
            <a:spLocks noGrp="1"/>
          </p:cNvSpPr>
          <p:nvPr>
            <p:ph type="subTitle" idx="1"/>
          </p:nvPr>
        </p:nvSpPr>
        <p:spPr>
          <a:xfrm>
            <a:off x="1052945" y="1454727"/>
            <a:ext cx="7290323" cy="526473"/>
          </a:xfrm>
          <a:prstGeom prst="rect">
            <a:avLst/>
          </a:prstGeom>
        </p:spPr>
        <p:txBody>
          <a:bodyPr spcFirstLastPara="1" wrap="square" lIns="91425" tIns="91425" rIns="91425" bIns="91425" anchor="t" anchorCtr="0">
            <a:noAutofit/>
          </a:bodyPr>
          <a:lstStyle/>
          <a:p>
            <a:pPr marL="0" lvl="0" indent="0"/>
            <a:r>
              <a:rPr lang="ca-ES" dirty="0"/>
              <a:t>Traducció al món de l’electrònica digital: Taules de veritat, mapes de Karnaugh i algunes portes lògiques.</a:t>
            </a:r>
          </a:p>
          <a:p>
            <a:pPr marL="0" lvl="0" indent="0"/>
            <a:endParaRPr lang="ca-ES" dirty="0"/>
          </a:p>
          <a:p>
            <a:pPr marL="0" lvl="0" indent="0"/>
            <a:br>
              <a:rPr lang="ca-ES" dirty="0"/>
            </a:br>
            <a:br>
              <a:rPr lang="ca-ES" dirty="0"/>
            </a:br>
            <a:br>
              <a:rPr lang="ca-ES" dirty="0"/>
            </a:br>
            <a:r>
              <a:rPr lang="ca-ES" dirty="0"/>
              <a:t>.</a:t>
            </a:r>
          </a:p>
        </p:txBody>
      </p:sp>
      <p:pic>
        <p:nvPicPr>
          <p:cNvPr id="2" name="Picture 1">
            <a:extLst>
              <a:ext uri="{FF2B5EF4-FFF2-40B4-BE49-F238E27FC236}">
                <a16:creationId xmlns:a16="http://schemas.microsoft.com/office/drawing/2014/main" id="{232E00F5-73D0-2DFF-B54C-BFFCC5CD955E}"/>
              </a:ext>
            </a:extLst>
          </p:cNvPr>
          <p:cNvPicPr>
            <a:picLocks noChangeAspect="1"/>
          </p:cNvPicPr>
          <p:nvPr/>
        </p:nvPicPr>
        <p:blipFill>
          <a:blip r:embed="rId3"/>
          <a:stretch>
            <a:fillRect/>
          </a:stretch>
        </p:blipFill>
        <p:spPr>
          <a:xfrm>
            <a:off x="1292373" y="2291436"/>
            <a:ext cx="3757526" cy="1741730"/>
          </a:xfrm>
          <a:prstGeom prst="rect">
            <a:avLst/>
          </a:prstGeom>
        </p:spPr>
      </p:pic>
      <p:pic>
        <p:nvPicPr>
          <p:cNvPr id="3" name="Picture 2">
            <a:extLst>
              <a:ext uri="{FF2B5EF4-FFF2-40B4-BE49-F238E27FC236}">
                <a16:creationId xmlns:a16="http://schemas.microsoft.com/office/drawing/2014/main" id="{06369FF4-4EAE-CE9E-F6C1-322034913745}"/>
              </a:ext>
            </a:extLst>
          </p:cNvPr>
          <p:cNvPicPr>
            <a:picLocks noChangeAspect="1"/>
          </p:cNvPicPr>
          <p:nvPr/>
        </p:nvPicPr>
        <p:blipFill>
          <a:blip r:embed="rId4"/>
          <a:stretch>
            <a:fillRect/>
          </a:stretch>
        </p:blipFill>
        <p:spPr>
          <a:xfrm>
            <a:off x="5236936" y="2073761"/>
            <a:ext cx="3106332" cy="2279304"/>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5" name="Picture 4">
            <a:extLst>
              <a:ext uri="{FF2B5EF4-FFF2-40B4-BE49-F238E27FC236}">
                <a16:creationId xmlns:a16="http://schemas.microsoft.com/office/drawing/2014/main" id="{3758B70D-90A2-3692-272C-7B4BFB7108B8}"/>
              </a:ext>
            </a:extLst>
          </p:cNvPr>
          <p:cNvPicPr>
            <a:picLocks noChangeAspect="1"/>
          </p:cNvPicPr>
          <p:nvPr/>
        </p:nvPicPr>
        <p:blipFill>
          <a:blip r:embed="rId5"/>
          <a:stretch>
            <a:fillRect/>
          </a:stretch>
        </p:blipFill>
        <p:spPr>
          <a:xfrm>
            <a:off x="928688" y="3213413"/>
            <a:ext cx="1301866" cy="1323109"/>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20586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566"/>
                                        </p:tgtEl>
                                        <p:attrNameLst>
                                          <p:attrName>style.visibility</p:attrName>
                                        </p:attrNameLst>
                                      </p:cBhvr>
                                      <p:to>
                                        <p:strVal val="visible"/>
                                      </p:to>
                                    </p:set>
                                    <p:anim calcmode="lin" valueType="num">
                                      <p:cBhvr additive="base">
                                        <p:cTn id="10" dur="1000"/>
                                        <p:tgtEl>
                                          <p:spTgt spid="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992723" y="649336"/>
            <a:ext cx="4784623" cy="712830"/>
          </a:xfrm>
          <a:prstGeom prst="rect">
            <a:avLst/>
          </a:prstGeom>
        </p:spPr>
        <p:txBody>
          <a:bodyPr spcFirstLastPara="1" wrap="square" lIns="91425" tIns="91425" rIns="91425" bIns="91425" anchor="t" anchorCtr="0">
            <a:noAutofit/>
          </a:bodyPr>
          <a:lstStyle/>
          <a:p>
            <a:pPr lvl="0"/>
            <a:r>
              <a:rPr lang="ca-ES" sz="3600" dirty="0"/>
              <a:t>Sistema d’avisos (SIM)</a:t>
            </a:r>
          </a:p>
        </p:txBody>
      </p:sp>
      <p:pic>
        <p:nvPicPr>
          <p:cNvPr id="5" name="Picture 4">
            <a:extLst>
              <a:ext uri="{FF2B5EF4-FFF2-40B4-BE49-F238E27FC236}">
                <a16:creationId xmlns:a16="http://schemas.microsoft.com/office/drawing/2014/main" id="{D2CE22F7-B73F-15E1-D9D0-F7D8DFC8B4B7}"/>
              </a:ext>
            </a:extLst>
          </p:cNvPr>
          <p:cNvPicPr>
            <a:picLocks noChangeAspect="1"/>
          </p:cNvPicPr>
          <p:nvPr/>
        </p:nvPicPr>
        <p:blipFill>
          <a:blip r:embed="rId3"/>
          <a:stretch>
            <a:fillRect/>
          </a:stretch>
        </p:blipFill>
        <p:spPr>
          <a:xfrm>
            <a:off x="1044081" y="1667163"/>
            <a:ext cx="1974732" cy="2979420"/>
          </a:xfrm>
          <a:prstGeom prst="rect">
            <a:avLst/>
          </a:prstGeom>
        </p:spPr>
      </p:pic>
      <p:pic>
        <p:nvPicPr>
          <p:cNvPr id="9" name="Picture 8">
            <a:extLst>
              <a:ext uri="{FF2B5EF4-FFF2-40B4-BE49-F238E27FC236}">
                <a16:creationId xmlns:a16="http://schemas.microsoft.com/office/drawing/2014/main" id="{3BEFA00D-5B5C-07AF-105C-24A351118C8C}"/>
              </a:ext>
            </a:extLst>
          </p:cNvPr>
          <p:cNvPicPr>
            <a:picLocks noChangeAspect="1"/>
          </p:cNvPicPr>
          <p:nvPr/>
        </p:nvPicPr>
        <p:blipFill>
          <a:blip r:embed="rId4"/>
          <a:stretch>
            <a:fillRect/>
          </a:stretch>
        </p:blipFill>
        <p:spPr>
          <a:xfrm>
            <a:off x="3018813" y="1671041"/>
            <a:ext cx="2213126" cy="2975542"/>
          </a:xfrm>
          <a:prstGeom prst="rect">
            <a:avLst/>
          </a:prstGeom>
        </p:spPr>
      </p:pic>
      <p:pic>
        <p:nvPicPr>
          <p:cNvPr id="11" name="Picture 10">
            <a:extLst>
              <a:ext uri="{FF2B5EF4-FFF2-40B4-BE49-F238E27FC236}">
                <a16:creationId xmlns:a16="http://schemas.microsoft.com/office/drawing/2014/main" id="{397532A7-F2BE-9286-9269-B84A9552FEC3}"/>
              </a:ext>
            </a:extLst>
          </p:cNvPr>
          <p:cNvPicPr>
            <a:picLocks noChangeAspect="1"/>
          </p:cNvPicPr>
          <p:nvPr/>
        </p:nvPicPr>
        <p:blipFill>
          <a:blip r:embed="rId5"/>
          <a:stretch>
            <a:fillRect/>
          </a:stretch>
        </p:blipFill>
        <p:spPr>
          <a:xfrm>
            <a:off x="6650261" y="2413057"/>
            <a:ext cx="1589607" cy="1487632"/>
          </a:xfrm>
          <a:prstGeom prst="rect">
            <a:avLst/>
          </a:prstGeom>
        </p:spPr>
      </p:pic>
      <p:pic>
        <p:nvPicPr>
          <p:cNvPr id="13" name="Picture 12">
            <a:extLst>
              <a:ext uri="{FF2B5EF4-FFF2-40B4-BE49-F238E27FC236}">
                <a16:creationId xmlns:a16="http://schemas.microsoft.com/office/drawing/2014/main" id="{E6EC1EE5-4D36-9070-6F2E-C20F2F69AF0C}"/>
              </a:ext>
            </a:extLst>
          </p:cNvPr>
          <p:cNvPicPr>
            <a:picLocks noChangeAspect="1"/>
          </p:cNvPicPr>
          <p:nvPr/>
        </p:nvPicPr>
        <p:blipFill>
          <a:blip r:embed="rId6"/>
          <a:stretch>
            <a:fillRect/>
          </a:stretch>
        </p:blipFill>
        <p:spPr>
          <a:xfrm>
            <a:off x="5225907" y="1922414"/>
            <a:ext cx="1424354" cy="2571750"/>
          </a:xfrm>
          <a:prstGeom prst="rect">
            <a:avLst/>
          </a:prstGeom>
        </p:spPr>
      </p:pic>
    </p:spTree>
    <p:extLst>
      <p:ext uri="{BB962C8B-B14F-4D97-AF65-F5344CB8AC3E}">
        <p14:creationId xmlns:p14="http://schemas.microsoft.com/office/powerpoint/2010/main" val="2054155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anim calcmode="lin" valueType="num">
                                      <p:cBhvr additive="base">
                                        <p:cTn id="7" dur="1000"/>
                                        <p:tgtEl>
                                          <p:spTgt spid="56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567"/>
        <p:cNvGrpSpPr/>
        <p:nvPr/>
      </p:nvGrpSpPr>
      <p:grpSpPr>
        <a:xfrm>
          <a:off x="0" y="0"/>
          <a:ext cx="0" cy="0"/>
          <a:chOff x="0" y="0"/>
          <a:chExt cx="0" cy="0"/>
        </a:xfrm>
      </p:grpSpPr>
      <p:sp>
        <p:nvSpPr>
          <p:cNvPr id="1568" name="Google Shape;1568;p123"/>
          <p:cNvSpPr txBox="1">
            <a:spLocks noGrp="1"/>
          </p:cNvSpPr>
          <p:nvPr>
            <p:ph type="title"/>
          </p:nvPr>
        </p:nvSpPr>
        <p:spPr>
          <a:xfrm>
            <a:off x="2840379" y="1165950"/>
            <a:ext cx="3478200" cy="92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Gràcies</a:t>
            </a:r>
            <a:endParaRPr dirty="0"/>
          </a:p>
        </p:txBody>
      </p:sp>
      <p:sp>
        <p:nvSpPr>
          <p:cNvPr id="1569" name="Google Shape;1569;p123"/>
          <p:cNvSpPr txBox="1">
            <a:spLocks noGrp="1"/>
          </p:cNvSpPr>
          <p:nvPr>
            <p:ph type="subTitle" idx="1"/>
          </p:nvPr>
        </p:nvSpPr>
        <p:spPr>
          <a:xfrm>
            <a:off x="2983350" y="2131951"/>
            <a:ext cx="3177300" cy="922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Tens alguna pregunta?</a:t>
            </a:r>
            <a:endParaRPr dirty="0"/>
          </a:p>
          <a:p>
            <a:pPr marL="0" lvl="0" indent="0" algn="ctr" rtl="0">
              <a:spcBef>
                <a:spcPts val="0"/>
              </a:spcBef>
              <a:spcAft>
                <a:spcPts val="0"/>
              </a:spcAft>
              <a:buNone/>
            </a:pPr>
            <a:r>
              <a:rPr lang="en" dirty="0"/>
              <a:t>etorrontera@uda.com</a:t>
            </a:r>
            <a:endParaRPr dirty="0"/>
          </a:p>
        </p:txBody>
      </p:sp>
      <p:grpSp>
        <p:nvGrpSpPr>
          <p:cNvPr id="1570" name="Google Shape;1570;p123"/>
          <p:cNvGrpSpPr/>
          <p:nvPr/>
        </p:nvGrpSpPr>
        <p:grpSpPr>
          <a:xfrm>
            <a:off x="4961882" y="2876803"/>
            <a:ext cx="458723" cy="458684"/>
            <a:chOff x="1379798" y="1723250"/>
            <a:chExt cx="397887" cy="397887"/>
          </a:xfrm>
        </p:grpSpPr>
        <p:sp>
          <p:nvSpPr>
            <p:cNvPr id="1571" name="Google Shape;1571;p123"/>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72" name="Google Shape;1572;p123"/>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73" name="Google Shape;1573;p123"/>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74" name="Google Shape;1574;p123"/>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grpSp>
        <p:nvGrpSpPr>
          <p:cNvPr id="1575" name="Google Shape;1575;p123"/>
          <p:cNvGrpSpPr/>
          <p:nvPr/>
        </p:nvGrpSpPr>
        <p:grpSpPr>
          <a:xfrm>
            <a:off x="3721699" y="2876803"/>
            <a:ext cx="458747" cy="458684"/>
            <a:chOff x="266768" y="1721375"/>
            <a:chExt cx="397907" cy="397887"/>
          </a:xfrm>
        </p:grpSpPr>
        <p:sp>
          <p:nvSpPr>
            <p:cNvPr id="1576" name="Google Shape;1576;p123"/>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77" name="Google Shape;1577;p123"/>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grpSp>
        <p:nvGrpSpPr>
          <p:cNvPr id="1578" name="Google Shape;1578;p123"/>
          <p:cNvGrpSpPr/>
          <p:nvPr/>
        </p:nvGrpSpPr>
        <p:grpSpPr>
          <a:xfrm>
            <a:off x="4350135" y="2876803"/>
            <a:ext cx="458699" cy="458684"/>
            <a:chOff x="864491" y="1723250"/>
            <a:chExt cx="397866" cy="397887"/>
          </a:xfrm>
        </p:grpSpPr>
        <p:sp>
          <p:nvSpPr>
            <p:cNvPr id="1579" name="Google Shape;1579;p123"/>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80" name="Google Shape;1580;p123"/>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81" name="Google Shape;1581;p123"/>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spTree>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3322</TotalTime>
  <Words>1938</Words>
  <Application>Microsoft Office PowerPoint</Application>
  <PresentationFormat>On-screen Show (16:9)</PresentationFormat>
  <Paragraphs>195</Paragraphs>
  <Slides>41</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Vidaloka</vt:lpstr>
      <vt:lpstr>Arial</vt:lpstr>
      <vt:lpstr>Josefin Sans</vt:lpstr>
      <vt:lpstr>OpenSansRegular</vt:lpstr>
      <vt:lpstr>Cambria Math</vt:lpstr>
      <vt:lpstr>Montserrat</vt:lpstr>
      <vt:lpstr>Open Sans</vt:lpstr>
      <vt:lpstr>Minimalist Business Slides XL by Slidesgo</vt:lpstr>
      <vt:lpstr>BINFO1 M2  Repte Fonaments de computadors</vt:lpstr>
      <vt:lpstr>ECOTERRA.SL</vt:lpstr>
      <vt:lpstr>Objectius de Desenvolupament Sostenibles</vt:lpstr>
      <vt:lpstr>Forma Jurídica</vt:lpstr>
      <vt:lpstr>Departaments</vt:lpstr>
      <vt:lpstr>Anàlisi del microentorn</vt:lpstr>
      <vt:lpstr>Forces competitives de Porter (1982):</vt:lpstr>
      <vt:lpstr>Forces competitives de Porter (1982):</vt:lpstr>
      <vt:lpstr>Forces competitives de Porter (1982):</vt:lpstr>
      <vt:lpstr>Forces competitives de Porter (1982):</vt:lpstr>
      <vt:lpstr>Forces competitives de Porter (1982):</vt:lpstr>
      <vt:lpstr>PESTEL</vt:lpstr>
      <vt:lpstr>PowerPoint Presentation</vt:lpstr>
      <vt:lpstr>PESTEL</vt:lpstr>
      <vt:lpstr>DAFO</vt:lpstr>
      <vt:lpstr>ESTRATÈGIA</vt:lpstr>
      <vt:lpstr>PowerPoint Presentation</vt:lpstr>
      <vt:lpstr>Esquema</vt:lpstr>
      <vt:lpstr>Esquema</vt:lpstr>
      <vt:lpstr>Sistema de reg</vt:lpstr>
      <vt:lpstr>Sistema de reg</vt:lpstr>
      <vt:lpstr>Components</vt:lpstr>
      <vt:lpstr>Rellotge intern </vt:lpstr>
      <vt:lpstr>Rellotge</vt:lpstr>
      <vt:lpstr>Sistema de reg programat</vt:lpstr>
      <vt:lpstr>Lògica de control</vt:lpstr>
      <vt:lpstr>Lògica de control</vt:lpstr>
      <vt:lpstr>Lògica de control</vt:lpstr>
      <vt:lpstr>Sistema de reg</vt:lpstr>
      <vt:lpstr>Sistema de control de temperatura i humitat</vt:lpstr>
      <vt:lpstr>Sistema de control de temperatura i humitat</vt:lpstr>
      <vt:lpstr>Sistema de control de temperatura i humitat</vt:lpstr>
      <vt:lpstr>Sistema de control de temperatura i humitat</vt:lpstr>
      <vt:lpstr>Sistema de control de temperatura i humitat</vt:lpstr>
      <vt:lpstr>Sistema de control de temperatura i humitat</vt:lpstr>
      <vt:lpstr>Sistema de control de temperatura i humitat</vt:lpstr>
      <vt:lpstr>Sistema de control de temperatura i humitat</vt:lpstr>
      <vt:lpstr>Sistema d’avisos</vt:lpstr>
      <vt:lpstr>Sistema d’avisos</vt:lpstr>
      <vt:lpstr>Sistema d’avisos (SIM)</vt:lpstr>
      <vt:lpstr>Gràcies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BINFO1 M2  Repte Fonaments de computadors</dc:title>
  <dc:creator>Andormix</dc:creator>
  <cp:lastModifiedBy>Arthas Menethil</cp:lastModifiedBy>
  <cp:revision>46</cp:revision>
  <dcterms:modified xsi:type="dcterms:W3CDTF">2023-01-23T20:47:23Z</dcterms:modified>
</cp:coreProperties>
</file>